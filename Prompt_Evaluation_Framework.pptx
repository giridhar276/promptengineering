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Weight</c:v>
                </c:pt>
              </c:strCache>
            </c:strRef>
          </c:tx>
          <c:spPr>
            <a:solidFill>
              <a:srgbClr val="0F8B8D"/>
            </a:solidFill>
            <a:effectLst/>
          </c:spPr>
          <c:invertIfNegative val="0"/>
          <c:dLbls>
            <c:numFmt formatCode="0&quot;%&quot;" sourceLinked="0"/>
            <c:txPr>
              <a:bodyPr/>
              <a:lstStyle/>
              <a:p>
                <a:pPr>
                  <a:defRPr b="0" i="0" strike="noStrike" sz="1000" u="none">
                    <a:solidFill>
                      <a:srgbClr val="12233F"/>
                    </a:solidFill>
                    <a:latin typeface="Arial"/>
                  </a:defRPr>
                </a:pPr>
              </a:p>
            </c:txPr>
            <c:showLegendKey val="0"/>
            <c:showVal val="1"/>
            <c:showCatName val="0"/>
            <c:showSerName val="0"/>
            <c:showPercent val="0"/>
            <c:showBubbleSize val="0"/>
            <c:showLeaderLines val="0"/>
          </c:dLbls>
          <c:cat>
            <c:multiLvlStrRef>
              <c:f>Sheet1!$A$2:$A$10</c:f>
              <c:multiLvlStrCache>
                <c:ptCount val="9"/>
                <c:lvl>
                  <c:pt idx="0">
                    <c:v>Consistency</c:v>
                  </c:pt>
                  <c:pt idx="1">
                    <c:v>Conciseness</c:v>
                  </c:pt>
                  <c:pt idx="2">
                    <c:v>Tone</c:v>
                  </c:pt>
                  <c:pt idx="3">
                    <c:v>Format</c:v>
                  </c:pt>
                  <c:pt idx="4">
                    <c:v>Relevance</c:v>
                  </c:pt>
                  <c:pt idx="5">
                    <c:v>Completeness</c:v>
                  </c:pt>
                  <c:pt idx="6">
                    <c:v>Safety</c:v>
                  </c:pt>
                  <c:pt idx="7">
                    <c:v>Groundedness</c:v>
                  </c:pt>
                  <c:pt idx="8">
                    <c:v>Accuracy</c:v>
                  </c:pt>
                </c:lvl>
              </c:multiLvlStrCache>
            </c:multiLvlStrRef>
          </c:cat>
          <c:val>
            <c:numRef>
              <c:f>Sheet1!$B$2:$B$10</c:f>
              <c:numCache>
                <c:formatCode>General</c:formatCode>
                <c:ptCount val="9"/>
                <c:pt idx="0">
                  <c:v>5</c:v>
                </c:pt>
                <c:pt idx="1">
                  <c:v>5</c:v>
                </c:pt>
                <c:pt idx="2">
                  <c:v>10</c:v>
                </c:pt>
                <c:pt idx="3">
                  <c:v>10</c:v>
                </c:pt>
                <c:pt idx="4">
                  <c:v>10</c:v>
                </c:pt>
                <c:pt idx="5">
                  <c:v>10</c:v>
                </c:pt>
                <c:pt idx="6">
                  <c:v>15</c:v>
                </c:pt>
                <c:pt idx="7">
                  <c:v>15</c:v>
                </c:pt>
                <c:pt idx="8">
                  <c:v>20</c:v>
                </c:pt>
              </c:numCache>
            </c:numRef>
          </c:val>
        </c:ser>
        <c:dLbls>
          <c:numFmt formatCode="0&quot;%&quot;" sourceLinked="0"/>
          <c:txPr>
            <a:bodyPr/>
            <a:lstStyle/>
            <a:p>
              <a:pPr>
                <a:defRPr b="0" i="0" strike="noStrike" sz="1000" u="none">
                  <a:solidFill>
                    <a:srgbClr val="12233F"/>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50" b="0" i="0" u="none" strike="noStrike">
                <a:solidFill>
                  <a:srgbClr val="1B2A41"/>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Claims</c:v>
                </c:pt>
              </c:strCache>
            </c:strRef>
          </c:tx>
          <c:spPr>
            <a:solidFill>
              <a:schemeClr val="accent1"/>
            </a:solidFill>
            <a:ln w="9525" cap="flat">
              <a:solidFill>
                <a:srgbClr val="F9F9F9"/>
              </a:solidFill>
              <a:prstDash val="solid"/>
              <a:round/>
            </a:ln>
            <a:effectLst/>
          </c:spPr>
          <c:dPt>
            <c:idx val="0"/>
            <c:bubble3D val="0"/>
            <c:spPr>
              <a:solidFill>
                <a:srgbClr val="C0392B"/>
              </a:solidFill>
              <a:ln w="25400" cap="flat">
                <a:solidFill>
                  <a:srgbClr val="FFFFFF"/>
                </a:solidFill>
                <a:prstDash val="solid"/>
                <a:round/>
              </a:ln>
              <a:effectLst/>
            </c:spPr>
          </c:dPt>
          <c:dPt>
            <c:idx val="1"/>
            <c:bubble3D val="0"/>
            <c:spPr>
              <a:solidFill>
                <a:srgbClr val="D8E2EE"/>
              </a:solidFill>
              <a:ln w="2540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Unsupported</c:v>
                </c:pt>
                <c:pt idx="1">
                  <c:v>Supported</c:v>
                </c:pt>
              </c:strCache>
            </c:strRef>
          </c:cat>
          <c:val>
            <c:numRef>
              <c:f>Sheet1!$B$2:$B$3</c:f>
              <c:numCache>
                <c:ptCount val="2"/>
                <c:pt idx="0">
                  <c:v>4</c:v>
                </c:pt>
                <c:pt idx="1">
                  <c:v>1</c:v>
                </c:pt>
              </c:numCache>
            </c:numRef>
          </c:val>
        </c:ser>
        <c:firstSliceAng val="0"/>
        <c:holeSize val="62"/>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1.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slideLayout" Target="../slideLayouts/slideLayout1.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2.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9-1.png"/><Relationship Id="rId3" Type="http://schemas.openxmlformats.org/officeDocument/2006/relationships/image" Target="../media/image-9-2.png"/><Relationship Id="rId4" Type="http://schemas.openxmlformats.org/officeDocument/2006/relationships/image" Target="../media/image-9-2.png"/><Relationship Id="rId5" Type="http://schemas.openxmlformats.org/officeDocument/2006/relationships/image" Target="../media/image-9-2.png"/><Relationship Id="rId6" Type="http://schemas.openxmlformats.org/officeDocument/2006/relationships/image" Target="../media/image-9-2.png"/><Relationship Id="rId7" Type="http://schemas.openxmlformats.org/officeDocument/2006/relationships/image" Target="../media/image-9-2.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6" Type="http://schemas.openxmlformats.org/officeDocument/2006/relationships/chart" Target="/ppt/charts/chart2.xml"/><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image" Target="../media/image-10-1.png"/><Relationship Id="rId4" Type="http://schemas.openxmlformats.org/officeDocument/2006/relationships/image" Target="../media/image-10-1.png"/><Relationship Id="rId5" Type="http://schemas.openxmlformats.org/officeDocument/2006/relationships/image" Target="../media/image-10-5.png"/><Relationship Id="rId7" Type="http://schemas.openxmlformats.org/officeDocument/2006/relationships/image" Target="../media/image-10-1.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33F"/>
        </a:solidFill>
      </p:bgPr>
    </p:bg>
    <p:spTree>
      <p:nvGrpSpPr>
        <p:cNvPr id="1" name=""/>
        <p:cNvGrpSpPr/>
        <p:nvPr/>
      </p:nvGrpSpPr>
      <p:grpSpPr>
        <a:xfrm>
          <a:off x="0" y="0"/>
          <a:ext cx="0" cy="0"/>
          <a:chOff x="0" y="0"/>
          <a:chExt cx="0" cy="0"/>
        </a:xfrm>
      </p:grpSpPr>
      <p:sp>
        <p:nvSpPr>
          <p:cNvPr id="2" name="Text 0"/>
          <p:cNvSpPr/>
          <p:nvPr/>
        </p:nvSpPr>
        <p:spPr>
          <a:xfrm>
            <a:off x="640080" y="1417320"/>
            <a:ext cx="1088136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PROMPT EVALUATION FRAMEWORK</a:t>
            </a:r>
            <a:endParaRPr lang="en-US" sz="4400" dirty="0"/>
          </a:p>
        </p:txBody>
      </p:sp>
      <p:sp>
        <p:nvSpPr>
          <p:cNvPr id="3" name="Text 1"/>
          <p:cNvSpPr/>
          <p:nvPr/>
        </p:nvSpPr>
        <p:spPr>
          <a:xfrm>
            <a:off x="640080" y="2139696"/>
            <a:ext cx="10881360" cy="411480"/>
          </a:xfrm>
          <a:prstGeom prst="rect">
            <a:avLst/>
          </a:prstGeom>
          <a:noFill/>
          <a:ln/>
        </p:spPr>
        <p:txBody>
          <a:bodyPr wrap="square" lIns="0" tIns="0" rIns="0" bIns="0" rtlCol="0" anchor="ctr"/>
          <a:lstStyle/>
          <a:p>
            <a:pPr indent="0" marL="0">
              <a:buNone/>
            </a:pPr>
            <a:r>
              <a:rPr lang="en-US" sz="1700" dirty="0">
                <a:solidFill>
                  <a:srgbClr val="CADCFC"/>
                </a:solidFill>
                <a:latin typeface="Calibri" pitchFamily="34" charset="0"/>
                <a:ea typeface="Calibri" pitchFamily="34" charset="-122"/>
                <a:cs typeface="Calibri" pitchFamily="34" charset="-120"/>
              </a:rPr>
              <a:t>Advanced prompt engineering for financial-services professionals</a:t>
            </a:r>
            <a:endParaRPr lang="en-US" sz="1700" dirty="0"/>
          </a:p>
        </p:txBody>
      </p:sp>
      <p:sp>
        <p:nvSpPr>
          <p:cNvPr id="4" name="Shape 2"/>
          <p:cNvSpPr/>
          <p:nvPr/>
        </p:nvSpPr>
        <p:spPr>
          <a:xfrm>
            <a:off x="640080" y="2697480"/>
            <a:ext cx="10881360" cy="658368"/>
          </a:xfrm>
          <a:prstGeom prst="roundRect">
            <a:avLst>
              <a:gd name="adj" fmla="val 11111"/>
            </a:avLst>
          </a:prstGeom>
          <a:solidFill>
            <a:srgbClr val="1B3358"/>
          </a:solidFill>
          <a:ln/>
        </p:spPr>
      </p:sp>
      <p:sp>
        <p:nvSpPr>
          <p:cNvPr id="5" name="Shape 3"/>
          <p:cNvSpPr/>
          <p:nvPr/>
        </p:nvSpPr>
        <p:spPr>
          <a:xfrm>
            <a:off x="841248" y="2852928"/>
            <a:ext cx="365760" cy="365760"/>
          </a:xfrm>
          <a:prstGeom prst="ellipse">
            <a:avLst/>
          </a:prstGeom>
          <a:solidFill>
            <a:srgbClr val="2A466F"/>
          </a:solidFill>
          <a:ln/>
        </p:spPr>
      </p:sp>
      <p:pic>
        <p:nvPicPr>
          <p:cNvPr id="6" name="Image 0" descr="/home/claude/deck/icons/lightbulb.png">    </p:cNvPr>
          <p:cNvPicPr>
            <a:picLocks noChangeAspect="1"/>
          </p:cNvPicPr>
          <p:nvPr/>
        </p:nvPicPr>
        <p:blipFill>
          <a:blip r:embed="rId1"/>
          <a:stretch>
            <a:fillRect/>
          </a:stretch>
        </p:blipFill>
        <p:spPr>
          <a:xfrm>
            <a:off x="929030" y="2940710"/>
            <a:ext cx="190195" cy="190195"/>
          </a:xfrm>
          <a:prstGeom prst="rect">
            <a:avLst/>
          </a:prstGeom>
        </p:spPr>
      </p:pic>
      <p:sp>
        <p:nvSpPr>
          <p:cNvPr id="7" name="Text 4"/>
          <p:cNvSpPr/>
          <p:nvPr/>
        </p:nvSpPr>
        <p:spPr>
          <a:xfrm>
            <a:off x="1371600" y="2697480"/>
            <a:ext cx="9966960" cy="658368"/>
          </a:xfrm>
          <a:prstGeom prst="rect">
            <a:avLst/>
          </a:prstGeom>
          <a:noFill/>
          <a:ln/>
        </p:spPr>
        <p:txBody>
          <a:bodyPr wrap="square" lIns="0" tIns="0" rIns="0" bIns="0" rtlCol="0" anchor="ctr"/>
          <a:lstStyle/>
          <a:p>
            <a:pPr indent="0" marL="0">
              <a:buNone/>
            </a:pPr>
            <a:r>
              <a:rPr lang="en-US" sz="1450" b="1" dirty="0">
                <a:solidFill>
                  <a:srgbClr val="C9A227"/>
                </a:solidFill>
                <a:latin typeface="Calibri" pitchFamily="34" charset="0"/>
                <a:ea typeface="Calibri" pitchFamily="34" charset="-122"/>
                <a:cs typeface="Calibri" pitchFamily="34" charset="-120"/>
              </a:rPr>
              <a:t>Goal:  </a:t>
            </a:r>
            <a:pPr indent="0" marL="0">
              <a:buNone/>
            </a:pPr>
            <a:r>
              <a:rPr lang="en-US" sz="1450" dirty="0">
                <a:solidFill>
                  <a:srgbClr val="F2F5FA"/>
                </a:solidFill>
                <a:latin typeface="Calibri" pitchFamily="34" charset="0"/>
                <a:ea typeface="Calibri" pitchFamily="34" charset="-122"/>
                <a:cs typeface="Calibri" pitchFamily="34" charset="-120"/>
              </a:rPr>
              <a:t>Stop judging outputs by "looks good." Start measuring quality with repeatable, auditable tests.</a:t>
            </a:r>
            <a:endParaRPr lang="en-US" sz="1450" dirty="0"/>
          </a:p>
        </p:txBody>
      </p:sp>
      <p:sp>
        <p:nvSpPr>
          <p:cNvPr id="8" name="Shape 5"/>
          <p:cNvSpPr/>
          <p:nvPr/>
        </p:nvSpPr>
        <p:spPr>
          <a:xfrm>
            <a:off x="640080" y="3584448"/>
            <a:ext cx="5285232" cy="1572768"/>
          </a:xfrm>
          <a:prstGeom prst="roundRect">
            <a:avLst>
              <a:gd name="adj" fmla="val 4651"/>
            </a:avLst>
          </a:prstGeom>
          <a:solidFill>
            <a:srgbClr val="18305A"/>
          </a:solidFill>
          <a:ln w="12700">
            <a:solidFill>
              <a:srgbClr val="2A466F"/>
            </a:solidFill>
            <a:prstDash val="solid"/>
          </a:ln>
        </p:spPr>
      </p:sp>
      <p:sp>
        <p:nvSpPr>
          <p:cNvPr id="9" name="Shape 6"/>
          <p:cNvSpPr/>
          <p:nvPr/>
        </p:nvSpPr>
        <p:spPr>
          <a:xfrm>
            <a:off x="896112" y="3840480"/>
            <a:ext cx="457200" cy="457200"/>
          </a:xfrm>
          <a:prstGeom prst="ellipse">
            <a:avLst/>
          </a:prstGeom>
          <a:solidFill>
            <a:srgbClr val="0F8B8D"/>
          </a:solidFill>
          <a:ln/>
        </p:spPr>
      </p:sp>
      <p:pic>
        <p:nvPicPr>
          <p:cNvPr id="10" name="Image 1" descr="/home/claude/deck/icons/flask.png">    </p:cNvPr>
          <p:cNvPicPr>
            <a:picLocks noChangeAspect="1"/>
          </p:cNvPicPr>
          <p:nvPr/>
        </p:nvPicPr>
        <p:blipFill>
          <a:blip r:embed="rId2"/>
          <a:stretch>
            <a:fillRect/>
          </a:stretch>
        </p:blipFill>
        <p:spPr>
          <a:xfrm>
            <a:off x="1005840" y="3950208"/>
            <a:ext cx="237744" cy="237744"/>
          </a:xfrm>
          <a:prstGeom prst="rect">
            <a:avLst/>
          </a:prstGeom>
        </p:spPr>
      </p:pic>
      <p:sp>
        <p:nvSpPr>
          <p:cNvPr id="11" name="Text 7"/>
          <p:cNvSpPr/>
          <p:nvPr/>
        </p:nvSpPr>
        <p:spPr>
          <a:xfrm>
            <a:off x="1508760" y="3803904"/>
            <a:ext cx="4187952"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Training scenario</a:t>
            </a:r>
            <a:endParaRPr lang="en-US" sz="1500" dirty="0"/>
          </a:p>
        </p:txBody>
      </p:sp>
      <p:sp>
        <p:nvSpPr>
          <p:cNvPr id="12" name="Text 8"/>
          <p:cNvSpPr/>
          <p:nvPr/>
        </p:nvSpPr>
        <p:spPr>
          <a:xfrm>
            <a:off x="896112" y="4297680"/>
            <a:ext cx="4773168" cy="749808"/>
          </a:xfrm>
          <a:prstGeom prst="rect">
            <a:avLst/>
          </a:prstGeom>
          <a:noFill/>
          <a:ln/>
        </p:spPr>
        <p:txBody>
          <a:bodyPr wrap="square" lIns="0" tIns="0" rIns="0" bIns="0" rtlCol="0" anchor="t"/>
          <a:lstStyle/>
          <a:p>
            <a:pPr indent="0" marL="0">
              <a:buNone/>
            </a:pPr>
            <a:r>
              <a:rPr lang="en-US" sz="1250" dirty="0">
                <a:solidFill>
                  <a:srgbClr val="CADCFC"/>
                </a:solidFill>
                <a:latin typeface="Calibri" pitchFamily="34" charset="0"/>
                <a:ea typeface="Calibri" pitchFamily="34" charset="-122"/>
                <a:cs typeface="Calibri" pitchFamily="34" charset="-120"/>
              </a:rPr>
              <a:t>Customer complaint analysis, draft response quality review, and risk-safe output validation using fictional data.</a:t>
            </a:r>
            <a:endParaRPr lang="en-US" sz="1250" dirty="0"/>
          </a:p>
        </p:txBody>
      </p:sp>
      <p:sp>
        <p:nvSpPr>
          <p:cNvPr id="13" name="Shape 9"/>
          <p:cNvSpPr/>
          <p:nvPr/>
        </p:nvSpPr>
        <p:spPr>
          <a:xfrm>
            <a:off x="6236208" y="3584448"/>
            <a:ext cx="5285232" cy="1572768"/>
          </a:xfrm>
          <a:prstGeom prst="roundRect">
            <a:avLst>
              <a:gd name="adj" fmla="val 4651"/>
            </a:avLst>
          </a:prstGeom>
          <a:solidFill>
            <a:srgbClr val="18305A"/>
          </a:solidFill>
          <a:ln w="12700">
            <a:solidFill>
              <a:srgbClr val="2A466F"/>
            </a:solidFill>
            <a:prstDash val="solid"/>
          </a:ln>
        </p:spPr>
      </p:sp>
      <p:sp>
        <p:nvSpPr>
          <p:cNvPr id="14" name="Shape 10"/>
          <p:cNvSpPr/>
          <p:nvPr/>
        </p:nvSpPr>
        <p:spPr>
          <a:xfrm>
            <a:off x="6492240" y="3840480"/>
            <a:ext cx="457200" cy="457200"/>
          </a:xfrm>
          <a:prstGeom prst="ellipse">
            <a:avLst/>
          </a:prstGeom>
          <a:solidFill>
            <a:srgbClr val="0F8B8D"/>
          </a:solidFill>
          <a:ln/>
        </p:spPr>
      </p:sp>
      <p:pic>
        <p:nvPicPr>
          <p:cNvPr id="15" name="Image 2" descr="/home/claude/deck/icons/clipboard.png">    </p:cNvPr>
          <p:cNvPicPr>
            <a:picLocks noChangeAspect="1"/>
          </p:cNvPicPr>
          <p:nvPr/>
        </p:nvPicPr>
        <p:blipFill>
          <a:blip r:embed="rId3"/>
          <a:stretch>
            <a:fillRect/>
          </a:stretch>
        </p:blipFill>
        <p:spPr>
          <a:xfrm>
            <a:off x="6601968" y="3950208"/>
            <a:ext cx="237744" cy="237744"/>
          </a:xfrm>
          <a:prstGeom prst="rect">
            <a:avLst/>
          </a:prstGeom>
        </p:spPr>
      </p:pic>
      <p:sp>
        <p:nvSpPr>
          <p:cNvPr id="16" name="Text 11"/>
          <p:cNvSpPr/>
          <p:nvPr/>
        </p:nvSpPr>
        <p:spPr>
          <a:xfrm>
            <a:off x="7104888" y="3803904"/>
            <a:ext cx="4187952"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Deliverables</a:t>
            </a:r>
            <a:endParaRPr lang="en-US" sz="1500" dirty="0"/>
          </a:p>
        </p:txBody>
      </p:sp>
      <p:sp>
        <p:nvSpPr>
          <p:cNvPr id="17" name="Text 12"/>
          <p:cNvSpPr/>
          <p:nvPr/>
        </p:nvSpPr>
        <p:spPr>
          <a:xfrm>
            <a:off x="6492240" y="4297680"/>
            <a:ext cx="4773168" cy="749808"/>
          </a:xfrm>
          <a:prstGeom prst="rect">
            <a:avLst/>
          </a:prstGeom>
          <a:noFill/>
          <a:ln/>
        </p:spPr>
        <p:txBody>
          <a:bodyPr wrap="square" lIns="0" tIns="0" rIns="0" bIns="0" rtlCol="0" anchor="t"/>
          <a:lstStyle/>
          <a:p>
            <a:pPr indent="0" marL="0">
              <a:buNone/>
            </a:pPr>
            <a:r>
              <a:rPr lang="en-US" sz="1250" dirty="0">
                <a:solidFill>
                  <a:srgbClr val="CADCFC"/>
                </a:solidFill>
                <a:latin typeface="Calibri" pitchFamily="34" charset="0"/>
                <a:ea typeface="Calibri" pitchFamily="34" charset="-122"/>
                <a:cs typeface="Calibri" pitchFamily="34" charset="-120"/>
              </a:rPr>
              <a:t>Rubric, scoring table, hallucination-rate calculation, consistency test, LLM-as-judge prompt, and participant tasks.</a:t>
            </a:r>
            <a:endParaRPr lang="en-US" sz="1250" dirty="0"/>
          </a:p>
        </p:txBody>
      </p:sp>
      <p:sp>
        <p:nvSpPr>
          <p:cNvPr id="18" name="Shape 13"/>
          <p:cNvSpPr/>
          <p:nvPr/>
        </p:nvSpPr>
        <p:spPr>
          <a:xfrm>
            <a:off x="540868" y="5413248"/>
            <a:ext cx="2606040" cy="932688"/>
          </a:xfrm>
          <a:prstGeom prst="roundRect">
            <a:avLst>
              <a:gd name="adj" fmla="val 7843"/>
            </a:avLst>
          </a:prstGeom>
          <a:solidFill>
            <a:srgbClr val="0E1D36"/>
          </a:solidFill>
          <a:ln w="9525">
            <a:solidFill>
              <a:srgbClr val="2A466F"/>
            </a:solidFill>
            <a:prstDash val="solid"/>
          </a:ln>
        </p:spPr>
      </p:sp>
      <p:sp>
        <p:nvSpPr>
          <p:cNvPr id="19" name="Shape 14"/>
          <p:cNvSpPr/>
          <p:nvPr/>
        </p:nvSpPr>
        <p:spPr>
          <a:xfrm>
            <a:off x="760324" y="5650992"/>
            <a:ext cx="457200" cy="457200"/>
          </a:xfrm>
          <a:prstGeom prst="ellipse">
            <a:avLst/>
          </a:prstGeom>
          <a:solidFill>
            <a:srgbClr val="0F8B8D"/>
          </a:solidFill>
          <a:ln/>
        </p:spPr>
      </p:sp>
      <p:pic>
        <p:nvPicPr>
          <p:cNvPr id="20" name="Image 3" descr="/home/claude/deck/icons/target.png">    </p:cNvPr>
          <p:cNvPicPr>
            <a:picLocks noChangeAspect="1"/>
          </p:cNvPicPr>
          <p:nvPr/>
        </p:nvPicPr>
        <p:blipFill>
          <a:blip r:embed="rId4"/>
          <a:stretch>
            <a:fillRect/>
          </a:stretch>
        </p:blipFill>
        <p:spPr>
          <a:xfrm>
            <a:off x="870052" y="5760720"/>
            <a:ext cx="237744" cy="237744"/>
          </a:xfrm>
          <a:prstGeom prst="rect">
            <a:avLst/>
          </a:prstGeom>
        </p:spPr>
      </p:pic>
      <p:sp>
        <p:nvSpPr>
          <p:cNvPr id="21" name="Text 15"/>
          <p:cNvSpPr/>
          <p:nvPr/>
        </p:nvSpPr>
        <p:spPr>
          <a:xfrm>
            <a:off x="1345540" y="5413248"/>
            <a:ext cx="1691640" cy="93268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Accuracy</a:t>
            </a:r>
            <a:endParaRPr lang="en-US" sz="1400" dirty="0"/>
          </a:p>
        </p:txBody>
      </p:sp>
      <p:sp>
        <p:nvSpPr>
          <p:cNvPr id="22" name="Shape 16"/>
          <p:cNvSpPr/>
          <p:nvPr/>
        </p:nvSpPr>
        <p:spPr>
          <a:xfrm>
            <a:off x="3375508" y="5413248"/>
            <a:ext cx="2606040" cy="932688"/>
          </a:xfrm>
          <a:prstGeom prst="roundRect">
            <a:avLst>
              <a:gd name="adj" fmla="val 7843"/>
            </a:avLst>
          </a:prstGeom>
          <a:solidFill>
            <a:srgbClr val="0E1D36"/>
          </a:solidFill>
          <a:ln w="9525">
            <a:solidFill>
              <a:srgbClr val="2A466F"/>
            </a:solidFill>
            <a:prstDash val="solid"/>
          </a:ln>
        </p:spPr>
      </p:sp>
      <p:sp>
        <p:nvSpPr>
          <p:cNvPr id="23" name="Shape 17"/>
          <p:cNvSpPr/>
          <p:nvPr/>
        </p:nvSpPr>
        <p:spPr>
          <a:xfrm>
            <a:off x="3594964" y="5650992"/>
            <a:ext cx="457200" cy="457200"/>
          </a:xfrm>
          <a:prstGeom prst="ellipse">
            <a:avLst/>
          </a:prstGeom>
          <a:solidFill>
            <a:srgbClr val="0F8B8D"/>
          </a:solidFill>
          <a:ln/>
        </p:spPr>
      </p:sp>
      <p:pic>
        <p:nvPicPr>
          <p:cNvPr id="24" name="Image 4" descr="/home/claude/deck/icons/anchor.png">    </p:cNvPr>
          <p:cNvPicPr>
            <a:picLocks noChangeAspect="1"/>
          </p:cNvPicPr>
          <p:nvPr/>
        </p:nvPicPr>
        <p:blipFill>
          <a:blip r:embed="rId5"/>
          <a:stretch>
            <a:fillRect/>
          </a:stretch>
        </p:blipFill>
        <p:spPr>
          <a:xfrm>
            <a:off x="3704692" y="5760720"/>
            <a:ext cx="237744" cy="237744"/>
          </a:xfrm>
          <a:prstGeom prst="rect">
            <a:avLst/>
          </a:prstGeom>
        </p:spPr>
      </p:pic>
      <p:sp>
        <p:nvSpPr>
          <p:cNvPr id="25" name="Text 18"/>
          <p:cNvSpPr/>
          <p:nvPr/>
        </p:nvSpPr>
        <p:spPr>
          <a:xfrm>
            <a:off x="4180180" y="5413248"/>
            <a:ext cx="1691640" cy="93268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Grounding</a:t>
            </a:r>
            <a:endParaRPr lang="en-US" sz="1400" dirty="0"/>
          </a:p>
        </p:txBody>
      </p:sp>
      <p:sp>
        <p:nvSpPr>
          <p:cNvPr id="26" name="Shape 19"/>
          <p:cNvSpPr/>
          <p:nvPr/>
        </p:nvSpPr>
        <p:spPr>
          <a:xfrm>
            <a:off x="6210148" y="5413248"/>
            <a:ext cx="2606040" cy="932688"/>
          </a:xfrm>
          <a:prstGeom prst="roundRect">
            <a:avLst>
              <a:gd name="adj" fmla="val 7843"/>
            </a:avLst>
          </a:prstGeom>
          <a:solidFill>
            <a:srgbClr val="0E1D36"/>
          </a:solidFill>
          <a:ln w="9525">
            <a:solidFill>
              <a:srgbClr val="2A466F"/>
            </a:solidFill>
            <a:prstDash val="solid"/>
          </a:ln>
        </p:spPr>
      </p:sp>
      <p:sp>
        <p:nvSpPr>
          <p:cNvPr id="27" name="Shape 20"/>
          <p:cNvSpPr/>
          <p:nvPr/>
        </p:nvSpPr>
        <p:spPr>
          <a:xfrm>
            <a:off x="6429604" y="5650992"/>
            <a:ext cx="457200" cy="457200"/>
          </a:xfrm>
          <a:prstGeom prst="ellipse">
            <a:avLst/>
          </a:prstGeom>
          <a:solidFill>
            <a:srgbClr val="0F8B8D"/>
          </a:solidFill>
          <a:ln/>
        </p:spPr>
      </p:sp>
      <p:pic>
        <p:nvPicPr>
          <p:cNvPr id="28" name="Image 5" descr="/home/claude/deck/icons/shield.png">    </p:cNvPr>
          <p:cNvPicPr>
            <a:picLocks noChangeAspect="1"/>
          </p:cNvPicPr>
          <p:nvPr/>
        </p:nvPicPr>
        <p:blipFill>
          <a:blip r:embed="rId6"/>
          <a:stretch>
            <a:fillRect/>
          </a:stretch>
        </p:blipFill>
        <p:spPr>
          <a:xfrm>
            <a:off x="6539332" y="5760720"/>
            <a:ext cx="237744" cy="237744"/>
          </a:xfrm>
          <a:prstGeom prst="rect">
            <a:avLst/>
          </a:prstGeom>
        </p:spPr>
      </p:pic>
      <p:sp>
        <p:nvSpPr>
          <p:cNvPr id="29" name="Text 21"/>
          <p:cNvSpPr/>
          <p:nvPr/>
        </p:nvSpPr>
        <p:spPr>
          <a:xfrm>
            <a:off x="7014820" y="5413248"/>
            <a:ext cx="1691640" cy="93268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Safety</a:t>
            </a:r>
            <a:endParaRPr lang="en-US" sz="1400" dirty="0"/>
          </a:p>
        </p:txBody>
      </p:sp>
      <p:sp>
        <p:nvSpPr>
          <p:cNvPr id="30" name="Shape 22"/>
          <p:cNvSpPr/>
          <p:nvPr/>
        </p:nvSpPr>
        <p:spPr>
          <a:xfrm>
            <a:off x="9044788" y="5413248"/>
            <a:ext cx="2606040" cy="932688"/>
          </a:xfrm>
          <a:prstGeom prst="roundRect">
            <a:avLst>
              <a:gd name="adj" fmla="val 7843"/>
            </a:avLst>
          </a:prstGeom>
          <a:solidFill>
            <a:srgbClr val="0E1D36"/>
          </a:solidFill>
          <a:ln w="9525">
            <a:solidFill>
              <a:srgbClr val="2A466F"/>
            </a:solidFill>
            <a:prstDash val="solid"/>
          </a:ln>
        </p:spPr>
      </p:sp>
      <p:sp>
        <p:nvSpPr>
          <p:cNvPr id="31" name="Shape 23"/>
          <p:cNvSpPr/>
          <p:nvPr/>
        </p:nvSpPr>
        <p:spPr>
          <a:xfrm>
            <a:off x="9264244" y="5650992"/>
            <a:ext cx="457200" cy="457200"/>
          </a:xfrm>
          <a:prstGeom prst="ellipse">
            <a:avLst/>
          </a:prstGeom>
          <a:solidFill>
            <a:srgbClr val="0F8B8D"/>
          </a:solidFill>
          <a:ln/>
        </p:spPr>
      </p:sp>
      <p:pic>
        <p:nvPicPr>
          <p:cNvPr id="32" name="Image 6" descr="/home/claude/deck/icons/refresh.png">    </p:cNvPr>
          <p:cNvPicPr>
            <a:picLocks noChangeAspect="1"/>
          </p:cNvPicPr>
          <p:nvPr/>
        </p:nvPicPr>
        <p:blipFill>
          <a:blip r:embed="rId7"/>
          <a:stretch>
            <a:fillRect/>
          </a:stretch>
        </p:blipFill>
        <p:spPr>
          <a:xfrm>
            <a:off x="9373972" y="5760720"/>
            <a:ext cx="237744" cy="237744"/>
          </a:xfrm>
          <a:prstGeom prst="rect">
            <a:avLst/>
          </a:prstGeom>
        </p:spPr>
      </p:pic>
      <p:sp>
        <p:nvSpPr>
          <p:cNvPr id="33" name="Text 24"/>
          <p:cNvSpPr/>
          <p:nvPr/>
        </p:nvSpPr>
        <p:spPr>
          <a:xfrm>
            <a:off x="9849460" y="5413248"/>
            <a:ext cx="1691640" cy="93268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Consistency</a:t>
            </a:r>
            <a:endParaRPr lang="en-US" sz="1400" dirty="0"/>
          </a:p>
        </p:txBody>
      </p:sp>
      <p:sp>
        <p:nvSpPr>
          <p:cNvPr id="34" name="Text 25"/>
          <p:cNvSpPr/>
          <p:nvPr/>
        </p:nvSpPr>
        <p:spPr>
          <a:xfrm>
            <a:off x="640080" y="6547104"/>
            <a:ext cx="8229600" cy="274320"/>
          </a:xfrm>
          <a:prstGeom prst="rect">
            <a:avLst/>
          </a:prstGeom>
          <a:noFill/>
          <a:ln/>
        </p:spPr>
        <p:txBody>
          <a:bodyPr wrap="square" lIns="0" tIns="0" rIns="0" bIns="0" rtlCol="0" anchor="ctr"/>
          <a:lstStyle/>
          <a:p>
            <a:pPr algn="l" indent="0" marL="0">
              <a:buNone/>
            </a:pPr>
            <a:r>
              <a:rPr lang="en-US" sz="850" dirty="0">
                <a:solidFill>
                  <a:srgbClr val="6E86AC"/>
                </a:solidFill>
                <a:latin typeface="Calibri" pitchFamily="34" charset="0"/>
                <a:ea typeface="Calibri" pitchFamily="34" charset="-122"/>
                <a:cs typeface="Calibri" pitchFamily="34" charset="-120"/>
              </a:rPr>
              <a:t>PROMPT EVALUATION FRAMEWORK  •  SYNCHRONY TRAINING SIMULATION</a:t>
            </a:r>
            <a:endParaRPr lang="en-US" sz="850" dirty="0"/>
          </a:p>
        </p:txBody>
      </p:sp>
      <p:sp>
        <p:nvSpPr>
          <p:cNvPr id="35" name="Text 26"/>
          <p:cNvSpPr/>
          <p:nvPr/>
        </p:nvSpPr>
        <p:spPr>
          <a:xfrm>
            <a:off x="11274552" y="6547104"/>
            <a:ext cx="457200" cy="274320"/>
          </a:xfrm>
          <a:prstGeom prst="rect">
            <a:avLst/>
          </a:prstGeom>
          <a:noFill/>
          <a:ln/>
        </p:spPr>
        <p:txBody>
          <a:bodyPr wrap="square" lIns="0" tIns="0" rIns="0" bIns="0" rtlCol="0" anchor="ctr"/>
          <a:lstStyle/>
          <a:p>
            <a:pPr algn="r" indent="0" marL="0">
              <a:buNone/>
            </a:pPr>
            <a:r>
              <a:rPr lang="en-US" sz="850" dirty="0">
                <a:solidFill>
                  <a:srgbClr val="6E86AC"/>
                </a:solidFill>
                <a:latin typeface="Calibri" pitchFamily="34" charset="0"/>
                <a:ea typeface="Calibri" pitchFamily="34" charset="-122"/>
                <a:cs typeface="Calibri" pitchFamily="34" charset="-120"/>
              </a:rPr>
              <a:t>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457200" y="347472"/>
            <a:ext cx="10058400" cy="274320"/>
          </a:xfrm>
          <a:prstGeom prst="rect">
            <a:avLst/>
          </a:prstGeom>
          <a:noFill/>
          <a:ln/>
        </p:spPr>
        <p:txBody>
          <a:bodyPr wrap="square" lIns="0" tIns="0" rIns="0" bIns="0" rtlCol="0" anchor="ctr"/>
          <a:lstStyle/>
          <a:p>
            <a:pPr indent="0" marL="0">
              <a:buNone/>
            </a:pPr>
            <a:r>
              <a:rPr lang="en-US" sz="1100" b="1" spc="150" kern="0" dirty="0">
                <a:solidFill>
                  <a:srgbClr val="0F8B8D"/>
                </a:solidFill>
                <a:latin typeface="Calibri" pitchFamily="34" charset="0"/>
                <a:ea typeface="Calibri" pitchFamily="34" charset="-122"/>
                <a:cs typeface="Calibri" pitchFamily="34" charset="-120"/>
              </a:rPr>
              <a:t>FOUNDATIONS</a:t>
            </a:r>
            <a:endParaRPr lang="en-US" sz="1100" dirty="0"/>
          </a:p>
        </p:txBody>
      </p:sp>
      <p:sp>
        <p:nvSpPr>
          <p:cNvPr id="3" name="Text 1"/>
          <p:cNvSpPr/>
          <p:nvPr/>
        </p:nvSpPr>
        <p:spPr>
          <a:xfrm>
            <a:off x="457200" y="603504"/>
            <a:ext cx="11247120" cy="566928"/>
          </a:xfrm>
          <a:prstGeom prst="rect">
            <a:avLst/>
          </a:prstGeom>
          <a:noFill/>
          <a:ln/>
        </p:spPr>
        <p:txBody>
          <a:bodyPr wrap="square" lIns="0" tIns="0" rIns="0" bIns="0" rtlCol="0" anchor="ctr"/>
          <a:lstStyle/>
          <a:p>
            <a:pPr indent="0" marL="0">
              <a:buNone/>
            </a:pPr>
            <a:r>
              <a:rPr lang="en-US" sz="3000" b="1" dirty="0">
                <a:solidFill>
                  <a:srgbClr val="12233F"/>
                </a:solidFill>
                <a:latin typeface="Cambria" pitchFamily="34" charset="0"/>
                <a:ea typeface="Cambria" pitchFamily="34" charset="-122"/>
                <a:cs typeface="Cambria" pitchFamily="34" charset="-120"/>
              </a:rPr>
              <a:t>Why prompt evaluation matters</a:t>
            </a:r>
            <a:endParaRPr lang="en-US" sz="3000" dirty="0"/>
          </a:p>
        </p:txBody>
      </p:sp>
      <p:sp>
        <p:nvSpPr>
          <p:cNvPr id="4" name="Text 2"/>
          <p:cNvSpPr/>
          <p:nvPr/>
        </p:nvSpPr>
        <p:spPr>
          <a:xfrm>
            <a:off x="457200" y="1170432"/>
            <a:ext cx="11247120" cy="365760"/>
          </a:xfrm>
          <a:prstGeom prst="rect">
            <a:avLst/>
          </a:prstGeom>
          <a:noFill/>
          <a:ln/>
        </p:spPr>
        <p:txBody>
          <a:bodyPr wrap="square" lIns="0" tIns="0" rIns="0" bIns="0" rtlCol="0" anchor="ctr"/>
          <a:lstStyle/>
          <a:p>
            <a:pPr indent="0" marL="0">
              <a:buNone/>
            </a:pPr>
            <a:r>
              <a:rPr lang="en-US" sz="1400" i="1" dirty="0">
                <a:solidFill>
                  <a:srgbClr val="5B6B84"/>
                </a:solidFill>
                <a:latin typeface="Calibri" pitchFamily="34" charset="0"/>
                <a:ea typeface="Calibri" pitchFamily="34" charset="-122"/>
                <a:cs typeface="Calibri" pitchFamily="34" charset="-120"/>
              </a:rPr>
              <a:t>Advanced teams need measurable evidence, not subjective approval.</a:t>
            </a:r>
            <a:endParaRPr lang="en-US" sz="1400" dirty="0"/>
          </a:p>
        </p:txBody>
      </p:sp>
      <p:sp>
        <p:nvSpPr>
          <p:cNvPr id="5" name="Shape 3"/>
          <p:cNvSpPr/>
          <p:nvPr/>
        </p:nvSpPr>
        <p:spPr>
          <a:xfrm>
            <a:off x="457200" y="1828800"/>
            <a:ext cx="5349240" cy="2788920"/>
          </a:xfrm>
          <a:prstGeom prst="roundRect">
            <a:avLst>
              <a:gd name="adj" fmla="val 2623"/>
            </a:avLst>
          </a:prstGeom>
          <a:solidFill>
            <a:srgbClr val="FBEAE8"/>
          </a:solidFill>
          <a:ln w="12700">
            <a:solidFill>
              <a:srgbClr val="F0C7C1"/>
            </a:solidFill>
            <a:prstDash val="solid"/>
          </a:ln>
        </p:spPr>
      </p:sp>
      <p:sp>
        <p:nvSpPr>
          <p:cNvPr id="6" name="Shape 4"/>
          <p:cNvSpPr/>
          <p:nvPr/>
        </p:nvSpPr>
        <p:spPr>
          <a:xfrm>
            <a:off x="694944" y="2084832"/>
            <a:ext cx="420624" cy="420624"/>
          </a:xfrm>
          <a:prstGeom prst="ellipse">
            <a:avLst/>
          </a:prstGeom>
          <a:solidFill>
            <a:srgbClr val="C0392B"/>
          </a:solidFill>
          <a:ln/>
        </p:spPr>
      </p:sp>
      <p:pic>
        <p:nvPicPr>
          <p:cNvPr id="7" name="Image 0" descr="/home/claude/deck/icons/x.png">    </p:cNvPr>
          <p:cNvPicPr>
            <a:picLocks noChangeAspect="1"/>
          </p:cNvPicPr>
          <p:nvPr/>
        </p:nvPicPr>
        <p:blipFill>
          <a:blip r:embed="rId1"/>
          <a:stretch>
            <a:fillRect/>
          </a:stretch>
        </p:blipFill>
        <p:spPr>
          <a:xfrm>
            <a:off x="795894" y="2185782"/>
            <a:ext cx="218724" cy="218724"/>
          </a:xfrm>
          <a:prstGeom prst="rect">
            <a:avLst/>
          </a:prstGeom>
        </p:spPr>
      </p:pic>
      <p:sp>
        <p:nvSpPr>
          <p:cNvPr id="8" name="Text 5"/>
          <p:cNvSpPr/>
          <p:nvPr/>
        </p:nvSpPr>
        <p:spPr>
          <a:xfrm>
            <a:off x="1243584" y="2084832"/>
            <a:ext cx="3886200" cy="420624"/>
          </a:xfrm>
          <a:prstGeom prst="rect">
            <a:avLst/>
          </a:prstGeom>
          <a:noFill/>
          <a:ln/>
        </p:spPr>
        <p:txBody>
          <a:bodyPr wrap="square" lIns="0" tIns="0" rIns="0" bIns="0" rtlCol="0" anchor="ctr"/>
          <a:lstStyle/>
          <a:p>
            <a:pPr indent="0" marL="0">
              <a:buNone/>
            </a:pPr>
            <a:r>
              <a:rPr lang="en-US" sz="1500" b="1" dirty="0">
                <a:solidFill>
                  <a:srgbClr val="C0392B"/>
                </a:solidFill>
                <a:latin typeface="Calibri" pitchFamily="34" charset="0"/>
                <a:ea typeface="Calibri" pitchFamily="34" charset="-122"/>
                <a:cs typeface="Calibri" pitchFamily="34" charset="-120"/>
              </a:rPr>
              <a:t>Weak review habit</a:t>
            </a:r>
            <a:endParaRPr lang="en-US" sz="1500" dirty="0"/>
          </a:p>
        </p:txBody>
      </p:sp>
      <p:sp>
        <p:nvSpPr>
          <p:cNvPr id="9" name="Text 6"/>
          <p:cNvSpPr/>
          <p:nvPr/>
        </p:nvSpPr>
        <p:spPr>
          <a:xfrm>
            <a:off x="713232" y="2697480"/>
            <a:ext cx="4837176" cy="457200"/>
          </a:xfrm>
          <a:prstGeom prst="rect">
            <a:avLst/>
          </a:prstGeom>
          <a:noFill/>
          <a:ln/>
        </p:spPr>
        <p:txBody>
          <a:bodyPr wrap="square" lIns="0" tIns="0" rIns="0" bIns="0" rtlCol="0" anchor="ctr"/>
          <a:lstStyle/>
          <a:p>
            <a:pPr indent="0" marL="0">
              <a:buNone/>
            </a:pPr>
            <a:r>
              <a:rPr lang="en-US" sz="1600" i="1" dirty="0">
                <a:solidFill>
                  <a:srgbClr val="1B2A41"/>
                </a:solidFill>
                <a:latin typeface="Cambria" pitchFamily="34" charset="0"/>
                <a:ea typeface="Cambria" pitchFamily="34" charset="-122"/>
                <a:cs typeface="Cambria" pitchFamily="34" charset="-120"/>
              </a:rPr>
              <a:t>"This output looks good."</a:t>
            </a:r>
            <a:endParaRPr lang="en-US" sz="1600" dirty="0"/>
          </a:p>
        </p:txBody>
      </p:sp>
      <p:sp>
        <p:nvSpPr>
          <p:cNvPr id="10" name="Text 7"/>
          <p:cNvSpPr/>
          <p:nvPr/>
        </p:nvSpPr>
        <p:spPr>
          <a:xfrm>
            <a:off x="713232" y="3246120"/>
            <a:ext cx="4837176" cy="1188720"/>
          </a:xfrm>
          <a:prstGeom prst="rect">
            <a:avLst/>
          </a:prstGeom>
          <a:noFill/>
          <a:ln/>
        </p:spPr>
        <p:txBody>
          <a:bodyPr wrap="square" lIns="0" tIns="0" rIns="0" bIns="0" rtlCol="0" anchor="t"/>
          <a:lstStyle/>
          <a:p>
            <a:pPr indent="0" marL="0">
              <a:buNone/>
            </a:pPr>
            <a:r>
              <a:rPr lang="en-US" sz="1250" dirty="0">
                <a:solidFill>
                  <a:srgbClr val="5B6B84"/>
                </a:solidFill>
                <a:latin typeface="Calibri" pitchFamily="34" charset="0"/>
                <a:ea typeface="Calibri" pitchFamily="34" charset="-122"/>
                <a:cs typeface="Calibri" pitchFamily="34" charset="-120"/>
              </a:rPr>
              <a:t>Problem: no repeatability, no audit trail, no measurable threshold, no way to compare prompt versions.</a:t>
            </a:r>
            <a:endParaRPr lang="en-US" sz="1250" dirty="0"/>
          </a:p>
        </p:txBody>
      </p:sp>
      <p:sp>
        <p:nvSpPr>
          <p:cNvPr id="11" name="Shape 8"/>
          <p:cNvSpPr/>
          <p:nvPr/>
        </p:nvSpPr>
        <p:spPr>
          <a:xfrm>
            <a:off x="6236208" y="1828800"/>
            <a:ext cx="5349240" cy="2788920"/>
          </a:xfrm>
          <a:prstGeom prst="roundRect">
            <a:avLst>
              <a:gd name="adj" fmla="val 2623"/>
            </a:avLst>
          </a:prstGeom>
          <a:solidFill>
            <a:srgbClr val="E7F4EE"/>
          </a:solidFill>
          <a:ln w="12700">
            <a:solidFill>
              <a:srgbClr val="BBE0CC"/>
            </a:solidFill>
            <a:prstDash val="solid"/>
          </a:ln>
        </p:spPr>
      </p:sp>
      <p:sp>
        <p:nvSpPr>
          <p:cNvPr id="12" name="Shape 9"/>
          <p:cNvSpPr/>
          <p:nvPr/>
        </p:nvSpPr>
        <p:spPr>
          <a:xfrm>
            <a:off x="6473952" y="2084832"/>
            <a:ext cx="420624" cy="420624"/>
          </a:xfrm>
          <a:prstGeom prst="ellipse">
            <a:avLst/>
          </a:prstGeom>
          <a:solidFill>
            <a:srgbClr val="1E8E5A"/>
          </a:solidFill>
          <a:ln/>
        </p:spPr>
      </p:sp>
      <p:pic>
        <p:nvPicPr>
          <p:cNvPr id="13" name="Image 1" descr="/home/claude/deck/icons/check.png">    </p:cNvPr>
          <p:cNvPicPr>
            <a:picLocks noChangeAspect="1"/>
          </p:cNvPicPr>
          <p:nvPr/>
        </p:nvPicPr>
        <p:blipFill>
          <a:blip r:embed="rId2"/>
          <a:stretch>
            <a:fillRect/>
          </a:stretch>
        </p:blipFill>
        <p:spPr>
          <a:xfrm>
            <a:off x="6574902" y="2185782"/>
            <a:ext cx="218724" cy="218724"/>
          </a:xfrm>
          <a:prstGeom prst="rect">
            <a:avLst/>
          </a:prstGeom>
        </p:spPr>
      </p:pic>
      <p:sp>
        <p:nvSpPr>
          <p:cNvPr id="14" name="Text 10"/>
          <p:cNvSpPr/>
          <p:nvPr/>
        </p:nvSpPr>
        <p:spPr>
          <a:xfrm>
            <a:off x="7022592" y="2084832"/>
            <a:ext cx="4343400" cy="420624"/>
          </a:xfrm>
          <a:prstGeom prst="rect">
            <a:avLst/>
          </a:prstGeom>
          <a:noFill/>
          <a:ln/>
        </p:spPr>
        <p:txBody>
          <a:bodyPr wrap="square" lIns="0" tIns="0" rIns="0" bIns="0" rtlCol="0" anchor="ctr"/>
          <a:lstStyle/>
          <a:p>
            <a:pPr indent="0" marL="0">
              <a:buNone/>
            </a:pPr>
            <a:r>
              <a:rPr lang="en-US" sz="1500" b="1" dirty="0">
                <a:solidFill>
                  <a:srgbClr val="1E8E5A"/>
                </a:solidFill>
                <a:latin typeface="Calibri" pitchFamily="34" charset="0"/>
                <a:ea typeface="Calibri" pitchFamily="34" charset="-122"/>
                <a:cs typeface="Calibri" pitchFamily="34" charset="-120"/>
              </a:rPr>
              <a:t>Better review habit</a:t>
            </a:r>
            <a:endParaRPr lang="en-US" sz="1500" dirty="0"/>
          </a:p>
        </p:txBody>
      </p:sp>
      <p:sp>
        <p:nvSpPr>
          <p:cNvPr id="15" name="Text 11"/>
          <p:cNvSpPr/>
          <p:nvPr/>
        </p:nvSpPr>
        <p:spPr>
          <a:xfrm>
            <a:off x="6492240" y="2670048"/>
            <a:ext cx="4837176" cy="960120"/>
          </a:xfrm>
          <a:prstGeom prst="rect">
            <a:avLst/>
          </a:prstGeom>
          <a:noFill/>
          <a:ln/>
        </p:spPr>
        <p:txBody>
          <a:bodyPr wrap="square" lIns="0" tIns="0" rIns="0" bIns="0" rtlCol="0" anchor="ctr"/>
          <a:lstStyle/>
          <a:p>
            <a:pPr indent="0" marL="0">
              <a:buNone/>
            </a:pPr>
            <a:r>
              <a:rPr lang="en-US" sz="1350" i="1" dirty="0">
                <a:solidFill>
                  <a:srgbClr val="1B2A41"/>
                </a:solidFill>
                <a:latin typeface="Cambria" pitchFamily="34" charset="0"/>
                <a:ea typeface="Cambria" pitchFamily="34" charset="-122"/>
                <a:cs typeface="Cambria" pitchFamily="34" charset="-120"/>
              </a:rPr>
              <a:t>"This output scored 88/100. Accuracy passed, grounding passed, safety passed, but conciseness needs improvement."</a:t>
            </a:r>
            <a:endParaRPr lang="en-US" sz="1350" dirty="0"/>
          </a:p>
        </p:txBody>
      </p:sp>
      <p:sp>
        <p:nvSpPr>
          <p:cNvPr id="16" name="Text 12"/>
          <p:cNvSpPr/>
          <p:nvPr/>
        </p:nvSpPr>
        <p:spPr>
          <a:xfrm>
            <a:off x="6492240" y="3657600"/>
            <a:ext cx="4837176" cy="777240"/>
          </a:xfrm>
          <a:prstGeom prst="rect">
            <a:avLst/>
          </a:prstGeom>
          <a:noFill/>
          <a:ln/>
        </p:spPr>
        <p:txBody>
          <a:bodyPr wrap="square" lIns="0" tIns="0" rIns="0" bIns="0" rtlCol="0" anchor="ctr"/>
          <a:lstStyle/>
          <a:p>
            <a:pPr indent="0" marL="0">
              <a:buNone/>
            </a:pPr>
            <a:r>
              <a:rPr lang="en-US" sz="1250" dirty="0">
                <a:solidFill>
                  <a:srgbClr val="5B6B84"/>
                </a:solidFill>
                <a:latin typeface="Calibri" pitchFamily="34" charset="0"/>
                <a:ea typeface="Calibri" pitchFamily="34" charset="-122"/>
                <a:cs typeface="Calibri" pitchFamily="34" charset="-120"/>
              </a:rPr>
              <a:t>Still informal — but at least measurable and specific.</a:t>
            </a:r>
            <a:endParaRPr lang="en-US" sz="1250" dirty="0"/>
          </a:p>
        </p:txBody>
      </p:sp>
      <p:sp>
        <p:nvSpPr>
          <p:cNvPr id="17" name="Shape 13"/>
          <p:cNvSpPr/>
          <p:nvPr/>
        </p:nvSpPr>
        <p:spPr>
          <a:xfrm>
            <a:off x="457200" y="4864608"/>
            <a:ext cx="11274552" cy="1417320"/>
          </a:xfrm>
          <a:prstGeom prst="roundRect">
            <a:avLst>
              <a:gd name="adj" fmla="val 5161"/>
            </a:avLst>
          </a:prstGeom>
          <a:solidFill>
            <a:srgbClr val="12233F"/>
          </a:solidFill>
          <a:ln/>
        </p:spPr>
      </p:sp>
      <p:sp>
        <p:nvSpPr>
          <p:cNvPr id="18" name="Shape 14"/>
          <p:cNvSpPr/>
          <p:nvPr/>
        </p:nvSpPr>
        <p:spPr>
          <a:xfrm>
            <a:off x="713232" y="5120640"/>
            <a:ext cx="457200" cy="457200"/>
          </a:xfrm>
          <a:prstGeom prst="ellipse">
            <a:avLst/>
          </a:prstGeom>
          <a:solidFill>
            <a:srgbClr val="0F8B8D"/>
          </a:solidFill>
          <a:ln/>
        </p:spPr>
      </p:sp>
      <p:pic>
        <p:nvPicPr>
          <p:cNvPr id="19" name="Image 2" descr="/home/claude/deck/icons/scale.png">    </p:cNvPr>
          <p:cNvPicPr>
            <a:picLocks noChangeAspect="1"/>
          </p:cNvPicPr>
          <p:nvPr/>
        </p:nvPicPr>
        <p:blipFill>
          <a:blip r:embed="rId3"/>
          <a:stretch>
            <a:fillRect/>
          </a:stretch>
        </p:blipFill>
        <p:spPr>
          <a:xfrm>
            <a:off x="822960" y="5230368"/>
            <a:ext cx="237744" cy="237744"/>
          </a:xfrm>
          <a:prstGeom prst="rect">
            <a:avLst/>
          </a:prstGeom>
        </p:spPr>
      </p:pic>
      <p:sp>
        <p:nvSpPr>
          <p:cNvPr id="20" name="Text 15"/>
          <p:cNvSpPr/>
          <p:nvPr/>
        </p:nvSpPr>
        <p:spPr>
          <a:xfrm>
            <a:off x="1316736" y="5084064"/>
            <a:ext cx="54864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Professional standard</a:t>
            </a:r>
            <a:endParaRPr lang="en-US" sz="1500" dirty="0"/>
          </a:p>
        </p:txBody>
      </p:sp>
      <p:sp>
        <p:nvSpPr>
          <p:cNvPr id="21" name="Shape 16"/>
          <p:cNvSpPr/>
          <p:nvPr/>
        </p:nvSpPr>
        <p:spPr>
          <a:xfrm>
            <a:off x="713232" y="5614416"/>
            <a:ext cx="964692" cy="384048"/>
          </a:xfrm>
          <a:prstGeom prst="roundRect">
            <a:avLst>
              <a:gd name="adj" fmla="val 50000"/>
            </a:avLst>
          </a:prstGeom>
          <a:solidFill>
            <a:srgbClr val="1B3358"/>
          </a:solidFill>
          <a:ln w="9525">
            <a:solidFill>
              <a:srgbClr val="0F8B8D"/>
            </a:solidFill>
            <a:prstDash val="solid"/>
          </a:ln>
        </p:spPr>
      </p:sp>
      <p:sp>
        <p:nvSpPr>
          <p:cNvPr id="22" name="Text 17"/>
          <p:cNvSpPr/>
          <p:nvPr/>
        </p:nvSpPr>
        <p:spPr>
          <a:xfrm>
            <a:off x="713232" y="5614416"/>
            <a:ext cx="964692" cy="384048"/>
          </a:xfrm>
          <a:prstGeom prst="rect">
            <a:avLst/>
          </a:prstGeom>
          <a:noFill/>
          <a:ln/>
        </p:spPr>
        <p:txBody>
          <a:bodyPr wrap="square" lIns="0" tIns="0" rIns="0" bIns="0"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Metrics</a:t>
            </a:r>
            <a:endParaRPr lang="en-US" sz="1100" dirty="0"/>
          </a:p>
        </p:txBody>
      </p:sp>
      <p:sp>
        <p:nvSpPr>
          <p:cNvPr id="23" name="Shape 18"/>
          <p:cNvSpPr/>
          <p:nvPr/>
        </p:nvSpPr>
        <p:spPr>
          <a:xfrm>
            <a:off x="1842516" y="5614416"/>
            <a:ext cx="1348740" cy="384048"/>
          </a:xfrm>
          <a:prstGeom prst="roundRect">
            <a:avLst>
              <a:gd name="adj" fmla="val 50000"/>
            </a:avLst>
          </a:prstGeom>
          <a:solidFill>
            <a:srgbClr val="1B3358"/>
          </a:solidFill>
          <a:ln w="9525">
            <a:solidFill>
              <a:srgbClr val="0F8B8D"/>
            </a:solidFill>
            <a:prstDash val="solid"/>
          </a:ln>
        </p:spPr>
      </p:sp>
      <p:sp>
        <p:nvSpPr>
          <p:cNvPr id="24" name="Text 19"/>
          <p:cNvSpPr/>
          <p:nvPr/>
        </p:nvSpPr>
        <p:spPr>
          <a:xfrm>
            <a:off x="1842516" y="5614416"/>
            <a:ext cx="1348740" cy="384048"/>
          </a:xfrm>
          <a:prstGeom prst="rect">
            <a:avLst/>
          </a:prstGeom>
          <a:noFill/>
          <a:ln/>
        </p:spPr>
        <p:txBody>
          <a:bodyPr wrap="square" lIns="0" tIns="0" rIns="0" bIns="0"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Test inputs</a:t>
            </a:r>
            <a:endParaRPr lang="en-US" sz="1100" dirty="0"/>
          </a:p>
        </p:txBody>
      </p:sp>
      <p:sp>
        <p:nvSpPr>
          <p:cNvPr id="25" name="Shape 20"/>
          <p:cNvSpPr/>
          <p:nvPr/>
        </p:nvSpPr>
        <p:spPr>
          <a:xfrm>
            <a:off x="3355848" y="5614416"/>
            <a:ext cx="1540764" cy="384048"/>
          </a:xfrm>
          <a:prstGeom prst="roundRect">
            <a:avLst>
              <a:gd name="adj" fmla="val 50000"/>
            </a:avLst>
          </a:prstGeom>
          <a:solidFill>
            <a:srgbClr val="1B3358"/>
          </a:solidFill>
          <a:ln w="9525">
            <a:solidFill>
              <a:srgbClr val="0F8B8D"/>
            </a:solidFill>
            <a:prstDash val="solid"/>
          </a:ln>
        </p:spPr>
      </p:sp>
      <p:sp>
        <p:nvSpPr>
          <p:cNvPr id="26" name="Text 21"/>
          <p:cNvSpPr/>
          <p:nvPr/>
        </p:nvSpPr>
        <p:spPr>
          <a:xfrm>
            <a:off x="3355848" y="5614416"/>
            <a:ext cx="1540764" cy="384048"/>
          </a:xfrm>
          <a:prstGeom prst="rect">
            <a:avLst/>
          </a:prstGeom>
          <a:noFill/>
          <a:ln/>
        </p:spPr>
        <p:txBody>
          <a:bodyPr wrap="square" lIns="0" tIns="0" rIns="0" bIns="0"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Scoring rules</a:t>
            </a:r>
            <a:endParaRPr lang="en-US" sz="1100" dirty="0"/>
          </a:p>
        </p:txBody>
      </p:sp>
      <p:sp>
        <p:nvSpPr>
          <p:cNvPr id="27" name="Shape 22"/>
          <p:cNvSpPr/>
          <p:nvPr/>
        </p:nvSpPr>
        <p:spPr>
          <a:xfrm>
            <a:off x="5061204" y="5614416"/>
            <a:ext cx="1252728" cy="384048"/>
          </a:xfrm>
          <a:prstGeom prst="roundRect">
            <a:avLst>
              <a:gd name="adj" fmla="val 50000"/>
            </a:avLst>
          </a:prstGeom>
          <a:solidFill>
            <a:srgbClr val="1B3358"/>
          </a:solidFill>
          <a:ln w="9525">
            <a:solidFill>
              <a:srgbClr val="0F8B8D"/>
            </a:solidFill>
            <a:prstDash val="solid"/>
          </a:ln>
        </p:spPr>
      </p:sp>
      <p:sp>
        <p:nvSpPr>
          <p:cNvPr id="28" name="Text 23"/>
          <p:cNvSpPr/>
          <p:nvPr/>
        </p:nvSpPr>
        <p:spPr>
          <a:xfrm>
            <a:off x="5061204" y="5614416"/>
            <a:ext cx="1252728" cy="384048"/>
          </a:xfrm>
          <a:prstGeom prst="rect">
            <a:avLst/>
          </a:prstGeom>
          <a:noFill/>
          <a:ln/>
        </p:spPr>
        <p:txBody>
          <a:bodyPr wrap="square" lIns="0" tIns="0" rIns="0" bIns="0"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Pass gates</a:t>
            </a:r>
            <a:endParaRPr lang="en-US" sz="1100" dirty="0"/>
          </a:p>
        </p:txBody>
      </p:sp>
      <p:sp>
        <p:nvSpPr>
          <p:cNvPr id="29" name="Shape 24"/>
          <p:cNvSpPr/>
          <p:nvPr/>
        </p:nvSpPr>
        <p:spPr>
          <a:xfrm>
            <a:off x="6478524" y="5614416"/>
            <a:ext cx="1828800" cy="384048"/>
          </a:xfrm>
          <a:prstGeom prst="roundRect">
            <a:avLst>
              <a:gd name="adj" fmla="val 50000"/>
            </a:avLst>
          </a:prstGeom>
          <a:solidFill>
            <a:srgbClr val="1B3358"/>
          </a:solidFill>
          <a:ln w="9525">
            <a:solidFill>
              <a:srgbClr val="0F8B8D"/>
            </a:solidFill>
            <a:prstDash val="solid"/>
          </a:ln>
        </p:spPr>
      </p:sp>
      <p:sp>
        <p:nvSpPr>
          <p:cNvPr id="30" name="Text 25"/>
          <p:cNvSpPr/>
          <p:nvPr/>
        </p:nvSpPr>
        <p:spPr>
          <a:xfrm>
            <a:off x="6478524" y="5614416"/>
            <a:ext cx="1828800" cy="384048"/>
          </a:xfrm>
          <a:prstGeom prst="rect">
            <a:avLst/>
          </a:prstGeom>
          <a:noFill/>
          <a:ln/>
        </p:spPr>
        <p:txBody>
          <a:bodyPr wrap="square" lIns="0" tIns="0" rIns="0" bIns="0"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Failure examples</a:t>
            </a:r>
            <a:endParaRPr lang="en-US" sz="1100" dirty="0"/>
          </a:p>
        </p:txBody>
      </p:sp>
      <p:sp>
        <p:nvSpPr>
          <p:cNvPr id="31" name="Shape 26"/>
          <p:cNvSpPr/>
          <p:nvPr/>
        </p:nvSpPr>
        <p:spPr>
          <a:xfrm>
            <a:off x="8471916" y="5614416"/>
            <a:ext cx="2308860" cy="384048"/>
          </a:xfrm>
          <a:prstGeom prst="roundRect">
            <a:avLst>
              <a:gd name="adj" fmla="val 50000"/>
            </a:avLst>
          </a:prstGeom>
          <a:solidFill>
            <a:srgbClr val="1B3358"/>
          </a:solidFill>
          <a:ln w="9525">
            <a:solidFill>
              <a:srgbClr val="0F8B8D"/>
            </a:solidFill>
            <a:prstDash val="solid"/>
          </a:ln>
        </p:spPr>
      </p:sp>
      <p:sp>
        <p:nvSpPr>
          <p:cNvPr id="32" name="Text 27"/>
          <p:cNvSpPr/>
          <p:nvPr/>
        </p:nvSpPr>
        <p:spPr>
          <a:xfrm>
            <a:off x="8471916" y="5614416"/>
            <a:ext cx="2308860" cy="384048"/>
          </a:xfrm>
          <a:prstGeom prst="rect">
            <a:avLst/>
          </a:prstGeom>
          <a:noFill/>
          <a:ln/>
        </p:spPr>
        <p:txBody>
          <a:bodyPr wrap="square" lIns="0" tIns="0" rIns="0" bIns="0"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Human-review triggers</a:t>
            </a:r>
            <a:endParaRPr lang="en-US" sz="1100" dirty="0"/>
          </a:p>
        </p:txBody>
      </p:sp>
      <p:sp>
        <p:nvSpPr>
          <p:cNvPr id="33" name="Text 28"/>
          <p:cNvSpPr/>
          <p:nvPr/>
        </p:nvSpPr>
        <p:spPr>
          <a:xfrm>
            <a:off x="457200" y="6547104"/>
            <a:ext cx="8229600" cy="274320"/>
          </a:xfrm>
          <a:prstGeom prst="rect">
            <a:avLst/>
          </a:prstGeom>
          <a:noFill/>
          <a:ln/>
        </p:spPr>
        <p:txBody>
          <a:bodyPr wrap="square" lIns="0" tIns="0" rIns="0" bIns="0" rtlCol="0" anchor="ctr"/>
          <a:lstStyle/>
          <a:p>
            <a:pPr algn="l" indent="0" marL="0">
              <a:buNone/>
            </a:pPr>
            <a:r>
              <a:rPr lang="en-US" sz="850" dirty="0">
                <a:solidFill>
                  <a:srgbClr val="5B6B84"/>
                </a:solidFill>
                <a:latin typeface="Calibri" pitchFamily="34" charset="0"/>
                <a:ea typeface="Calibri" pitchFamily="34" charset="-122"/>
                <a:cs typeface="Calibri" pitchFamily="34" charset="-120"/>
              </a:rPr>
              <a:t>PROMPT EVALUATION FRAMEWORK  •  SYNCHRONY TRAINING SIMULATION</a:t>
            </a:r>
            <a:endParaRPr lang="en-US" sz="850" dirty="0"/>
          </a:p>
        </p:txBody>
      </p:sp>
      <p:sp>
        <p:nvSpPr>
          <p:cNvPr id="34" name="Text 29"/>
          <p:cNvSpPr/>
          <p:nvPr/>
        </p:nvSpPr>
        <p:spPr>
          <a:xfrm>
            <a:off x="11274552" y="6547104"/>
            <a:ext cx="457200" cy="274320"/>
          </a:xfrm>
          <a:prstGeom prst="rect">
            <a:avLst/>
          </a:prstGeom>
          <a:noFill/>
          <a:ln/>
        </p:spPr>
        <p:txBody>
          <a:bodyPr wrap="square" lIns="0" tIns="0" rIns="0" bIns="0" rtlCol="0" anchor="ctr"/>
          <a:lstStyle/>
          <a:p>
            <a:pPr algn="r" indent="0" marL="0">
              <a:buNone/>
            </a:pPr>
            <a:r>
              <a:rPr lang="en-US" sz="850" dirty="0">
                <a:solidFill>
                  <a:srgbClr val="5B6B84"/>
                </a:solidFill>
                <a:latin typeface="Calibri" pitchFamily="34" charset="0"/>
                <a:ea typeface="Calibri" pitchFamily="34" charset="-122"/>
                <a:cs typeface="Calibri"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457200" y="347472"/>
            <a:ext cx="10058400" cy="274320"/>
          </a:xfrm>
          <a:prstGeom prst="rect">
            <a:avLst/>
          </a:prstGeom>
          <a:noFill/>
          <a:ln/>
        </p:spPr>
        <p:txBody>
          <a:bodyPr wrap="square" lIns="0" tIns="0" rIns="0" bIns="0" rtlCol="0" anchor="ctr"/>
          <a:lstStyle/>
          <a:p>
            <a:pPr indent="0" marL="0">
              <a:buNone/>
            </a:pPr>
            <a:r>
              <a:rPr lang="en-US" sz="1100" b="1" spc="150" kern="0" dirty="0">
                <a:solidFill>
                  <a:srgbClr val="0F8B8D"/>
                </a:solidFill>
                <a:latin typeface="Calibri" pitchFamily="34" charset="0"/>
                <a:ea typeface="Calibri" pitchFamily="34" charset="-122"/>
                <a:cs typeface="Calibri" pitchFamily="34" charset="-120"/>
              </a:rPr>
              <a:t>THE FRAMEWORK</a:t>
            </a:r>
            <a:endParaRPr lang="en-US" sz="1100" dirty="0"/>
          </a:p>
        </p:txBody>
      </p:sp>
      <p:sp>
        <p:nvSpPr>
          <p:cNvPr id="3" name="Text 1"/>
          <p:cNvSpPr/>
          <p:nvPr/>
        </p:nvSpPr>
        <p:spPr>
          <a:xfrm>
            <a:off x="457200" y="603504"/>
            <a:ext cx="11247120" cy="566928"/>
          </a:xfrm>
          <a:prstGeom prst="rect">
            <a:avLst/>
          </a:prstGeom>
          <a:noFill/>
          <a:ln/>
        </p:spPr>
        <p:txBody>
          <a:bodyPr wrap="square" lIns="0" tIns="0" rIns="0" bIns="0" rtlCol="0" anchor="ctr"/>
          <a:lstStyle/>
          <a:p>
            <a:pPr indent="0" marL="0">
              <a:buNone/>
            </a:pPr>
            <a:r>
              <a:rPr lang="en-US" sz="3000" b="1" dirty="0">
                <a:solidFill>
                  <a:srgbClr val="12233F"/>
                </a:solidFill>
                <a:latin typeface="Cambria" pitchFamily="34" charset="0"/>
                <a:ea typeface="Cambria" pitchFamily="34" charset="-122"/>
                <a:cs typeface="Cambria" pitchFamily="34" charset="-120"/>
              </a:rPr>
              <a:t>Evaluation framework at a glance</a:t>
            </a:r>
            <a:endParaRPr lang="en-US" sz="3000" dirty="0"/>
          </a:p>
        </p:txBody>
      </p:sp>
      <p:sp>
        <p:nvSpPr>
          <p:cNvPr id="4" name="Text 2"/>
          <p:cNvSpPr/>
          <p:nvPr/>
        </p:nvSpPr>
        <p:spPr>
          <a:xfrm>
            <a:off x="457200" y="1170432"/>
            <a:ext cx="11247120" cy="365760"/>
          </a:xfrm>
          <a:prstGeom prst="rect">
            <a:avLst/>
          </a:prstGeom>
          <a:noFill/>
          <a:ln/>
        </p:spPr>
        <p:txBody>
          <a:bodyPr wrap="square" lIns="0" tIns="0" rIns="0" bIns="0" rtlCol="0" anchor="ctr"/>
          <a:lstStyle/>
          <a:p>
            <a:pPr indent="0" marL="0">
              <a:buNone/>
            </a:pPr>
            <a:r>
              <a:rPr lang="en-US" sz="1400" i="1" dirty="0">
                <a:solidFill>
                  <a:srgbClr val="5B6B84"/>
                </a:solidFill>
                <a:latin typeface="Calibri" pitchFamily="34" charset="0"/>
                <a:ea typeface="Calibri" pitchFamily="34" charset="-122"/>
                <a:cs typeface="Calibri" pitchFamily="34" charset="-120"/>
              </a:rPr>
              <a:t>Use different metrics for truth, usefulness, format, behavior, and risk.</a:t>
            </a:r>
            <a:endParaRPr lang="en-US" sz="1400" dirty="0"/>
          </a:p>
        </p:txBody>
      </p:sp>
      <p:sp>
        <p:nvSpPr>
          <p:cNvPr id="5" name="Shape 3"/>
          <p:cNvSpPr/>
          <p:nvPr/>
        </p:nvSpPr>
        <p:spPr>
          <a:xfrm>
            <a:off x="457200" y="1828800"/>
            <a:ext cx="2123237" cy="1874520"/>
          </a:xfrm>
          <a:prstGeom prst="roundRect">
            <a:avLst>
              <a:gd name="adj" fmla="val 3415"/>
            </a:avLst>
          </a:prstGeom>
          <a:solidFill>
            <a:srgbClr val="FFFFFF"/>
          </a:solidFill>
          <a:ln w="12700">
            <a:solidFill>
              <a:srgbClr val="E2E8F0"/>
            </a:solidFill>
            <a:prstDash val="solid"/>
          </a:ln>
        </p:spPr>
      </p:sp>
      <p:sp>
        <p:nvSpPr>
          <p:cNvPr id="6" name="Shape 4"/>
          <p:cNvSpPr/>
          <p:nvPr/>
        </p:nvSpPr>
        <p:spPr>
          <a:xfrm>
            <a:off x="621792" y="1993392"/>
            <a:ext cx="384048" cy="384048"/>
          </a:xfrm>
          <a:prstGeom prst="ellipse">
            <a:avLst/>
          </a:prstGeom>
          <a:solidFill>
            <a:srgbClr val="0F8B8D"/>
          </a:solidFill>
          <a:ln/>
        </p:spPr>
      </p:sp>
      <p:pic>
        <p:nvPicPr>
          <p:cNvPr id="7" name="Image 0" descr="/home/claude/deck/icons/target.png">    </p:cNvPr>
          <p:cNvPicPr>
            <a:picLocks noChangeAspect="1"/>
          </p:cNvPicPr>
          <p:nvPr/>
        </p:nvPicPr>
        <p:blipFill>
          <a:blip r:embed="rId1"/>
          <a:stretch>
            <a:fillRect/>
          </a:stretch>
        </p:blipFill>
        <p:spPr>
          <a:xfrm>
            <a:off x="713964" y="2085564"/>
            <a:ext cx="199705" cy="199705"/>
          </a:xfrm>
          <a:prstGeom prst="rect">
            <a:avLst/>
          </a:prstGeom>
        </p:spPr>
      </p:pic>
      <p:sp>
        <p:nvSpPr>
          <p:cNvPr id="8" name="Text 5"/>
          <p:cNvSpPr/>
          <p:nvPr/>
        </p:nvSpPr>
        <p:spPr>
          <a:xfrm>
            <a:off x="594360" y="2450592"/>
            <a:ext cx="1848917" cy="457200"/>
          </a:xfrm>
          <a:prstGeom prst="rect">
            <a:avLst/>
          </a:prstGeom>
          <a:noFill/>
          <a:ln/>
        </p:spPr>
        <p:txBody>
          <a:bodyPr wrap="square" lIns="0" tIns="0" rIns="0" bIns="0" rtlCol="0" anchor="t"/>
          <a:lstStyle/>
          <a:p>
            <a:pPr indent="0" marL="0">
              <a:buNone/>
            </a:pPr>
            <a:r>
              <a:rPr lang="en-US" sz="1250" b="1" dirty="0">
                <a:solidFill>
                  <a:srgbClr val="12233F"/>
                </a:solidFill>
                <a:latin typeface="Calibri" pitchFamily="34" charset="0"/>
                <a:ea typeface="Calibri" pitchFamily="34" charset="-122"/>
                <a:cs typeface="Calibri" pitchFamily="34" charset="-120"/>
              </a:rPr>
              <a:t>Accuracy</a:t>
            </a:r>
            <a:endParaRPr lang="en-US" sz="1250" dirty="0"/>
          </a:p>
        </p:txBody>
      </p:sp>
      <p:sp>
        <p:nvSpPr>
          <p:cNvPr id="9" name="Text 6"/>
          <p:cNvSpPr/>
          <p:nvPr/>
        </p:nvSpPr>
        <p:spPr>
          <a:xfrm>
            <a:off x="594360" y="2852928"/>
            <a:ext cx="1848917" cy="502920"/>
          </a:xfrm>
          <a:prstGeom prst="rect">
            <a:avLst/>
          </a:prstGeom>
          <a:noFill/>
          <a:ln/>
        </p:spPr>
        <p:txBody>
          <a:bodyPr wrap="square" lIns="0" tIns="0" rIns="0" bIns="0" rtlCol="0" anchor="t"/>
          <a:lstStyle/>
          <a:p>
            <a:pPr indent="0" marL="0">
              <a:buNone/>
            </a:pPr>
            <a:r>
              <a:rPr lang="en-US" sz="970" dirty="0">
                <a:solidFill>
                  <a:srgbClr val="5B6B84"/>
                </a:solidFill>
                <a:latin typeface="Calibri" pitchFamily="34" charset="0"/>
                <a:ea typeface="Calibri" pitchFamily="34" charset="-122"/>
                <a:cs typeface="Calibri" pitchFamily="34" charset="-120"/>
              </a:rPr>
              <a:t>Is the information correct?</a:t>
            </a:r>
            <a:endParaRPr lang="en-US" sz="970" dirty="0"/>
          </a:p>
        </p:txBody>
      </p:sp>
      <p:sp>
        <p:nvSpPr>
          <p:cNvPr id="10" name="Text 7"/>
          <p:cNvSpPr/>
          <p:nvPr/>
        </p:nvSpPr>
        <p:spPr>
          <a:xfrm>
            <a:off x="594360" y="3392424"/>
            <a:ext cx="1848917" cy="256032"/>
          </a:xfrm>
          <a:prstGeom prst="rect">
            <a:avLst/>
          </a:prstGeom>
          <a:noFill/>
          <a:ln/>
        </p:spPr>
        <p:txBody>
          <a:bodyPr wrap="square" lIns="0" tIns="0" rIns="0" bIns="0" rtlCol="0" anchor="ctr"/>
          <a:lstStyle/>
          <a:p>
            <a:pPr indent="0" marL="0">
              <a:buNone/>
            </a:pPr>
            <a:r>
              <a:rPr lang="en-US" sz="800" b="1" spc="50" kern="0" dirty="0">
                <a:solidFill>
                  <a:srgbClr val="0F8B8D"/>
                </a:solidFill>
                <a:latin typeface="Calibri" pitchFamily="34" charset="0"/>
                <a:ea typeface="Calibri" pitchFamily="34" charset="-122"/>
                <a:cs typeface="Calibri" pitchFamily="34" charset="-120"/>
              </a:rPr>
              <a:t>COMPARE WITH VERIFIED FACTS</a:t>
            </a:r>
            <a:endParaRPr lang="en-US" sz="800" dirty="0"/>
          </a:p>
        </p:txBody>
      </p:sp>
      <p:sp>
        <p:nvSpPr>
          <p:cNvPr id="11" name="Shape 8"/>
          <p:cNvSpPr/>
          <p:nvPr/>
        </p:nvSpPr>
        <p:spPr>
          <a:xfrm>
            <a:off x="2745029" y="1828800"/>
            <a:ext cx="2123237" cy="1874520"/>
          </a:xfrm>
          <a:prstGeom prst="roundRect">
            <a:avLst>
              <a:gd name="adj" fmla="val 3415"/>
            </a:avLst>
          </a:prstGeom>
          <a:solidFill>
            <a:srgbClr val="FFFFFF"/>
          </a:solidFill>
          <a:ln w="12700">
            <a:solidFill>
              <a:srgbClr val="E2E8F0"/>
            </a:solidFill>
            <a:prstDash val="solid"/>
          </a:ln>
        </p:spPr>
      </p:sp>
      <p:sp>
        <p:nvSpPr>
          <p:cNvPr id="12" name="Shape 9"/>
          <p:cNvSpPr/>
          <p:nvPr/>
        </p:nvSpPr>
        <p:spPr>
          <a:xfrm>
            <a:off x="2909621" y="1993392"/>
            <a:ext cx="384048" cy="384048"/>
          </a:xfrm>
          <a:prstGeom prst="ellipse">
            <a:avLst/>
          </a:prstGeom>
          <a:solidFill>
            <a:srgbClr val="0F8B8D"/>
          </a:solidFill>
          <a:ln/>
        </p:spPr>
      </p:sp>
      <p:pic>
        <p:nvPicPr>
          <p:cNvPr id="13" name="Image 1" descr="/home/claude/deck/icons/checkcircle.png">    </p:cNvPr>
          <p:cNvPicPr>
            <a:picLocks noChangeAspect="1"/>
          </p:cNvPicPr>
          <p:nvPr/>
        </p:nvPicPr>
        <p:blipFill>
          <a:blip r:embed="rId2"/>
          <a:stretch>
            <a:fillRect/>
          </a:stretch>
        </p:blipFill>
        <p:spPr>
          <a:xfrm>
            <a:off x="3001792" y="2085564"/>
            <a:ext cx="199705" cy="199705"/>
          </a:xfrm>
          <a:prstGeom prst="rect">
            <a:avLst/>
          </a:prstGeom>
        </p:spPr>
      </p:pic>
      <p:sp>
        <p:nvSpPr>
          <p:cNvPr id="14" name="Text 10"/>
          <p:cNvSpPr/>
          <p:nvPr/>
        </p:nvSpPr>
        <p:spPr>
          <a:xfrm>
            <a:off x="2882189" y="2450592"/>
            <a:ext cx="1848917" cy="457200"/>
          </a:xfrm>
          <a:prstGeom prst="rect">
            <a:avLst/>
          </a:prstGeom>
          <a:noFill/>
          <a:ln/>
        </p:spPr>
        <p:txBody>
          <a:bodyPr wrap="square" lIns="0" tIns="0" rIns="0" bIns="0" rtlCol="0" anchor="t"/>
          <a:lstStyle/>
          <a:p>
            <a:pPr indent="0" marL="0">
              <a:buNone/>
            </a:pPr>
            <a:r>
              <a:rPr lang="en-US" sz="1250" b="1" dirty="0">
                <a:solidFill>
                  <a:srgbClr val="12233F"/>
                </a:solidFill>
                <a:latin typeface="Calibri" pitchFamily="34" charset="0"/>
                <a:ea typeface="Calibri" pitchFamily="34" charset="-122"/>
                <a:cs typeface="Calibri" pitchFamily="34" charset="-120"/>
              </a:rPr>
              <a:t>Relevance</a:t>
            </a:r>
            <a:endParaRPr lang="en-US" sz="1250" dirty="0"/>
          </a:p>
        </p:txBody>
      </p:sp>
      <p:sp>
        <p:nvSpPr>
          <p:cNvPr id="15" name="Text 11"/>
          <p:cNvSpPr/>
          <p:nvPr/>
        </p:nvSpPr>
        <p:spPr>
          <a:xfrm>
            <a:off x="2882189" y="2852928"/>
            <a:ext cx="1848917" cy="502920"/>
          </a:xfrm>
          <a:prstGeom prst="rect">
            <a:avLst/>
          </a:prstGeom>
          <a:noFill/>
          <a:ln/>
        </p:spPr>
        <p:txBody>
          <a:bodyPr wrap="square" lIns="0" tIns="0" rIns="0" bIns="0" rtlCol="0" anchor="t"/>
          <a:lstStyle/>
          <a:p>
            <a:pPr indent="0" marL="0">
              <a:buNone/>
            </a:pPr>
            <a:r>
              <a:rPr lang="en-US" sz="970" dirty="0">
                <a:solidFill>
                  <a:srgbClr val="5B6B84"/>
                </a:solidFill>
                <a:latin typeface="Calibri" pitchFamily="34" charset="0"/>
                <a:ea typeface="Calibri" pitchFamily="34" charset="-122"/>
                <a:cs typeface="Calibri" pitchFamily="34" charset="-120"/>
              </a:rPr>
              <a:t>Does it answer the actual request?</a:t>
            </a:r>
            <a:endParaRPr lang="en-US" sz="970" dirty="0"/>
          </a:p>
        </p:txBody>
      </p:sp>
      <p:sp>
        <p:nvSpPr>
          <p:cNvPr id="16" name="Text 12"/>
          <p:cNvSpPr/>
          <p:nvPr/>
        </p:nvSpPr>
        <p:spPr>
          <a:xfrm>
            <a:off x="2882189" y="3392424"/>
            <a:ext cx="1848917" cy="256032"/>
          </a:xfrm>
          <a:prstGeom prst="rect">
            <a:avLst/>
          </a:prstGeom>
          <a:noFill/>
          <a:ln/>
        </p:spPr>
        <p:txBody>
          <a:bodyPr wrap="square" lIns="0" tIns="0" rIns="0" bIns="0" rtlCol="0" anchor="ctr"/>
          <a:lstStyle/>
          <a:p>
            <a:pPr indent="0" marL="0">
              <a:buNone/>
            </a:pPr>
            <a:r>
              <a:rPr lang="en-US" sz="800" b="1" spc="50" kern="0" dirty="0">
                <a:solidFill>
                  <a:srgbClr val="0F8B8D"/>
                </a:solidFill>
                <a:latin typeface="Calibri" pitchFamily="34" charset="0"/>
                <a:ea typeface="Calibri" pitchFamily="34" charset="-122"/>
                <a:cs typeface="Calibri" pitchFamily="34" charset="-120"/>
              </a:rPr>
              <a:t>CHECK REQUEST COVERAGE</a:t>
            </a:r>
            <a:endParaRPr lang="en-US" sz="800" dirty="0"/>
          </a:p>
        </p:txBody>
      </p:sp>
      <p:sp>
        <p:nvSpPr>
          <p:cNvPr id="17" name="Shape 13"/>
          <p:cNvSpPr/>
          <p:nvPr/>
        </p:nvSpPr>
        <p:spPr>
          <a:xfrm>
            <a:off x="5032858" y="1828800"/>
            <a:ext cx="2123237" cy="1874520"/>
          </a:xfrm>
          <a:prstGeom prst="roundRect">
            <a:avLst>
              <a:gd name="adj" fmla="val 3415"/>
            </a:avLst>
          </a:prstGeom>
          <a:solidFill>
            <a:srgbClr val="FFFFFF"/>
          </a:solidFill>
          <a:ln w="12700">
            <a:solidFill>
              <a:srgbClr val="E2E8F0"/>
            </a:solidFill>
            <a:prstDash val="solid"/>
          </a:ln>
        </p:spPr>
      </p:sp>
      <p:sp>
        <p:nvSpPr>
          <p:cNvPr id="18" name="Shape 14"/>
          <p:cNvSpPr/>
          <p:nvPr/>
        </p:nvSpPr>
        <p:spPr>
          <a:xfrm>
            <a:off x="5197450" y="1993392"/>
            <a:ext cx="384048" cy="384048"/>
          </a:xfrm>
          <a:prstGeom prst="ellipse">
            <a:avLst/>
          </a:prstGeom>
          <a:solidFill>
            <a:srgbClr val="0F8B8D"/>
          </a:solidFill>
          <a:ln/>
        </p:spPr>
      </p:sp>
      <p:pic>
        <p:nvPicPr>
          <p:cNvPr id="19" name="Image 2" descr="/home/claude/deck/icons/listchecks.png">    </p:cNvPr>
          <p:cNvPicPr>
            <a:picLocks noChangeAspect="1"/>
          </p:cNvPicPr>
          <p:nvPr/>
        </p:nvPicPr>
        <p:blipFill>
          <a:blip r:embed="rId3"/>
          <a:stretch>
            <a:fillRect/>
          </a:stretch>
        </p:blipFill>
        <p:spPr>
          <a:xfrm>
            <a:off x="5289621" y="2085564"/>
            <a:ext cx="199705" cy="199705"/>
          </a:xfrm>
          <a:prstGeom prst="rect">
            <a:avLst/>
          </a:prstGeom>
        </p:spPr>
      </p:pic>
      <p:sp>
        <p:nvSpPr>
          <p:cNvPr id="20" name="Text 15"/>
          <p:cNvSpPr/>
          <p:nvPr/>
        </p:nvSpPr>
        <p:spPr>
          <a:xfrm>
            <a:off x="5170018" y="2450592"/>
            <a:ext cx="1848917" cy="457200"/>
          </a:xfrm>
          <a:prstGeom prst="rect">
            <a:avLst/>
          </a:prstGeom>
          <a:noFill/>
          <a:ln/>
        </p:spPr>
        <p:txBody>
          <a:bodyPr wrap="square" lIns="0" tIns="0" rIns="0" bIns="0" rtlCol="0" anchor="t"/>
          <a:lstStyle/>
          <a:p>
            <a:pPr indent="0" marL="0">
              <a:buNone/>
            </a:pPr>
            <a:r>
              <a:rPr lang="en-US" sz="1250" b="1" dirty="0">
                <a:solidFill>
                  <a:srgbClr val="12233F"/>
                </a:solidFill>
                <a:latin typeface="Calibri" pitchFamily="34" charset="0"/>
                <a:ea typeface="Calibri" pitchFamily="34" charset="-122"/>
                <a:cs typeface="Calibri" pitchFamily="34" charset="-120"/>
              </a:rPr>
              <a:t>Completeness</a:t>
            </a:r>
            <a:endParaRPr lang="en-US" sz="1250" dirty="0"/>
          </a:p>
        </p:txBody>
      </p:sp>
      <p:sp>
        <p:nvSpPr>
          <p:cNvPr id="21" name="Text 16"/>
          <p:cNvSpPr/>
          <p:nvPr/>
        </p:nvSpPr>
        <p:spPr>
          <a:xfrm>
            <a:off x="5170018" y="2852928"/>
            <a:ext cx="1848917" cy="502920"/>
          </a:xfrm>
          <a:prstGeom prst="rect">
            <a:avLst/>
          </a:prstGeom>
          <a:noFill/>
          <a:ln/>
        </p:spPr>
        <p:txBody>
          <a:bodyPr wrap="square" lIns="0" tIns="0" rIns="0" bIns="0" rtlCol="0" anchor="t"/>
          <a:lstStyle/>
          <a:p>
            <a:pPr indent="0" marL="0">
              <a:buNone/>
            </a:pPr>
            <a:r>
              <a:rPr lang="en-US" sz="970" dirty="0">
                <a:solidFill>
                  <a:srgbClr val="5B6B84"/>
                </a:solidFill>
                <a:latin typeface="Calibri" pitchFamily="34" charset="0"/>
                <a:ea typeface="Calibri" pitchFamily="34" charset="-122"/>
                <a:cs typeface="Calibri" pitchFamily="34" charset="-120"/>
              </a:rPr>
              <a:t>Are all required points covered?</a:t>
            </a:r>
            <a:endParaRPr lang="en-US" sz="970" dirty="0"/>
          </a:p>
        </p:txBody>
      </p:sp>
      <p:sp>
        <p:nvSpPr>
          <p:cNvPr id="22" name="Text 17"/>
          <p:cNvSpPr/>
          <p:nvPr/>
        </p:nvSpPr>
        <p:spPr>
          <a:xfrm>
            <a:off x="5170018" y="3392424"/>
            <a:ext cx="1848917" cy="256032"/>
          </a:xfrm>
          <a:prstGeom prst="rect">
            <a:avLst/>
          </a:prstGeom>
          <a:noFill/>
          <a:ln/>
        </p:spPr>
        <p:txBody>
          <a:bodyPr wrap="square" lIns="0" tIns="0" rIns="0" bIns="0" rtlCol="0" anchor="ctr"/>
          <a:lstStyle/>
          <a:p>
            <a:pPr indent="0" marL="0">
              <a:buNone/>
            </a:pPr>
            <a:r>
              <a:rPr lang="en-US" sz="800" b="1" spc="50" kern="0" dirty="0">
                <a:solidFill>
                  <a:srgbClr val="0F8B8D"/>
                </a:solidFill>
                <a:latin typeface="Calibri" pitchFamily="34" charset="0"/>
                <a:ea typeface="Calibri" pitchFamily="34" charset="-122"/>
                <a:cs typeface="Calibri" pitchFamily="34" charset="-120"/>
              </a:rPr>
              <a:t>CHECKLIST SCORING</a:t>
            </a:r>
            <a:endParaRPr lang="en-US" sz="800" dirty="0"/>
          </a:p>
        </p:txBody>
      </p:sp>
      <p:sp>
        <p:nvSpPr>
          <p:cNvPr id="23" name="Shape 18"/>
          <p:cNvSpPr/>
          <p:nvPr/>
        </p:nvSpPr>
        <p:spPr>
          <a:xfrm>
            <a:off x="7320686" y="1828800"/>
            <a:ext cx="2123237" cy="1874520"/>
          </a:xfrm>
          <a:prstGeom prst="roundRect">
            <a:avLst>
              <a:gd name="adj" fmla="val 3415"/>
            </a:avLst>
          </a:prstGeom>
          <a:solidFill>
            <a:srgbClr val="FFFFFF"/>
          </a:solidFill>
          <a:ln w="12700">
            <a:solidFill>
              <a:srgbClr val="E2E8F0"/>
            </a:solidFill>
            <a:prstDash val="solid"/>
          </a:ln>
        </p:spPr>
      </p:sp>
      <p:sp>
        <p:nvSpPr>
          <p:cNvPr id="24" name="Shape 19"/>
          <p:cNvSpPr/>
          <p:nvPr/>
        </p:nvSpPr>
        <p:spPr>
          <a:xfrm>
            <a:off x="7485278" y="1993392"/>
            <a:ext cx="384048" cy="384048"/>
          </a:xfrm>
          <a:prstGeom prst="ellipse">
            <a:avLst/>
          </a:prstGeom>
          <a:solidFill>
            <a:srgbClr val="0F8B8D"/>
          </a:solidFill>
          <a:ln/>
        </p:spPr>
      </p:sp>
      <p:pic>
        <p:nvPicPr>
          <p:cNvPr id="25" name="Image 3" descr="/home/claude/deck/icons/anchor.png">    </p:cNvPr>
          <p:cNvPicPr>
            <a:picLocks noChangeAspect="1"/>
          </p:cNvPicPr>
          <p:nvPr/>
        </p:nvPicPr>
        <p:blipFill>
          <a:blip r:embed="rId4"/>
          <a:stretch>
            <a:fillRect/>
          </a:stretch>
        </p:blipFill>
        <p:spPr>
          <a:xfrm>
            <a:off x="7577450" y="2085564"/>
            <a:ext cx="199705" cy="199705"/>
          </a:xfrm>
          <a:prstGeom prst="rect">
            <a:avLst/>
          </a:prstGeom>
        </p:spPr>
      </p:pic>
      <p:sp>
        <p:nvSpPr>
          <p:cNvPr id="26" name="Text 20"/>
          <p:cNvSpPr/>
          <p:nvPr/>
        </p:nvSpPr>
        <p:spPr>
          <a:xfrm>
            <a:off x="7457846" y="2450592"/>
            <a:ext cx="1848917" cy="457200"/>
          </a:xfrm>
          <a:prstGeom prst="rect">
            <a:avLst/>
          </a:prstGeom>
          <a:noFill/>
          <a:ln/>
        </p:spPr>
        <p:txBody>
          <a:bodyPr wrap="square" lIns="0" tIns="0" rIns="0" bIns="0" rtlCol="0" anchor="t"/>
          <a:lstStyle/>
          <a:p>
            <a:pPr indent="0" marL="0">
              <a:buNone/>
            </a:pPr>
            <a:r>
              <a:rPr lang="en-US" sz="1250" b="1" dirty="0">
                <a:solidFill>
                  <a:srgbClr val="12233F"/>
                </a:solidFill>
                <a:latin typeface="Calibri" pitchFamily="34" charset="0"/>
                <a:ea typeface="Calibri" pitchFamily="34" charset="-122"/>
                <a:cs typeface="Calibri" pitchFamily="34" charset="-120"/>
              </a:rPr>
              <a:t>Groundedness</a:t>
            </a:r>
            <a:endParaRPr lang="en-US" sz="1250" dirty="0"/>
          </a:p>
        </p:txBody>
      </p:sp>
      <p:sp>
        <p:nvSpPr>
          <p:cNvPr id="27" name="Text 21"/>
          <p:cNvSpPr/>
          <p:nvPr/>
        </p:nvSpPr>
        <p:spPr>
          <a:xfrm>
            <a:off x="7457846" y="2852928"/>
            <a:ext cx="1848917" cy="502920"/>
          </a:xfrm>
          <a:prstGeom prst="rect">
            <a:avLst/>
          </a:prstGeom>
          <a:noFill/>
          <a:ln/>
        </p:spPr>
        <p:txBody>
          <a:bodyPr wrap="square" lIns="0" tIns="0" rIns="0" bIns="0" rtlCol="0" anchor="t"/>
          <a:lstStyle/>
          <a:p>
            <a:pPr indent="0" marL="0">
              <a:buNone/>
            </a:pPr>
            <a:r>
              <a:rPr lang="en-US" sz="970" dirty="0">
                <a:solidFill>
                  <a:srgbClr val="5B6B84"/>
                </a:solidFill>
                <a:latin typeface="Calibri" pitchFamily="34" charset="0"/>
                <a:ea typeface="Calibri" pitchFamily="34" charset="-122"/>
                <a:cs typeface="Calibri" pitchFamily="34" charset="-120"/>
              </a:rPr>
              <a:t>Is it supported by source data?</a:t>
            </a:r>
            <a:endParaRPr lang="en-US" sz="970" dirty="0"/>
          </a:p>
        </p:txBody>
      </p:sp>
      <p:sp>
        <p:nvSpPr>
          <p:cNvPr id="28" name="Text 22"/>
          <p:cNvSpPr/>
          <p:nvPr/>
        </p:nvSpPr>
        <p:spPr>
          <a:xfrm>
            <a:off x="7457846" y="3392424"/>
            <a:ext cx="1848917" cy="256032"/>
          </a:xfrm>
          <a:prstGeom prst="rect">
            <a:avLst/>
          </a:prstGeom>
          <a:noFill/>
          <a:ln/>
        </p:spPr>
        <p:txBody>
          <a:bodyPr wrap="square" lIns="0" tIns="0" rIns="0" bIns="0" rtlCol="0" anchor="ctr"/>
          <a:lstStyle/>
          <a:p>
            <a:pPr indent="0" marL="0">
              <a:buNone/>
            </a:pPr>
            <a:r>
              <a:rPr lang="en-US" sz="800" b="1" spc="50" kern="0" dirty="0">
                <a:solidFill>
                  <a:srgbClr val="0F8B8D"/>
                </a:solidFill>
                <a:latin typeface="Calibri" pitchFamily="34" charset="0"/>
                <a:ea typeface="Calibri" pitchFamily="34" charset="-122"/>
                <a:cs typeface="Calibri" pitchFamily="34" charset="-120"/>
              </a:rPr>
              <a:t>QUOTE / EVIDENCE TRACE</a:t>
            </a:r>
            <a:endParaRPr lang="en-US" sz="800" dirty="0"/>
          </a:p>
        </p:txBody>
      </p:sp>
      <p:sp>
        <p:nvSpPr>
          <p:cNvPr id="29" name="Shape 23"/>
          <p:cNvSpPr/>
          <p:nvPr/>
        </p:nvSpPr>
        <p:spPr>
          <a:xfrm>
            <a:off x="9608515" y="1828800"/>
            <a:ext cx="2123237" cy="1874520"/>
          </a:xfrm>
          <a:prstGeom prst="roundRect">
            <a:avLst>
              <a:gd name="adj" fmla="val 3415"/>
            </a:avLst>
          </a:prstGeom>
          <a:solidFill>
            <a:srgbClr val="FFFFFF"/>
          </a:solidFill>
          <a:ln w="12700">
            <a:solidFill>
              <a:srgbClr val="E2E8F0"/>
            </a:solidFill>
            <a:prstDash val="solid"/>
          </a:ln>
        </p:spPr>
      </p:sp>
      <p:sp>
        <p:nvSpPr>
          <p:cNvPr id="30" name="Shape 24"/>
          <p:cNvSpPr/>
          <p:nvPr/>
        </p:nvSpPr>
        <p:spPr>
          <a:xfrm>
            <a:off x="9773107" y="1993392"/>
            <a:ext cx="384048" cy="384048"/>
          </a:xfrm>
          <a:prstGeom prst="ellipse">
            <a:avLst/>
          </a:prstGeom>
          <a:solidFill>
            <a:srgbClr val="0F8B8D"/>
          </a:solidFill>
          <a:ln/>
        </p:spPr>
      </p:sp>
      <p:pic>
        <p:nvPicPr>
          <p:cNvPr id="31" name="Image 4" descr="/home/claude/deck/icons/refresh.png">    </p:cNvPr>
          <p:cNvPicPr>
            <a:picLocks noChangeAspect="1"/>
          </p:cNvPicPr>
          <p:nvPr/>
        </p:nvPicPr>
        <p:blipFill>
          <a:blip r:embed="rId5"/>
          <a:stretch>
            <a:fillRect/>
          </a:stretch>
        </p:blipFill>
        <p:spPr>
          <a:xfrm>
            <a:off x="9865279" y="2085564"/>
            <a:ext cx="199705" cy="199705"/>
          </a:xfrm>
          <a:prstGeom prst="rect">
            <a:avLst/>
          </a:prstGeom>
        </p:spPr>
      </p:pic>
      <p:sp>
        <p:nvSpPr>
          <p:cNvPr id="32" name="Text 25"/>
          <p:cNvSpPr/>
          <p:nvPr/>
        </p:nvSpPr>
        <p:spPr>
          <a:xfrm>
            <a:off x="9745675" y="2450592"/>
            <a:ext cx="1848917" cy="457200"/>
          </a:xfrm>
          <a:prstGeom prst="rect">
            <a:avLst/>
          </a:prstGeom>
          <a:noFill/>
          <a:ln/>
        </p:spPr>
        <p:txBody>
          <a:bodyPr wrap="square" lIns="0" tIns="0" rIns="0" bIns="0" rtlCol="0" anchor="t"/>
          <a:lstStyle/>
          <a:p>
            <a:pPr indent="0" marL="0">
              <a:buNone/>
            </a:pPr>
            <a:r>
              <a:rPr lang="en-US" sz="1250" b="1" dirty="0">
                <a:solidFill>
                  <a:srgbClr val="12233F"/>
                </a:solidFill>
                <a:latin typeface="Calibri" pitchFamily="34" charset="0"/>
                <a:ea typeface="Calibri" pitchFamily="34" charset="-122"/>
                <a:cs typeface="Calibri" pitchFamily="34" charset="-120"/>
              </a:rPr>
              <a:t>Consistency</a:t>
            </a:r>
            <a:endParaRPr lang="en-US" sz="1250" dirty="0"/>
          </a:p>
        </p:txBody>
      </p:sp>
      <p:sp>
        <p:nvSpPr>
          <p:cNvPr id="33" name="Text 26"/>
          <p:cNvSpPr/>
          <p:nvPr/>
        </p:nvSpPr>
        <p:spPr>
          <a:xfrm>
            <a:off x="9745675" y="2852928"/>
            <a:ext cx="1848917" cy="502920"/>
          </a:xfrm>
          <a:prstGeom prst="rect">
            <a:avLst/>
          </a:prstGeom>
          <a:noFill/>
          <a:ln/>
        </p:spPr>
        <p:txBody>
          <a:bodyPr wrap="square" lIns="0" tIns="0" rIns="0" bIns="0" rtlCol="0" anchor="t"/>
          <a:lstStyle/>
          <a:p>
            <a:pPr indent="0" marL="0">
              <a:buNone/>
            </a:pPr>
            <a:r>
              <a:rPr lang="en-US" sz="970" dirty="0">
                <a:solidFill>
                  <a:srgbClr val="5B6B84"/>
                </a:solidFill>
                <a:latin typeface="Calibri" pitchFamily="34" charset="0"/>
                <a:ea typeface="Calibri" pitchFamily="34" charset="-122"/>
                <a:cs typeface="Calibri" pitchFamily="34" charset="-120"/>
              </a:rPr>
              <a:t>Do repeated runs behave similarly?</a:t>
            </a:r>
            <a:endParaRPr lang="en-US" sz="970" dirty="0"/>
          </a:p>
        </p:txBody>
      </p:sp>
      <p:sp>
        <p:nvSpPr>
          <p:cNvPr id="34" name="Text 27"/>
          <p:cNvSpPr/>
          <p:nvPr/>
        </p:nvSpPr>
        <p:spPr>
          <a:xfrm>
            <a:off x="9745675" y="3392424"/>
            <a:ext cx="1848917" cy="256032"/>
          </a:xfrm>
          <a:prstGeom prst="rect">
            <a:avLst/>
          </a:prstGeom>
          <a:noFill/>
          <a:ln/>
        </p:spPr>
        <p:txBody>
          <a:bodyPr wrap="square" lIns="0" tIns="0" rIns="0" bIns="0" rtlCol="0" anchor="ctr"/>
          <a:lstStyle/>
          <a:p>
            <a:pPr indent="0" marL="0">
              <a:buNone/>
            </a:pPr>
            <a:r>
              <a:rPr lang="en-US" sz="800" b="1" spc="50" kern="0" dirty="0">
                <a:solidFill>
                  <a:srgbClr val="0F8B8D"/>
                </a:solidFill>
                <a:latin typeface="Calibri" pitchFamily="34" charset="0"/>
                <a:ea typeface="Calibri" pitchFamily="34" charset="-122"/>
                <a:cs typeface="Calibri" pitchFamily="34" charset="-120"/>
              </a:rPr>
              <a:t>RUN 3–5 TIMES</a:t>
            </a:r>
            <a:endParaRPr lang="en-US" sz="800" dirty="0"/>
          </a:p>
        </p:txBody>
      </p:sp>
      <p:sp>
        <p:nvSpPr>
          <p:cNvPr id="35" name="Shape 28"/>
          <p:cNvSpPr/>
          <p:nvPr/>
        </p:nvSpPr>
        <p:spPr>
          <a:xfrm>
            <a:off x="457200" y="3867912"/>
            <a:ext cx="2123237" cy="1874520"/>
          </a:xfrm>
          <a:prstGeom prst="roundRect">
            <a:avLst>
              <a:gd name="adj" fmla="val 3415"/>
            </a:avLst>
          </a:prstGeom>
          <a:solidFill>
            <a:srgbClr val="FFFFFF"/>
          </a:solidFill>
          <a:ln w="12700">
            <a:solidFill>
              <a:srgbClr val="E2E8F0"/>
            </a:solidFill>
            <a:prstDash val="solid"/>
          </a:ln>
        </p:spPr>
      </p:sp>
      <p:sp>
        <p:nvSpPr>
          <p:cNvPr id="36" name="Shape 29"/>
          <p:cNvSpPr/>
          <p:nvPr/>
        </p:nvSpPr>
        <p:spPr>
          <a:xfrm>
            <a:off x="621792" y="4032504"/>
            <a:ext cx="384048" cy="384048"/>
          </a:xfrm>
          <a:prstGeom prst="ellipse">
            <a:avLst/>
          </a:prstGeom>
          <a:solidFill>
            <a:srgbClr val="0F8B8D"/>
          </a:solidFill>
          <a:ln/>
        </p:spPr>
      </p:sp>
      <p:pic>
        <p:nvPicPr>
          <p:cNvPr id="37" name="Image 5" descr="/home/claude/deck/icons/layout.png">    </p:cNvPr>
          <p:cNvPicPr>
            <a:picLocks noChangeAspect="1"/>
          </p:cNvPicPr>
          <p:nvPr/>
        </p:nvPicPr>
        <p:blipFill>
          <a:blip r:embed="rId6"/>
          <a:stretch>
            <a:fillRect/>
          </a:stretch>
        </p:blipFill>
        <p:spPr>
          <a:xfrm>
            <a:off x="713964" y="4124676"/>
            <a:ext cx="199705" cy="199705"/>
          </a:xfrm>
          <a:prstGeom prst="rect">
            <a:avLst/>
          </a:prstGeom>
        </p:spPr>
      </p:pic>
      <p:sp>
        <p:nvSpPr>
          <p:cNvPr id="38" name="Text 30"/>
          <p:cNvSpPr/>
          <p:nvPr/>
        </p:nvSpPr>
        <p:spPr>
          <a:xfrm>
            <a:off x="594360" y="4489704"/>
            <a:ext cx="1848917" cy="457200"/>
          </a:xfrm>
          <a:prstGeom prst="rect">
            <a:avLst/>
          </a:prstGeom>
          <a:noFill/>
          <a:ln/>
        </p:spPr>
        <p:txBody>
          <a:bodyPr wrap="square" lIns="0" tIns="0" rIns="0" bIns="0" rtlCol="0" anchor="t"/>
          <a:lstStyle/>
          <a:p>
            <a:pPr indent="0" marL="0">
              <a:buNone/>
            </a:pPr>
            <a:r>
              <a:rPr lang="en-US" sz="1250" b="1" dirty="0">
                <a:solidFill>
                  <a:srgbClr val="12233F"/>
                </a:solidFill>
                <a:latin typeface="Calibri" pitchFamily="34" charset="0"/>
                <a:ea typeface="Calibri" pitchFamily="34" charset="-122"/>
                <a:cs typeface="Calibri" pitchFamily="34" charset="-120"/>
              </a:rPr>
              <a:t>Format compliance</a:t>
            </a:r>
            <a:endParaRPr lang="en-US" sz="1250" dirty="0"/>
          </a:p>
        </p:txBody>
      </p:sp>
      <p:sp>
        <p:nvSpPr>
          <p:cNvPr id="39" name="Text 31"/>
          <p:cNvSpPr/>
          <p:nvPr/>
        </p:nvSpPr>
        <p:spPr>
          <a:xfrm>
            <a:off x="594360" y="4892040"/>
            <a:ext cx="1848917" cy="502920"/>
          </a:xfrm>
          <a:prstGeom prst="rect">
            <a:avLst/>
          </a:prstGeom>
          <a:noFill/>
          <a:ln/>
        </p:spPr>
        <p:txBody>
          <a:bodyPr wrap="square" lIns="0" tIns="0" rIns="0" bIns="0" rtlCol="0" anchor="t"/>
          <a:lstStyle/>
          <a:p>
            <a:pPr indent="0" marL="0">
              <a:buNone/>
            </a:pPr>
            <a:r>
              <a:rPr lang="en-US" sz="970" dirty="0">
                <a:solidFill>
                  <a:srgbClr val="5B6B84"/>
                </a:solidFill>
                <a:latin typeface="Calibri" pitchFamily="34" charset="0"/>
                <a:ea typeface="Calibri" pitchFamily="34" charset="-122"/>
                <a:cs typeface="Calibri" pitchFamily="34" charset="-120"/>
              </a:rPr>
              <a:t>Does it follow the required structure?</a:t>
            </a:r>
            <a:endParaRPr lang="en-US" sz="970" dirty="0"/>
          </a:p>
        </p:txBody>
      </p:sp>
      <p:sp>
        <p:nvSpPr>
          <p:cNvPr id="40" name="Text 32"/>
          <p:cNvSpPr/>
          <p:nvPr/>
        </p:nvSpPr>
        <p:spPr>
          <a:xfrm>
            <a:off x="594360" y="5431536"/>
            <a:ext cx="1848917" cy="256032"/>
          </a:xfrm>
          <a:prstGeom prst="rect">
            <a:avLst/>
          </a:prstGeom>
          <a:noFill/>
          <a:ln/>
        </p:spPr>
        <p:txBody>
          <a:bodyPr wrap="square" lIns="0" tIns="0" rIns="0" bIns="0" rtlCol="0" anchor="ctr"/>
          <a:lstStyle/>
          <a:p>
            <a:pPr indent="0" marL="0">
              <a:buNone/>
            </a:pPr>
            <a:r>
              <a:rPr lang="en-US" sz="800" b="1" spc="50" kern="0" dirty="0">
                <a:solidFill>
                  <a:srgbClr val="0F8B8D"/>
                </a:solidFill>
                <a:latin typeface="Calibri" pitchFamily="34" charset="0"/>
                <a:ea typeface="Calibri" pitchFamily="34" charset="-122"/>
                <a:cs typeface="Calibri" pitchFamily="34" charset="-120"/>
              </a:rPr>
              <a:t>SCHEMA / TABLE CHECK</a:t>
            </a:r>
            <a:endParaRPr lang="en-US" sz="800" dirty="0"/>
          </a:p>
        </p:txBody>
      </p:sp>
      <p:sp>
        <p:nvSpPr>
          <p:cNvPr id="41" name="Shape 33"/>
          <p:cNvSpPr/>
          <p:nvPr/>
        </p:nvSpPr>
        <p:spPr>
          <a:xfrm>
            <a:off x="2745029" y="3867912"/>
            <a:ext cx="2123237" cy="1874520"/>
          </a:xfrm>
          <a:prstGeom prst="roundRect">
            <a:avLst>
              <a:gd name="adj" fmla="val 3415"/>
            </a:avLst>
          </a:prstGeom>
          <a:solidFill>
            <a:srgbClr val="FFFFFF"/>
          </a:solidFill>
          <a:ln w="12700">
            <a:solidFill>
              <a:srgbClr val="E2E8F0"/>
            </a:solidFill>
            <a:prstDash val="solid"/>
          </a:ln>
        </p:spPr>
      </p:sp>
      <p:sp>
        <p:nvSpPr>
          <p:cNvPr id="42" name="Shape 34"/>
          <p:cNvSpPr/>
          <p:nvPr/>
        </p:nvSpPr>
        <p:spPr>
          <a:xfrm>
            <a:off x="2909621" y="4032504"/>
            <a:ext cx="384048" cy="384048"/>
          </a:xfrm>
          <a:prstGeom prst="ellipse">
            <a:avLst/>
          </a:prstGeom>
          <a:solidFill>
            <a:srgbClr val="0F8B8D"/>
          </a:solidFill>
          <a:ln/>
        </p:spPr>
      </p:sp>
      <p:pic>
        <p:nvPicPr>
          <p:cNvPr id="43" name="Image 6" descr="/home/claude/deck/icons/minimize.png">    </p:cNvPr>
          <p:cNvPicPr>
            <a:picLocks noChangeAspect="1"/>
          </p:cNvPicPr>
          <p:nvPr/>
        </p:nvPicPr>
        <p:blipFill>
          <a:blip r:embed="rId7"/>
          <a:stretch>
            <a:fillRect/>
          </a:stretch>
        </p:blipFill>
        <p:spPr>
          <a:xfrm>
            <a:off x="3001792" y="4124676"/>
            <a:ext cx="199705" cy="199705"/>
          </a:xfrm>
          <a:prstGeom prst="rect">
            <a:avLst/>
          </a:prstGeom>
        </p:spPr>
      </p:pic>
      <p:sp>
        <p:nvSpPr>
          <p:cNvPr id="44" name="Text 35"/>
          <p:cNvSpPr/>
          <p:nvPr/>
        </p:nvSpPr>
        <p:spPr>
          <a:xfrm>
            <a:off x="2882189" y="4489704"/>
            <a:ext cx="1848917" cy="457200"/>
          </a:xfrm>
          <a:prstGeom prst="rect">
            <a:avLst/>
          </a:prstGeom>
          <a:noFill/>
          <a:ln/>
        </p:spPr>
        <p:txBody>
          <a:bodyPr wrap="square" lIns="0" tIns="0" rIns="0" bIns="0" rtlCol="0" anchor="t"/>
          <a:lstStyle/>
          <a:p>
            <a:pPr indent="0" marL="0">
              <a:buNone/>
            </a:pPr>
            <a:r>
              <a:rPr lang="en-US" sz="1250" b="1" dirty="0">
                <a:solidFill>
                  <a:srgbClr val="12233F"/>
                </a:solidFill>
                <a:latin typeface="Calibri" pitchFamily="34" charset="0"/>
                <a:ea typeface="Calibri" pitchFamily="34" charset="-122"/>
                <a:cs typeface="Calibri" pitchFamily="34" charset="-120"/>
              </a:rPr>
              <a:t>Conciseness</a:t>
            </a:r>
            <a:endParaRPr lang="en-US" sz="1250" dirty="0"/>
          </a:p>
        </p:txBody>
      </p:sp>
      <p:sp>
        <p:nvSpPr>
          <p:cNvPr id="45" name="Text 36"/>
          <p:cNvSpPr/>
          <p:nvPr/>
        </p:nvSpPr>
        <p:spPr>
          <a:xfrm>
            <a:off x="2882189" y="4892040"/>
            <a:ext cx="1848917" cy="502920"/>
          </a:xfrm>
          <a:prstGeom prst="rect">
            <a:avLst/>
          </a:prstGeom>
          <a:noFill/>
          <a:ln/>
        </p:spPr>
        <p:txBody>
          <a:bodyPr wrap="square" lIns="0" tIns="0" rIns="0" bIns="0" rtlCol="0" anchor="t"/>
          <a:lstStyle/>
          <a:p>
            <a:pPr indent="0" marL="0">
              <a:buNone/>
            </a:pPr>
            <a:r>
              <a:rPr lang="en-US" sz="970" dirty="0">
                <a:solidFill>
                  <a:srgbClr val="5B6B84"/>
                </a:solidFill>
                <a:latin typeface="Calibri" pitchFamily="34" charset="0"/>
                <a:ea typeface="Calibri" pitchFamily="34" charset="-122"/>
                <a:cs typeface="Calibri" pitchFamily="34" charset="-120"/>
              </a:rPr>
              <a:t>Is unnecessary text avoided?</a:t>
            </a:r>
            <a:endParaRPr lang="en-US" sz="970" dirty="0"/>
          </a:p>
        </p:txBody>
      </p:sp>
      <p:sp>
        <p:nvSpPr>
          <p:cNvPr id="46" name="Text 37"/>
          <p:cNvSpPr/>
          <p:nvPr/>
        </p:nvSpPr>
        <p:spPr>
          <a:xfrm>
            <a:off x="2882189" y="5431536"/>
            <a:ext cx="1848917" cy="256032"/>
          </a:xfrm>
          <a:prstGeom prst="rect">
            <a:avLst/>
          </a:prstGeom>
          <a:noFill/>
          <a:ln/>
        </p:spPr>
        <p:txBody>
          <a:bodyPr wrap="square" lIns="0" tIns="0" rIns="0" bIns="0" rtlCol="0" anchor="ctr"/>
          <a:lstStyle/>
          <a:p>
            <a:pPr indent="0" marL="0">
              <a:buNone/>
            </a:pPr>
            <a:r>
              <a:rPr lang="en-US" sz="800" b="1" spc="50" kern="0" dirty="0">
                <a:solidFill>
                  <a:srgbClr val="0F8B8D"/>
                </a:solidFill>
                <a:latin typeface="Calibri" pitchFamily="34" charset="0"/>
                <a:ea typeface="Calibri" pitchFamily="34" charset="-122"/>
                <a:cs typeface="Calibri" pitchFamily="34" charset="-120"/>
              </a:rPr>
              <a:t>WORD LIMIT + REDUNDANCY</a:t>
            </a:r>
            <a:endParaRPr lang="en-US" sz="800" dirty="0"/>
          </a:p>
        </p:txBody>
      </p:sp>
      <p:sp>
        <p:nvSpPr>
          <p:cNvPr id="47" name="Shape 38"/>
          <p:cNvSpPr/>
          <p:nvPr/>
        </p:nvSpPr>
        <p:spPr>
          <a:xfrm>
            <a:off x="5032858" y="3867912"/>
            <a:ext cx="2123237" cy="1874520"/>
          </a:xfrm>
          <a:prstGeom prst="roundRect">
            <a:avLst>
              <a:gd name="adj" fmla="val 3415"/>
            </a:avLst>
          </a:prstGeom>
          <a:solidFill>
            <a:srgbClr val="FFFFFF"/>
          </a:solidFill>
          <a:ln w="12700">
            <a:solidFill>
              <a:srgbClr val="E2E8F0"/>
            </a:solidFill>
            <a:prstDash val="solid"/>
          </a:ln>
        </p:spPr>
      </p:sp>
      <p:sp>
        <p:nvSpPr>
          <p:cNvPr id="48" name="Shape 39"/>
          <p:cNvSpPr/>
          <p:nvPr/>
        </p:nvSpPr>
        <p:spPr>
          <a:xfrm>
            <a:off x="5197450" y="4032504"/>
            <a:ext cx="384048" cy="384048"/>
          </a:xfrm>
          <a:prstGeom prst="ellipse">
            <a:avLst/>
          </a:prstGeom>
          <a:solidFill>
            <a:srgbClr val="0F8B8D"/>
          </a:solidFill>
          <a:ln/>
        </p:spPr>
      </p:sp>
      <p:pic>
        <p:nvPicPr>
          <p:cNvPr id="49" name="Image 7" descr="/home/claude/deck/icons/message.png">    </p:cNvPr>
          <p:cNvPicPr>
            <a:picLocks noChangeAspect="1"/>
          </p:cNvPicPr>
          <p:nvPr/>
        </p:nvPicPr>
        <p:blipFill>
          <a:blip r:embed="rId8"/>
          <a:stretch>
            <a:fillRect/>
          </a:stretch>
        </p:blipFill>
        <p:spPr>
          <a:xfrm>
            <a:off x="5289621" y="4124676"/>
            <a:ext cx="199705" cy="199705"/>
          </a:xfrm>
          <a:prstGeom prst="rect">
            <a:avLst/>
          </a:prstGeom>
        </p:spPr>
      </p:pic>
      <p:sp>
        <p:nvSpPr>
          <p:cNvPr id="50" name="Text 40"/>
          <p:cNvSpPr/>
          <p:nvPr/>
        </p:nvSpPr>
        <p:spPr>
          <a:xfrm>
            <a:off x="5170018" y="4489704"/>
            <a:ext cx="1848917" cy="457200"/>
          </a:xfrm>
          <a:prstGeom prst="rect">
            <a:avLst/>
          </a:prstGeom>
          <a:noFill/>
          <a:ln/>
        </p:spPr>
        <p:txBody>
          <a:bodyPr wrap="square" lIns="0" tIns="0" rIns="0" bIns="0" rtlCol="0" anchor="t"/>
          <a:lstStyle/>
          <a:p>
            <a:pPr indent="0" marL="0">
              <a:buNone/>
            </a:pPr>
            <a:r>
              <a:rPr lang="en-US" sz="1250" b="1" dirty="0">
                <a:solidFill>
                  <a:srgbClr val="12233F"/>
                </a:solidFill>
                <a:latin typeface="Calibri" pitchFamily="34" charset="0"/>
                <a:ea typeface="Calibri" pitchFamily="34" charset="-122"/>
                <a:cs typeface="Calibri" pitchFamily="34" charset="-120"/>
              </a:rPr>
              <a:t>Tone compliance</a:t>
            </a:r>
            <a:endParaRPr lang="en-US" sz="1250" dirty="0"/>
          </a:p>
        </p:txBody>
      </p:sp>
      <p:sp>
        <p:nvSpPr>
          <p:cNvPr id="51" name="Text 41"/>
          <p:cNvSpPr/>
          <p:nvPr/>
        </p:nvSpPr>
        <p:spPr>
          <a:xfrm>
            <a:off x="5170018" y="4892040"/>
            <a:ext cx="1848917" cy="502920"/>
          </a:xfrm>
          <a:prstGeom prst="rect">
            <a:avLst/>
          </a:prstGeom>
          <a:noFill/>
          <a:ln/>
        </p:spPr>
        <p:txBody>
          <a:bodyPr wrap="square" lIns="0" tIns="0" rIns="0" bIns="0" rtlCol="0" anchor="t"/>
          <a:lstStyle/>
          <a:p>
            <a:pPr indent="0" marL="0">
              <a:buNone/>
            </a:pPr>
            <a:r>
              <a:rPr lang="en-US" sz="970" dirty="0">
                <a:solidFill>
                  <a:srgbClr val="5B6B84"/>
                </a:solidFill>
                <a:latin typeface="Calibri" pitchFamily="34" charset="0"/>
                <a:ea typeface="Calibri" pitchFamily="34" charset="-122"/>
                <a:cs typeface="Calibri" pitchFamily="34" charset="-120"/>
              </a:rPr>
              <a:t>Is the requested tone maintained?</a:t>
            </a:r>
            <a:endParaRPr lang="en-US" sz="970" dirty="0"/>
          </a:p>
        </p:txBody>
      </p:sp>
      <p:sp>
        <p:nvSpPr>
          <p:cNvPr id="52" name="Text 42"/>
          <p:cNvSpPr/>
          <p:nvPr/>
        </p:nvSpPr>
        <p:spPr>
          <a:xfrm>
            <a:off x="5170018" y="5431536"/>
            <a:ext cx="1848917" cy="256032"/>
          </a:xfrm>
          <a:prstGeom prst="rect">
            <a:avLst/>
          </a:prstGeom>
          <a:noFill/>
          <a:ln/>
        </p:spPr>
        <p:txBody>
          <a:bodyPr wrap="square" lIns="0" tIns="0" rIns="0" bIns="0" rtlCol="0" anchor="ctr"/>
          <a:lstStyle/>
          <a:p>
            <a:pPr indent="0" marL="0">
              <a:buNone/>
            </a:pPr>
            <a:r>
              <a:rPr lang="en-US" sz="800" b="1" spc="50" kern="0" dirty="0">
                <a:solidFill>
                  <a:srgbClr val="0F8B8D"/>
                </a:solidFill>
                <a:latin typeface="Calibri" pitchFamily="34" charset="0"/>
                <a:ea typeface="Calibri" pitchFamily="34" charset="-122"/>
                <a:cs typeface="Calibri" pitchFamily="34" charset="-120"/>
              </a:rPr>
              <a:t>TONE RUBRIC</a:t>
            </a:r>
            <a:endParaRPr lang="en-US" sz="800" dirty="0"/>
          </a:p>
        </p:txBody>
      </p:sp>
      <p:sp>
        <p:nvSpPr>
          <p:cNvPr id="53" name="Shape 43"/>
          <p:cNvSpPr/>
          <p:nvPr/>
        </p:nvSpPr>
        <p:spPr>
          <a:xfrm>
            <a:off x="7320686" y="3867912"/>
            <a:ext cx="2123237" cy="1874520"/>
          </a:xfrm>
          <a:prstGeom prst="roundRect">
            <a:avLst>
              <a:gd name="adj" fmla="val 3415"/>
            </a:avLst>
          </a:prstGeom>
          <a:solidFill>
            <a:srgbClr val="FFFFFF"/>
          </a:solidFill>
          <a:ln w="12700">
            <a:solidFill>
              <a:srgbClr val="E2E8F0"/>
            </a:solidFill>
            <a:prstDash val="solid"/>
          </a:ln>
        </p:spPr>
      </p:sp>
      <p:sp>
        <p:nvSpPr>
          <p:cNvPr id="54" name="Shape 44"/>
          <p:cNvSpPr/>
          <p:nvPr/>
        </p:nvSpPr>
        <p:spPr>
          <a:xfrm>
            <a:off x="7485278" y="4032504"/>
            <a:ext cx="384048" cy="384048"/>
          </a:xfrm>
          <a:prstGeom prst="ellipse">
            <a:avLst/>
          </a:prstGeom>
          <a:solidFill>
            <a:srgbClr val="0F8B8D"/>
          </a:solidFill>
          <a:ln/>
        </p:spPr>
      </p:sp>
      <p:pic>
        <p:nvPicPr>
          <p:cNvPr id="55" name="Image 8" descr="/home/claude/deck/icons/shield.png">    </p:cNvPr>
          <p:cNvPicPr>
            <a:picLocks noChangeAspect="1"/>
          </p:cNvPicPr>
          <p:nvPr/>
        </p:nvPicPr>
        <p:blipFill>
          <a:blip r:embed="rId9"/>
          <a:stretch>
            <a:fillRect/>
          </a:stretch>
        </p:blipFill>
        <p:spPr>
          <a:xfrm>
            <a:off x="7577450" y="4124676"/>
            <a:ext cx="199705" cy="199705"/>
          </a:xfrm>
          <a:prstGeom prst="rect">
            <a:avLst/>
          </a:prstGeom>
        </p:spPr>
      </p:pic>
      <p:sp>
        <p:nvSpPr>
          <p:cNvPr id="56" name="Text 45"/>
          <p:cNvSpPr/>
          <p:nvPr/>
        </p:nvSpPr>
        <p:spPr>
          <a:xfrm>
            <a:off x="7457846" y="4489704"/>
            <a:ext cx="1848917" cy="457200"/>
          </a:xfrm>
          <a:prstGeom prst="rect">
            <a:avLst/>
          </a:prstGeom>
          <a:noFill/>
          <a:ln/>
        </p:spPr>
        <p:txBody>
          <a:bodyPr wrap="square" lIns="0" tIns="0" rIns="0" bIns="0" rtlCol="0" anchor="t"/>
          <a:lstStyle/>
          <a:p>
            <a:pPr indent="0" marL="0">
              <a:buNone/>
            </a:pPr>
            <a:r>
              <a:rPr lang="en-US" sz="1250" b="1" dirty="0">
                <a:solidFill>
                  <a:srgbClr val="12233F"/>
                </a:solidFill>
                <a:latin typeface="Calibri" pitchFamily="34" charset="0"/>
                <a:ea typeface="Calibri" pitchFamily="34" charset="-122"/>
                <a:cs typeface="Calibri" pitchFamily="34" charset="-120"/>
              </a:rPr>
              <a:t>Safety</a:t>
            </a:r>
            <a:endParaRPr lang="en-US" sz="1250" dirty="0"/>
          </a:p>
        </p:txBody>
      </p:sp>
      <p:sp>
        <p:nvSpPr>
          <p:cNvPr id="57" name="Text 46"/>
          <p:cNvSpPr/>
          <p:nvPr/>
        </p:nvSpPr>
        <p:spPr>
          <a:xfrm>
            <a:off x="7457846" y="4892040"/>
            <a:ext cx="1848917" cy="502920"/>
          </a:xfrm>
          <a:prstGeom prst="rect">
            <a:avLst/>
          </a:prstGeom>
          <a:noFill/>
          <a:ln/>
        </p:spPr>
        <p:txBody>
          <a:bodyPr wrap="square" lIns="0" tIns="0" rIns="0" bIns="0" rtlCol="0" anchor="t"/>
          <a:lstStyle/>
          <a:p>
            <a:pPr indent="0" marL="0">
              <a:buNone/>
            </a:pPr>
            <a:r>
              <a:rPr lang="en-US" sz="970" dirty="0">
                <a:solidFill>
                  <a:srgbClr val="5B6B84"/>
                </a:solidFill>
                <a:latin typeface="Calibri" pitchFamily="34" charset="0"/>
                <a:ea typeface="Calibri" pitchFamily="34" charset="-122"/>
                <a:cs typeface="Calibri" pitchFamily="34" charset="-120"/>
              </a:rPr>
              <a:t>Does it avoid risky content?</a:t>
            </a:r>
            <a:endParaRPr lang="en-US" sz="970" dirty="0"/>
          </a:p>
        </p:txBody>
      </p:sp>
      <p:sp>
        <p:nvSpPr>
          <p:cNvPr id="58" name="Text 47"/>
          <p:cNvSpPr/>
          <p:nvPr/>
        </p:nvSpPr>
        <p:spPr>
          <a:xfrm>
            <a:off x="7457846" y="5431536"/>
            <a:ext cx="1848917" cy="256032"/>
          </a:xfrm>
          <a:prstGeom prst="rect">
            <a:avLst/>
          </a:prstGeom>
          <a:noFill/>
          <a:ln/>
        </p:spPr>
        <p:txBody>
          <a:bodyPr wrap="square" lIns="0" tIns="0" rIns="0" bIns="0" rtlCol="0" anchor="ctr"/>
          <a:lstStyle/>
          <a:p>
            <a:pPr indent="0" marL="0">
              <a:buNone/>
            </a:pPr>
            <a:r>
              <a:rPr lang="en-US" sz="800" b="1" spc="50" kern="0" dirty="0">
                <a:solidFill>
                  <a:srgbClr val="0F8B8D"/>
                </a:solidFill>
                <a:latin typeface="Calibri" pitchFamily="34" charset="0"/>
                <a:ea typeface="Calibri" pitchFamily="34" charset="-122"/>
                <a:cs typeface="Calibri" pitchFamily="34" charset="-120"/>
              </a:rPr>
              <a:t>POLICY / PROMISE SCAN</a:t>
            </a:r>
            <a:endParaRPr lang="en-US" sz="800" dirty="0"/>
          </a:p>
        </p:txBody>
      </p:sp>
      <p:sp>
        <p:nvSpPr>
          <p:cNvPr id="59" name="Shape 48"/>
          <p:cNvSpPr/>
          <p:nvPr/>
        </p:nvSpPr>
        <p:spPr>
          <a:xfrm>
            <a:off x="9608515" y="3867912"/>
            <a:ext cx="2123237" cy="1874520"/>
          </a:xfrm>
          <a:prstGeom prst="roundRect">
            <a:avLst>
              <a:gd name="adj" fmla="val 3415"/>
            </a:avLst>
          </a:prstGeom>
          <a:solidFill>
            <a:srgbClr val="FFFFFF"/>
          </a:solidFill>
          <a:ln w="12700">
            <a:solidFill>
              <a:srgbClr val="E2E8F0"/>
            </a:solidFill>
            <a:prstDash val="solid"/>
          </a:ln>
        </p:spPr>
      </p:sp>
      <p:sp>
        <p:nvSpPr>
          <p:cNvPr id="60" name="Shape 49"/>
          <p:cNvSpPr/>
          <p:nvPr/>
        </p:nvSpPr>
        <p:spPr>
          <a:xfrm>
            <a:off x="9773107" y="4032504"/>
            <a:ext cx="384048" cy="384048"/>
          </a:xfrm>
          <a:prstGeom prst="ellipse">
            <a:avLst/>
          </a:prstGeom>
          <a:solidFill>
            <a:srgbClr val="0F8B8D"/>
          </a:solidFill>
          <a:ln/>
        </p:spPr>
      </p:sp>
      <p:pic>
        <p:nvPicPr>
          <p:cNvPr id="61" name="Image 9" descr="/home/claude/deck/icons/alerttriangle.png">    </p:cNvPr>
          <p:cNvPicPr>
            <a:picLocks noChangeAspect="1"/>
          </p:cNvPicPr>
          <p:nvPr/>
        </p:nvPicPr>
        <p:blipFill>
          <a:blip r:embed="rId10"/>
          <a:stretch>
            <a:fillRect/>
          </a:stretch>
        </p:blipFill>
        <p:spPr>
          <a:xfrm>
            <a:off x="9865279" y="4124676"/>
            <a:ext cx="199705" cy="199705"/>
          </a:xfrm>
          <a:prstGeom prst="rect">
            <a:avLst/>
          </a:prstGeom>
        </p:spPr>
      </p:pic>
      <p:sp>
        <p:nvSpPr>
          <p:cNvPr id="62" name="Text 50"/>
          <p:cNvSpPr/>
          <p:nvPr/>
        </p:nvSpPr>
        <p:spPr>
          <a:xfrm>
            <a:off x="9745675" y="4489704"/>
            <a:ext cx="1848917" cy="457200"/>
          </a:xfrm>
          <a:prstGeom prst="rect">
            <a:avLst/>
          </a:prstGeom>
          <a:noFill/>
          <a:ln/>
        </p:spPr>
        <p:txBody>
          <a:bodyPr wrap="square" lIns="0" tIns="0" rIns="0" bIns="0" rtlCol="0" anchor="t"/>
          <a:lstStyle/>
          <a:p>
            <a:pPr indent="0" marL="0">
              <a:buNone/>
            </a:pPr>
            <a:r>
              <a:rPr lang="en-US" sz="1250" b="1" dirty="0">
                <a:solidFill>
                  <a:srgbClr val="12233F"/>
                </a:solidFill>
                <a:latin typeface="Calibri" pitchFamily="34" charset="0"/>
                <a:ea typeface="Calibri" pitchFamily="34" charset="-122"/>
                <a:cs typeface="Calibri" pitchFamily="34" charset="-120"/>
              </a:rPr>
              <a:t>Hallucination rate</a:t>
            </a:r>
            <a:endParaRPr lang="en-US" sz="1250" dirty="0"/>
          </a:p>
        </p:txBody>
      </p:sp>
      <p:sp>
        <p:nvSpPr>
          <p:cNvPr id="63" name="Text 51"/>
          <p:cNvSpPr/>
          <p:nvPr/>
        </p:nvSpPr>
        <p:spPr>
          <a:xfrm>
            <a:off x="9745675" y="4892040"/>
            <a:ext cx="1848917" cy="502920"/>
          </a:xfrm>
          <a:prstGeom prst="rect">
            <a:avLst/>
          </a:prstGeom>
          <a:noFill/>
          <a:ln/>
        </p:spPr>
        <p:txBody>
          <a:bodyPr wrap="square" lIns="0" tIns="0" rIns="0" bIns="0" rtlCol="0" anchor="t"/>
          <a:lstStyle/>
          <a:p>
            <a:pPr indent="0" marL="0">
              <a:buNone/>
            </a:pPr>
            <a:r>
              <a:rPr lang="en-US" sz="970" dirty="0">
                <a:solidFill>
                  <a:srgbClr val="5B6B84"/>
                </a:solidFill>
                <a:latin typeface="Calibri" pitchFamily="34" charset="0"/>
                <a:ea typeface="Calibri" pitchFamily="34" charset="-122"/>
                <a:cs typeface="Calibri" pitchFamily="34" charset="-120"/>
              </a:rPr>
              <a:t>How much is unsupported?</a:t>
            </a:r>
            <a:endParaRPr lang="en-US" sz="970" dirty="0"/>
          </a:p>
        </p:txBody>
      </p:sp>
      <p:sp>
        <p:nvSpPr>
          <p:cNvPr id="64" name="Text 52"/>
          <p:cNvSpPr/>
          <p:nvPr/>
        </p:nvSpPr>
        <p:spPr>
          <a:xfrm>
            <a:off x="9745675" y="5431536"/>
            <a:ext cx="1848917" cy="256032"/>
          </a:xfrm>
          <a:prstGeom prst="rect">
            <a:avLst/>
          </a:prstGeom>
          <a:noFill/>
          <a:ln/>
        </p:spPr>
        <p:txBody>
          <a:bodyPr wrap="square" lIns="0" tIns="0" rIns="0" bIns="0" rtlCol="0" anchor="ctr"/>
          <a:lstStyle/>
          <a:p>
            <a:pPr indent="0" marL="0">
              <a:buNone/>
            </a:pPr>
            <a:r>
              <a:rPr lang="en-US" sz="800" b="1" spc="50" kern="0" dirty="0">
                <a:solidFill>
                  <a:srgbClr val="0F8B8D"/>
                </a:solidFill>
                <a:latin typeface="Calibri" pitchFamily="34" charset="0"/>
                <a:ea typeface="Calibri" pitchFamily="34" charset="-122"/>
                <a:cs typeface="Calibri" pitchFamily="34" charset="-120"/>
              </a:rPr>
              <a:t>UNSUPPORTED / TOTAL CLAIMS</a:t>
            </a:r>
            <a:endParaRPr lang="en-US" sz="800" dirty="0"/>
          </a:p>
        </p:txBody>
      </p:sp>
      <p:sp>
        <p:nvSpPr>
          <p:cNvPr id="65" name="Text 53"/>
          <p:cNvSpPr/>
          <p:nvPr/>
        </p:nvSpPr>
        <p:spPr>
          <a:xfrm>
            <a:off x="457200" y="6547104"/>
            <a:ext cx="8229600" cy="274320"/>
          </a:xfrm>
          <a:prstGeom prst="rect">
            <a:avLst/>
          </a:prstGeom>
          <a:noFill/>
          <a:ln/>
        </p:spPr>
        <p:txBody>
          <a:bodyPr wrap="square" lIns="0" tIns="0" rIns="0" bIns="0" rtlCol="0" anchor="ctr"/>
          <a:lstStyle/>
          <a:p>
            <a:pPr algn="l" indent="0" marL="0">
              <a:buNone/>
            </a:pPr>
            <a:r>
              <a:rPr lang="en-US" sz="850" dirty="0">
                <a:solidFill>
                  <a:srgbClr val="5B6B84"/>
                </a:solidFill>
                <a:latin typeface="Calibri" pitchFamily="34" charset="0"/>
                <a:ea typeface="Calibri" pitchFamily="34" charset="-122"/>
                <a:cs typeface="Calibri" pitchFamily="34" charset="-120"/>
              </a:rPr>
              <a:t>PROMPT EVALUATION FRAMEWORK  •  SYNCHRONY TRAINING SIMULATION</a:t>
            </a:r>
            <a:endParaRPr lang="en-US" sz="850" dirty="0"/>
          </a:p>
        </p:txBody>
      </p:sp>
      <p:sp>
        <p:nvSpPr>
          <p:cNvPr id="66" name="Text 54"/>
          <p:cNvSpPr/>
          <p:nvPr/>
        </p:nvSpPr>
        <p:spPr>
          <a:xfrm>
            <a:off x="11274552" y="6547104"/>
            <a:ext cx="457200" cy="274320"/>
          </a:xfrm>
          <a:prstGeom prst="rect">
            <a:avLst/>
          </a:prstGeom>
          <a:noFill/>
          <a:ln/>
        </p:spPr>
        <p:txBody>
          <a:bodyPr wrap="square" lIns="0" tIns="0" rIns="0" bIns="0" rtlCol="0" anchor="ctr"/>
          <a:lstStyle/>
          <a:p>
            <a:pPr algn="r" indent="0" marL="0">
              <a:buNone/>
            </a:pPr>
            <a:r>
              <a:rPr lang="en-US" sz="850" dirty="0">
                <a:solidFill>
                  <a:srgbClr val="5B6B84"/>
                </a:solidFill>
                <a:latin typeface="Calibri" pitchFamily="34" charset="0"/>
                <a:ea typeface="Calibri" pitchFamily="34" charset="-122"/>
                <a:cs typeface="Calibri"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457200" y="347472"/>
            <a:ext cx="10058400" cy="274320"/>
          </a:xfrm>
          <a:prstGeom prst="rect">
            <a:avLst/>
          </a:prstGeom>
          <a:noFill/>
          <a:ln/>
        </p:spPr>
        <p:txBody>
          <a:bodyPr wrap="square" lIns="0" tIns="0" rIns="0" bIns="0" rtlCol="0" anchor="ctr"/>
          <a:lstStyle/>
          <a:p>
            <a:pPr indent="0" marL="0">
              <a:buNone/>
            </a:pPr>
            <a:r>
              <a:rPr lang="en-US" sz="1100" b="1" spc="150" kern="0" dirty="0">
                <a:solidFill>
                  <a:srgbClr val="0F8B8D"/>
                </a:solidFill>
                <a:latin typeface="Calibri" pitchFamily="34" charset="0"/>
                <a:ea typeface="Calibri" pitchFamily="34" charset="-122"/>
                <a:cs typeface="Calibri" pitchFamily="34" charset="-120"/>
              </a:rPr>
              <a:t>WORKED SCENARIO</a:t>
            </a:r>
            <a:endParaRPr lang="en-US" sz="1100" dirty="0"/>
          </a:p>
        </p:txBody>
      </p:sp>
      <p:sp>
        <p:nvSpPr>
          <p:cNvPr id="3" name="Text 1"/>
          <p:cNvSpPr/>
          <p:nvPr/>
        </p:nvSpPr>
        <p:spPr>
          <a:xfrm>
            <a:off x="457200" y="603504"/>
            <a:ext cx="11247120" cy="566928"/>
          </a:xfrm>
          <a:prstGeom prst="rect">
            <a:avLst/>
          </a:prstGeom>
          <a:noFill/>
          <a:ln/>
        </p:spPr>
        <p:txBody>
          <a:bodyPr wrap="square" lIns="0" tIns="0" rIns="0" bIns="0" rtlCol="0" anchor="ctr"/>
          <a:lstStyle/>
          <a:p>
            <a:pPr indent="0" marL="0">
              <a:buNone/>
            </a:pPr>
            <a:r>
              <a:rPr lang="en-US" sz="3000" b="1" dirty="0">
                <a:solidFill>
                  <a:srgbClr val="12233F"/>
                </a:solidFill>
                <a:latin typeface="Cambria" pitchFamily="34" charset="0"/>
                <a:ea typeface="Cambria" pitchFamily="34" charset="-122"/>
                <a:cs typeface="Cambria" pitchFamily="34" charset="-120"/>
              </a:rPr>
              <a:t>Running example: complaint response quality</a:t>
            </a:r>
            <a:endParaRPr lang="en-US" sz="3000" dirty="0"/>
          </a:p>
        </p:txBody>
      </p:sp>
      <p:sp>
        <p:nvSpPr>
          <p:cNvPr id="4" name="Text 2"/>
          <p:cNvSpPr/>
          <p:nvPr/>
        </p:nvSpPr>
        <p:spPr>
          <a:xfrm>
            <a:off x="457200" y="1170432"/>
            <a:ext cx="11247120" cy="365760"/>
          </a:xfrm>
          <a:prstGeom prst="rect">
            <a:avLst/>
          </a:prstGeom>
          <a:noFill/>
          <a:ln/>
        </p:spPr>
        <p:txBody>
          <a:bodyPr wrap="square" lIns="0" tIns="0" rIns="0" bIns="0" rtlCol="0" anchor="ctr"/>
          <a:lstStyle/>
          <a:p>
            <a:pPr indent="0" marL="0">
              <a:buNone/>
            </a:pPr>
            <a:r>
              <a:rPr lang="en-US" sz="1400" i="1" dirty="0">
                <a:solidFill>
                  <a:srgbClr val="5B6B84"/>
                </a:solidFill>
                <a:latin typeface="Calibri" pitchFamily="34" charset="0"/>
                <a:ea typeface="Calibri" pitchFamily="34" charset="-122"/>
                <a:cs typeface="Calibri" pitchFamily="34" charset="-120"/>
              </a:rPr>
              <a:t>The prompt must include input, candidate output, and measurable test criteria.</a:t>
            </a:r>
            <a:endParaRPr lang="en-US" sz="1400" dirty="0"/>
          </a:p>
        </p:txBody>
      </p:sp>
      <p:sp>
        <p:nvSpPr>
          <p:cNvPr id="5" name="Shape 3"/>
          <p:cNvSpPr/>
          <p:nvPr/>
        </p:nvSpPr>
        <p:spPr>
          <a:xfrm>
            <a:off x="457200" y="1828800"/>
            <a:ext cx="5349240" cy="3246120"/>
          </a:xfrm>
          <a:prstGeom prst="roundRect">
            <a:avLst>
              <a:gd name="adj" fmla="val 2254"/>
            </a:avLst>
          </a:prstGeom>
          <a:solidFill>
            <a:srgbClr val="FFFFFF"/>
          </a:solidFill>
          <a:ln w="12700">
            <a:solidFill>
              <a:srgbClr val="E2E8F0"/>
            </a:solidFill>
            <a:prstDash val="solid"/>
          </a:ln>
        </p:spPr>
      </p:sp>
      <p:sp>
        <p:nvSpPr>
          <p:cNvPr id="6" name="Shape 4"/>
          <p:cNvSpPr/>
          <p:nvPr/>
        </p:nvSpPr>
        <p:spPr>
          <a:xfrm>
            <a:off x="676656" y="2048256"/>
            <a:ext cx="402336" cy="402336"/>
          </a:xfrm>
          <a:prstGeom prst="ellipse">
            <a:avLst/>
          </a:prstGeom>
          <a:solidFill>
            <a:srgbClr val="12233F"/>
          </a:solidFill>
          <a:ln/>
        </p:spPr>
      </p:sp>
      <p:pic>
        <p:nvPicPr>
          <p:cNvPr id="7" name="Image 0" descr="/home/claude/deck/icons/clipboard.png">    </p:cNvPr>
          <p:cNvPicPr>
            <a:picLocks noChangeAspect="1"/>
          </p:cNvPicPr>
          <p:nvPr/>
        </p:nvPicPr>
        <p:blipFill>
          <a:blip r:embed="rId1"/>
          <a:stretch>
            <a:fillRect/>
          </a:stretch>
        </p:blipFill>
        <p:spPr>
          <a:xfrm>
            <a:off x="773217" y="2144817"/>
            <a:ext cx="209215" cy="209215"/>
          </a:xfrm>
          <a:prstGeom prst="rect">
            <a:avLst/>
          </a:prstGeom>
        </p:spPr>
      </p:pic>
      <p:sp>
        <p:nvSpPr>
          <p:cNvPr id="8" name="Text 5"/>
          <p:cNvSpPr/>
          <p:nvPr/>
        </p:nvSpPr>
        <p:spPr>
          <a:xfrm>
            <a:off x="1188720" y="2048256"/>
            <a:ext cx="3977640" cy="402336"/>
          </a:xfrm>
          <a:prstGeom prst="rect">
            <a:avLst/>
          </a:prstGeom>
          <a:noFill/>
          <a:ln/>
        </p:spPr>
        <p:txBody>
          <a:bodyPr wrap="square" lIns="0" tIns="0" rIns="0" bIns="0" rtlCol="0" anchor="ctr"/>
          <a:lstStyle/>
          <a:p>
            <a:pPr indent="0" marL="0">
              <a:buNone/>
            </a:pPr>
            <a:r>
              <a:rPr lang="en-US" sz="1450" b="1" dirty="0">
                <a:solidFill>
                  <a:srgbClr val="12233F"/>
                </a:solidFill>
                <a:latin typeface="Calibri" pitchFamily="34" charset="0"/>
                <a:ea typeface="Calibri" pitchFamily="34" charset="-122"/>
                <a:cs typeface="Calibri" pitchFamily="34" charset="-120"/>
              </a:rPr>
              <a:t>Input summary</a:t>
            </a:r>
            <a:endParaRPr lang="en-US" sz="1450" dirty="0"/>
          </a:p>
        </p:txBody>
      </p:sp>
      <p:sp>
        <p:nvSpPr>
          <p:cNvPr id="9" name="Text 6"/>
          <p:cNvSpPr/>
          <p:nvPr/>
        </p:nvSpPr>
        <p:spPr>
          <a:xfrm>
            <a:off x="676656" y="2606040"/>
            <a:ext cx="4892040" cy="265176"/>
          </a:xfrm>
          <a:prstGeom prst="rect">
            <a:avLst/>
          </a:prstGeom>
          <a:noFill/>
          <a:ln/>
        </p:spPr>
        <p:txBody>
          <a:bodyPr wrap="square" lIns="0" tIns="0" rIns="0" bIns="0" rtlCol="0" anchor="t"/>
          <a:lstStyle/>
          <a:p>
            <a:pPr indent="0" marL="0">
              <a:buNone/>
            </a:pPr>
            <a:r>
              <a:rPr lang="en-US" sz="1080" b="1" dirty="0">
                <a:solidFill>
                  <a:srgbClr val="12233F"/>
                </a:solidFill>
                <a:latin typeface="Calibri" pitchFamily="34" charset="0"/>
                <a:ea typeface="Calibri" pitchFamily="34" charset="-122"/>
                <a:cs typeface="Calibri" pitchFamily="34" charset="-120"/>
              </a:rPr>
              <a:t>Customer:  </a:t>
            </a:r>
            <a:pPr indent="0" marL="0">
              <a:buNone/>
            </a:pPr>
            <a:r>
              <a:rPr lang="en-US" sz="1080" dirty="0">
                <a:solidFill>
                  <a:srgbClr val="1B2A41"/>
                </a:solidFill>
                <a:latin typeface="Calibri" pitchFamily="34" charset="0"/>
                <a:ea typeface="Calibri" pitchFamily="34" charset="-122"/>
                <a:cs typeface="Calibri" pitchFamily="34" charset="-120"/>
              </a:rPr>
              <a:t>Daniel Morgan</a:t>
            </a:r>
            <a:endParaRPr lang="en-US" sz="1080" dirty="0"/>
          </a:p>
        </p:txBody>
      </p:sp>
      <p:sp>
        <p:nvSpPr>
          <p:cNvPr id="10" name="Text 7"/>
          <p:cNvSpPr/>
          <p:nvPr/>
        </p:nvSpPr>
        <p:spPr>
          <a:xfrm>
            <a:off x="676656" y="2878531"/>
            <a:ext cx="4892040" cy="265176"/>
          </a:xfrm>
          <a:prstGeom prst="rect">
            <a:avLst/>
          </a:prstGeom>
          <a:noFill/>
          <a:ln/>
        </p:spPr>
        <p:txBody>
          <a:bodyPr wrap="square" lIns="0" tIns="0" rIns="0" bIns="0" rtlCol="0" anchor="t"/>
          <a:lstStyle/>
          <a:p>
            <a:pPr indent="0" marL="0">
              <a:buNone/>
            </a:pPr>
            <a:r>
              <a:rPr lang="en-US" sz="1080" b="1" dirty="0">
                <a:solidFill>
                  <a:srgbClr val="12233F"/>
                </a:solidFill>
                <a:latin typeface="Calibri" pitchFamily="34" charset="0"/>
                <a:ea typeface="Calibri" pitchFamily="34" charset="-122"/>
                <a:cs typeface="Calibri" pitchFamily="34" charset="-120"/>
              </a:rPr>
              <a:t>Issue:  </a:t>
            </a:r>
            <a:pPr indent="0" marL="0">
              <a:buNone/>
            </a:pPr>
            <a:r>
              <a:rPr lang="en-US" sz="1080" dirty="0">
                <a:solidFill>
                  <a:srgbClr val="1B2A41"/>
                </a:solidFill>
                <a:latin typeface="Calibri" pitchFamily="34" charset="0"/>
                <a:ea typeface="Calibri" pitchFamily="34" charset="-122"/>
                <a:cs typeface="Calibri" pitchFamily="34" charset="-120"/>
              </a:rPr>
              <a:t>Unrecognized $846.75 transaction — BrightHome Electronics</a:t>
            </a:r>
            <a:endParaRPr lang="en-US" sz="1080" dirty="0"/>
          </a:p>
        </p:txBody>
      </p:sp>
      <p:sp>
        <p:nvSpPr>
          <p:cNvPr id="11" name="Text 8"/>
          <p:cNvSpPr/>
          <p:nvPr/>
        </p:nvSpPr>
        <p:spPr>
          <a:xfrm>
            <a:off x="676656" y="3151022"/>
            <a:ext cx="4892040" cy="265176"/>
          </a:xfrm>
          <a:prstGeom prst="rect">
            <a:avLst/>
          </a:prstGeom>
          <a:noFill/>
          <a:ln/>
        </p:spPr>
        <p:txBody>
          <a:bodyPr wrap="square" lIns="0" tIns="0" rIns="0" bIns="0" rtlCol="0" anchor="t"/>
          <a:lstStyle/>
          <a:p>
            <a:pPr indent="0" marL="0">
              <a:buNone/>
            </a:pPr>
            <a:r>
              <a:rPr lang="en-US" sz="1080" b="1" dirty="0">
                <a:solidFill>
                  <a:srgbClr val="12233F"/>
                </a:solidFill>
                <a:latin typeface="Calibri" pitchFamily="34" charset="0"/>
                <a:ea typeface="Calibri" pitchFamily="34" charset="-122"/>
                <a:cs typeface="Calibri" pitchFamily="34" charset="-120"/>
              </a:rPr>
              <a:t>Case:  </a:t>
            </a:r>
            <a:pPr indent="0" marL="0">
              <a:buNone/>
            </a:pPr>
            <a:r>
              <a:rPr lang="en-US" sz="1080" dirty="0">
                <a:solidFill>
                  <a:srgbClr val="1B2A41"/>
                </a:solidFill>
                <a:latin typeface="Calibri" pitchFamily="34" charset="0"/>
                <a:ea typeface="Calibri" pitchFamily="34" charset="-122"/>
                <a:cs typeface="Calibri" pitchFamily="34" charset="-120"/>
              </a:rPr>
              <a:t>SYF-DEMO-10482</a:t>
            </a:r>
            <a:endParaRPr lang="en-US" sz="1080" dirty="0"/>
          </a:p>
        </p:txBody>
      </p:sp>
      <p:sp>
        <p:nvSpPr>
          <p:cNvPr id="12" name="Text 9"/>
          <p:cNvSpPr/>
          <p:nvPr/>
        </p:nvSpPr>
        <p:spPr>
          <a:xfrm>
            <a:off x="676656" y="3423514"/>
            <a:ext cx="4892040" cy="265176"/>
          </a:xfrm>
          <a:prstGeom prst="rect">
            <a:avLst/>
          </a:prstGeom>
          <a:noFill/>
          <a:ln/>
        </p:spPr>
        <p:txBody>
          <a:bodyPr wrap="square" lIns="0" tIns="0" rIns="0" bIns="0" rtlCol="0" anchor="t"/>
          <a:lstStyle/>
          <a:p>
            <a:pPr indent="0" marL="0">
              <a:buNone/>
            </a:pPr>
            <a:r>
              <a:rPr lang="en-US" sz="1080" b="1" dirty="0">
                <a:solidFill>
                  <a:srgbClr val="12233F"/>
                </a:solidFill>
                <a:latin typeface="Calibri" pitchFamily="34" charset="0"/>
                <a:ea typeface="Calibri" pitchFamily="34" charset="-122"/>
                <a:cs typeface="Calibri" pitchFamily="34" charset="-120"/>
              </a:rPr>
              <a:t>Dispute status:  </a:t>
            </a:r>
            <a:pPr indent="0" marL="0">
              <a:buNone/>
            </a:pPr>
            <a:r>
              <a:rPr lang="en-US" sz="1080" dirty="0">
                <a:solidFill>
                  <a:srgbClr val="1B2A41"/>
                </a:solidFill>
                <a:latin typeface="Calibri" pitchFamily="34" charset="0"/>
                <a:ea typeface="Calibri" pitchFamily="34" charset="-122"/>
                <a:cs typeface="Calibri" pitchFamily="34" charset="-120"/>
              </a:rPr>
              <a:t>Open</a:t>
            </a:r>
            <a:endParaRPr lang="en-US" sz="1080" dirty="0"/>
          </a:p>
        </p:txBody>
      </p:sp>
      <p:sp>
        <p:nvSpPr>
          <p:cNvPr id="13" name="Text 10"/>
          <p:cNvSpPr/>
          <p:nvPr/>
        </p:nvSpPr>
        <p:spPr>
          <a:xfrm>
            <a:off x="676656" y="3696005"/>
            <a:ext cx="4892040" cy="265176"/>
          </a:xfrm>
          <a:prstGeom prst="rect">
            <a:avLst/>
          </a:prstGeom>
          <a:noFill/>
          <a:ln/>
        </p:spPr>
        <p:txBody>
          <a:bodyPr wrap="square" lIns="0" tIns="0" rIns="0" bIns="0" rtlCol="0" anchor="t"/>
          <a:lstStyle/>
          <a:p>
            <a:pPr indent="0" marL="0">
              <a:buNone/>
            </a:pPr>
            <a:r>
              <a:rPr lang="en-US" sz="1080" b="1" dirty="0">
                <a:solidFill>
                  <a:srgbClr val="12233F"/>
                </a:solidFill>
                <a:latin typeface="Calibri" pitchFamily="34" charset="0"/>
                <a:ea typeface="Calibri" pitchFamily="34" charset="-122"/>
                <a:cs typeface="Calibri" pitchFamily="34" charset="-120"/>
              </a:rPr>
              <a:t>Previous contacts:  </a:t>
            </a:r>
            <a:pPr indent="0" marL="0">
              <a:buNone/>
            </a:pPr>
            <a:r>
              <a:rPr lang="en-US" sz="1080" dirty="0">
                <a:solidFill>
                  <a:srgbClr val="1B2A41"/>
                </a:solidFill>
                <a:latin typeface="Calibri" pitchFamily="34" charset="0"/>
                <a:ea typeface="Calibri" pitchFamily="34" charset="-122"/>
                <a:cs typeface="Calibri" pitchFamily="34" charset="-120"/>
              </a:rPr>
              <a:t>3</a:t>
            </a:r>
            <a:endParaRPr lang="en-US" sz="1080" dirty="0"/>
          </a:p>
        </p:txBody>
      </p:sp>
      <p:sp>
        <p:nvSpPr>
          <p:cNvPr id="14" name="Text 11"/>
          <p:cNvSpPr/>
          <p:nvPr/>
        </p:nvSpPr>
        <p:spPr>
          <a:xfrm>
            <a:off x="676656" y="3968496"/>
            <a:ext cx="4892040" cy="265176"/>
          </a:xfrm>
          <a:prstGeom prst="rect">
            <a:avLst/>
          </a:prstGeom>
          <a:noFill/>
          <a:ln/>
        </p:spPr>
        <p:txBody>
          <a:bodyPr wrap="square" lIns="0" tIns="0" rIns="0" bIns="0" rtlCol="0" anchor="t"/>
          <a:lstStyle/>
          <a:p>
            <a:pPr indent="0" marL="0">
              <a:buNone/>
            </a:pPr>
            <a:r>
              <a:rPr lang="en-US" sz="1080" b="1" dirty="0">
                <a:solidFill>
                  <a:srgbClr val="12233F"/>
                </a:solidFill>
                <a:latin typeface="Calibri" pitchFamily="34" charset="0"/>
                <a:ea typeface="Calibri" pitchFamily="34" charset="-122"/>
                <a:cs typeface="Calibri" pitchFamily="34" charset="-120"/>
              </a:rPr>
              <a:t>Temporary credit:  </a:t>
            </a:r>
            <a:pPr indent="0" marL="0">
              <a:buNone/>
            </a:pPr>
            <a:r>
              <a:rPr lang="en-US" sz="1080" dirty="0">
                <a:solidFill>
                  <a:srgbClr val="1B2A41"/>
                </a:solidFill>
                <a:latin typeface="Calibri" pitchFamily="34" charset="0"/>
                <a:ea typeface="Calibri" pitchFamily="34" charset="-122"/>
                <a:cs typeface="Calibri" pitchFamily="34" charset="-120"/>
              </a:rPr>
              <a:t>Not confirmed</a:t>
            </a:r>
            <a:endParaRPr lang="en-US" sz="1080" dirty="0"/>
          </a:p>
        </p:txBody>
      </p:sp>
      <p:sp>
        <p:nvSpPr>
          <p:cNvPr id="15" name="Text 12"/>
          <p:cNvSpPr/>
          <p:nvPr/>
        </p:nvSpPr>
        <p:spPr>
          <a:xfrm>
            <a:off x="676656" y="4240987"/>
            <a:ext cx="4892040" cy="265176"/>
          </a:xfrm>
          <a:prstGeom prst="rect">
            <a:avLst/>
          </a:prstGeom>
          <a:noFill/>
          <a:ln/>
        </p:spPr>
        <p:txBody>
          <a:bodyPr wrap="square" lIns="0" tIns="0" rIns="0" bIns="0" rtlCol="0" anchor="t"/>
          <a:lstStyle/>
          <a:p>
            <a:pPr indent="0" marL="0">
              <a:buNone/>
            </a:pPr>
            <a:r>
              <a:rPr lang="en-US" sz="1080" b="1" dirty="0">
                <a:solidFill>
                  <a:srgbClr val="12233F"/>
                </a:solidFill>
                <a:latin typeface="Calibri" pitchFamily="34" charset="0"/>
                <a:ea typeface="Calibri" pitchFamily="34" charset="-122"/>
                <a:cs typeface="Calibri" pitchFamily="34" charset="-120"/>
              </a:rPr>
              <a:t>Payment guidance:  </a:t>
            </a:r>
            <a:pPr indent="0" marL="0">
              <a:buNone/>
            </a:pPr>
            <a:r>
              <a:rPr lang="en-US" sz="1080" dirty="0">
                <a:solidFill>
                  <a:srgbClr val="1B2A41"/>
                </a:solidFill>
                <a:latin typeface="Calibri" pitchFamily="34" charset="0"/>
                <a:ea typeface="Calibri" pitchFamily="34" charset="-122"/>
                <a:cs typeface="Calibri" pitchFamily="34" charset="-120"/>
              </a:rPr>
              <a:t>Not available</a:t>
            </a:r>
            <a:endParaRPr lang="en-US" sz="1080" dirty="0"/>
          </a:p>
        </p:txBody>
      </p:sp>
      <p:sp>
        <p:nvSpPr>
          <p:cNvPr id="16" name="Text 13"/>
          <p:cNvSpPr/>
          <p:nvPr/>
        </p:nvSpPr>
        <p:spPr>
          <a:xfrm>
            <a:off x="676656" y="4513478"/>
            <a:ext cx="4892040" cy="265176"/>
          </a:xfrm>
          <a:prstGeom prst="rect">
            <a:avLst/>
          </a:prstGeom>
          <a:noFill/>
          <a:ln/>
        </p:spPr>
        <p:txBody>
          <a:bodyPr wrap="square" lIns="0" tIns="0" rIns="0" bIns="0" rtlCol="0" anchor="t"/>
          <a:lstStyle/>
          <a:p>
            <a:pPr indent="0" marL="0">
              <a:buNone/>
            </a:pPr>
            <a:r>
              <a:rPr lang="en-US" sz="1080" b="1" dirty="0">
                <a:solidFill>
                  <a:srgbClr val="12233F"/>
                </a:solidFill>
                <a:latin typeface="Calibri" pitchFamily="34" charset="0"/>
                <a:ea typeface="Calibri" pitchFamily="34" charset="-122"/>
                <a:cs typeface="Calibri" pitchFamily="34" charset="-120"/>
              </a:rPr>
              <a:t>Completion date:  </a:t>
            </a:r>
            <a:pPr indent="0" marL="0">
              <a:buNone/>
            </a:pPr>
            <a:r>
              <a:rPr lang="en-US" sz="1080" dirty="0">
                <a:solidFill>
                  <a:srgbClr val="1B2A41"/>
                </a:solidFill>
                <a:latin typeface="Calibri" pitchFamily="34" charset="0"/>
                <a:ea typeface="Calibri" pitchFamily="34" charset="-122"/>
                <a:cs typeface="Calibri" pitchFamily="34" charset="-120"/>
              </a:rPr>
              <a:t>Not available</a:t>
            </a:r>
            <a:endParaRPr lang="en-US" sz="1080" dirty="0"/>
          </a:p>
        </p:txBody>
      </p:sp>
      <p:sp>
        <p:nvSpPr>
          <p:cNvPr id="17" name="Text 14"/>
          <p:cNvSpPr/>
          <p:nvPr/>
        </p:nvSpPr>
        <p:spPr>
          <a:xfrm>
            <a:off x="676656" y="4785970"/>
            <a:ext cx="4892040" cy="265176"/>
          </a:xfrm>
          <a:prstGeom prst="rect">
            <a:avLst/>
          </a:prstGeom>
          <a:noFill/>
          <a:ln/>
        </p:spPr>
        <p:txBody>
          <a:bodyPr wrap="square" lIns="0" tIns="0" rIns="0" bIns="0" rtlCol="0" anchor="t"/>
          <a:lstStyle/>
          <a:p>
            <a:pPr indent="0" marL="0">
              <a:buNone/>
            </a:pPr>
            <a:r>
              <a:rPr lang="en-US" sz="1080" b="1" dirty="0">
                <a:solidFill>
                  <a:srgbClr val="12233F"/>
                </a:solidFill>
                <a:latin typeface="Calibri" pitchFamily="34" charset="0"/>
                <a:ea typeface="Calibri" pitchFamily="34" charset="-122"/>
                <a:cs typeface="Calibri" pitchFamily="34" charset="-120"/>
              </a:rPr>
              <a:t>Risk:  </a:t>
            </a:r>
            <a:pPr indent="0" marL="0">
              <a:buNone/>
            </a:pPr>
            <a:r>
              <a:rPr lang="en-US" sz="1080" dirty="0">
                <a:solidFill>
                  <a:srgbClr val="1B2A41"/>
                </a:solidFill>
                <a:latin typeface="Calibri" pitchFamily="34" charset="0"/>
                <a:ea typeface="Calibri" pitchFamily="34" charset="-122"/>
                <a:cs typeface="Calibri" pitchFamily="34" charset="-120"/>
              </a:rPr>
              <a:t>External escalation + public complaint threat</a:t>
            </a:r>
            <a:endParaRPr lang="en-US" sz="1080" dirty="0"/>
          </a:p>
        </p:txBody>
      </p:sp>
      <p:sp>
        <p:nvSpPr>
          <p:cNvPr id="18" name="Shape 15"/>
          <p:cNvSpPr/>
          <p:nvPr/>
        </p:nvSpPr>
        <p:spPr>
          <a:xfrm>
            <a:off x="6236208" y="1828800"/>
            <a:ext cx="5349240" cy="3246120"/>
          </a:xfrm>
          <a:prstGeom prst="roundRect">
            <a:avLst>
              <a:gd name="adj" fmla="val 2254"/>
            </a:avLst>
          </a:prstGeom>
          <a:solidFill>
            <a:srgbClr val="12233F"/>
          </a:solidFill>
          <a:ln/>
        </p:spPr>
      </p:sp>
      <p:sp>
        <p:nvSpPr>
          <p:cNvPr id="19" name="Shape 16"/>
          <p:cNvSpPr/>
          <p:nvPr/>
        </p:nvSpPr>
        <p:spPr>
          <a:xfrm>
            <a:off x="6455664" y="2048256"/>
            <a:ext cx="402336" cy="402336"/>
          </a:xfrm>
          <a:prstGeom prst="ellipse">
            <a:avLst/>
          </a:prstGeom>
          <a:solidFill>
            <a:srgbClr val="0F8B8D"/>
          </a:solidFill>
          <a:ln/>
        </p:spPr>
      </p:sp>
      <p:pic>
        <p:nvPicPr>
          <p:cNvPr id="20" name="Image 1" descr="/home/claude/deck/icons/message.png">    </p:cNvPr>
          <p:cNvPicPr>
            <a:picLocks noChangeAspect="1"/>
          </p:cNvPicPr>
          <p:nvPr/>
        </p:nvPicPr>
        <p:blipFill>
          <a:blip r:embed="rId2"/>
          <a:stretch>
            <a:fillRect/>
          </a:stretch>
        </p:blipFill>
        <p:spPr>
          <a:xfrm>
            <a:off x="6552225" y="2144817"/>
            <a:ext cx="209215" cy="209215"/>
          </a:xfrm>
          <a:prstGeom prst="rect">
            <a:avLst/>
          </a:prstGeom>
        </p:spPr>
      </p:pic>
      <p:sp>
        <p:nvSpPr>
          <p:cNvPr id="21" name="Text 17"/>
          <p:cNvSpPr/>
          <p:nvPr/>
        </p:nvSpPr>
        <p:spPr>
          <a:xfrm>
            <a:off x="6967728" y="2048256"/>
            <a:ext cx="4434840" cy="402336"/>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Candidate output to test</a:t>
            </a:r>
            <a:endParaRPr lang="en-US" sz="1450" dirty="0"/>
          </a:p>
        </p:txBody>
      </p:sp>
      <p:sp>
        <p:nvSpPr>
          <p:cNvPr id="22" name="Shape 18"/>
          <p:cNvSpPr/>
          <p:nvPr/>
        </p:nvSpPr>
        <p:spPr>
          <a:xfrm>
            <a:off x="6455664" y="2606040"/>
            <a:ext cx="4910328" cy="1874520"/>
          </a:xfrm>
          <a:prstGeom prst="roundRect">
            <a:avLst>
              <a:gd name="adj" fmla="val 2927"/>
            </a:avLst>
          </a:prstGeom>
          <a:solidFill>
            <a:srgbClr val="18305A"/>
          </a:solidFill>
          <a:ln/>
        </p:spPr>
      </p:sp>
      <p:sp>
        <p:nvSpPr>
          <p:cNvPr id="23" name="Text 19"/>
          <p:cNvSpPr/>
          <p:nvPr/>
        </p:nvSpPr>
        <p:spPr>
          <a:xfrm>
            <a:off x="6638544" y="2761488"/>
            <a:ext cx="4544568" cy="1554480"/>
          </a:xfrm>
          <a:prstGeom prst="rect">
            <a:avLst/>
          </a:prstGeom>
          <a:noFill/>
          <a:ln/>
        </p:spPr>
        <p:txBody>
          <a:bodyPr wrap="square" lIns="0" tIns="0" rIns="0" bIns="0" rtlCol="0" anchor="t"/>
          <a:lstStyle/>
          <a:p>
            <a:pPr indent="0" marL="0">
              <a:lnSpc>
                <a:spcPct val="115000"/>
              </a:lnSpc>
              <a:buNone/>
            </a:pPr>
            <a:r>
              <a:rPr lang="en-US" sz="1200" i="1" dirty="0">
                <a:solidFill>
                  <a:srgbClr val="F2F5FA"/>
                </a:solidFill>
                <a:latin typeface="Calibri" pitchFamily="34" charset="0"/>
                <a:ea typeface="Calibri" pitchFamily="34" charset="-122"/>
                <a:cs typeface="Calibri" pitchFamily="34" charset="-120"/>
              </a:rPr>
              <a:t>Dear Daniel, your dispute has been approved. You do not need to pay the disputed amount. A temporary credit will be applied within 24 hours. The investigation will be completed in five business days.</a:t>
            </a:r>
            <a:endParaRPr lang="en-US" sz="1200" dirty="0"/>
          </a:p>
          <a:p>
            <a:pPr indent="0" marL="0">
              <a:lnSpc>
                <a:spcPct val="115000"/>
              </a:lnSpc>
              <a:buNone/>
            </a:pPr>
            <a:endParaRPr lang="en-US" sz="1200" dirty="0"/>
          </a:p>
          <a:p>
            <a:pPr indent="0" marL="0">
              <a:lnSpc>
                <a:spcPct val="115000"/>
              </a:lnSpc>
              <a:buNone/>
            </a:pPr>
            <a:r>
              <a:rPr lang="en-US" sz="1200" i="1" dirty="0">
                <a:solidFill>
                  <a:srgbClr val="F2F5FA"/>
                </a:solidFill>
                <a:latin typeface="Calibri" pitchFamily="34" charset="0"/>
                <a:ea typeface="Calibri" pitchFamily="34" charset="-122"/>
                <a:cs typeface="Calibri" pitchFamily="34" charset="-120"/>
              </a:rPr>
              <a:t>Thank you,</a:t>
            </a:r>
            <a:endParaRPr lang="en-US" sz="1200" dirty="0"/>
          </a:p>
          <a:p>
            <a:pPr indent="0" marL="0">
              <a:lnSpc>
                <a:spcPct val="115000"/>
              </a:lnSpc>
              <a:buNone/>
            </a:pPr>
            <a:r>
              <a:rPr lang="en-US" sz="1200" i="1" dirty="0">
                <a:solidFill>
                  <a:srgbClr val="F2F5FA"/>
                </a:solidFill>
                <a:latin typeface="Calibri" pitchFamily="34" charset="0"/>
                <a:ea typeface="Calibri" pitchFamily="34" charset="-122"/>
                <a:cs typeface="Calibri" pitchFamily="34" charset="-120"/>
              </a:rPr>
              <a:t>Customer Support</a:t>
            </a:r>
            <a:endParaRPr lang="en-US" sz="1200" dirty="0"/>
          </a:p>
        </p:txBody>
      </p:sp>
      <p:sp>
        <p:nvSpPr>
          <p:cNvPr id="24" name="Text 20"/>
          <p:cNvSpPr/>
          <p:nvPr/>
        </p:nvSpPr>
        <p:spPr>
          <a:xfrm>
            <a:off x="6455664" y="4590288"/>
            <a:ext cx="4910328" cy="228600"/>
          </a:xfrm>
          <a:prstGeom prst="rect">
            <a:avLst/>
          </a:prstGeom>
          <a:noFill/>
          <a:ln/>
        </p:spPr>
        <p:txBody>
          <a:bodyPr wrap="square" lIns="0" tIns="0" rIns="0" bIns="0" rtlCol="0" anchor="ctr"/>
          <a:lstStyle/>
          <a:p>
            <a:pPr indent="0" marL="0">
              <a:buNone/>
            </a:pPr>
            <a:r>
              <a:rPr lang="en-US" sz="950" b="1" spc="100" kern="0" dirty="0">
                <a:solidFill>
                  <a:srgbClr val="C9A227"/>
                </a:solidFill>
                <a:latin typeface="Calibri" pitchFamily="34" charset="0"/>
                <a:ea typeface="Calibri" pitchFamily="34" charset="-122"/>
                <a:cs typeface="Calibri" pitchFamily="34" charset="-120"/>
              </a:rPr>
              <a:t>EXPECTED REVIEW</a:t>
            </a:r>
            <a:endParaRPr lang="en-US" sz="950" dirty="0"/>
          </a:p>
        </p:txBody>
      </p:sp>
      <p:sp>
        <p:nvSpPr>
          <p:cNvPr id="25" name="Shape 21"/>
          <p:cNvSpPr/>
          <p:nvPr/>
        </p:nvSpPr>
        <p:spPr>
          <a:xfrm>
            <a:off x="457200" y="5230368"/>
            <a:ext cx="11274552" cy="713232"/>
          </a:xfrm>
          <a:prstGeom prst="roundRect">
            <a:avLst>
              <a:gd name="adj" fmla="val 10256"/>
            </a:avLst>
          </a:prstGeom>
          <a:solidFill>
            <a:srgbClr val="FBEAE8"/>
          </a:solidFill>
          <a:ln w="12700">
            <a:solidFill>
              <a:srgbClr val="F0C7C1"/>
            </a:solidFill>
            <a:prstDash val="solid"/>
          </a:ln>
        </p:spPr>
      </p:sp>
      <p:sp>
        <p:nvSpPr>
          <p:cNvPr id="26" name="Shape 22"/>
          <p:cNvSpPr/>
          <p:nvPr/>
        </p:nvSpPr>
        <p:spPr>
          <a:xfrm>
            <a:off x="676656" y="5376672"/>
            <a:ext cx="420624" cy="420624"/>
          </a:xfrm>
          <a:prstGeom prst="ellipse">
            <a:avLst/>
          </a:prstGeom>
          <a:solidFill>
            <a:srgbClr val="C0392B"/>
          </a:solidFill>
          <a:ln/>
        </p:spPr>
      </p:sp>
      <p:pic>
        <p:nvPicPr>
          <p:cNvPr id="27" name="Image 2" descr="/home/claude/deck/icons/x.png">    </p:cNvPr>
          <p:cNvPicPr>
            <a:picLocks noChangeAspect="1"/>
          </p:cNvPicPr>
          <p:nvPr/>
        </p:nvPicPr>
        <p:blipFill>
          <a:blip r:embed="rId3"/>
          <a:stretch>
            <a:fillRect/>
          </a:stretch>
        </p:blipFill>
        <p:spPr>
          <a:xfrm>
            <a:off x="777606" y="5477622"/>
            <a:ext cx="218724" cy="218724"/>
          </a:xfrm>
          <a:prstGeom prst="rect">
            <a:avLst/>
          </a:prstGeom>
        </p:spPr>
      </p:pic>
      <p:sp>
        <p:nvSpPr>
          <p:cNvPr id="28" name="Text 23"/>
          <p:cNvSpPr/>
          <p:nvPr/>
        </p:nvSpPr>
        <p:spPr>
          <a:xfrm>
            <a:off x="1225296" y="5230368"/>
            <a:ext cx="10241280" cy="713232"/>
          </a:xfrm>
          <a:prstGeom prst="rect">
            <a:avLst/>
          </a:prstGeom>
          <a:noFill/>
          <a:ln/>
        </p:spPr>
        <p:txBody>
          <a:bodyPr wrap="square" lIns="0" tIns="0" rIns="0" bIns="0" rtlCol="0" anchor="ctr"/>
          <a:lstStyle/>
          <a:p>
            <a:pPr indent="0" marL="0">
              <a:buNone/>
            </a:pPr>
            <a:r>
              <a:rPr lang="en-US" sz="1250" b="1" dirty="0">
                <a:solidFill>
                  <a:srgbClr val="C0392B"/>
                </a:solidFill>
                <a:latin typeface="Calibri" pitchFamily="34" charset="0"/>
                <a:ea typeface="Calibri" pitchFamily="34" charset="-122"/>
                <a:cs typeface="Calibri" pitchFamily="34" charset="-120"/>
              </a:rPr>
              <a:t>FAIL —  </a:t>
            </a:r>
            <a:pPr indent="0" marL="0">
              <a:buNone/>
            </a:pPr>
            <a:r>
              <a:rPr lang="en-US" sz="1250" dirty="0">
                <a:solidFill>
                  <a:srgbClr val="1B2A41"/>
                </a:solidFill>
                <a:latin typeface="Calibri" pitchFamily="34" charset="0"/>
                <a:ea typeface="Calibri" pitchFamily="34" charset="-122"/>
                <a:cs typeface="Calibri" pitchFamily="34" charset="-120"/>
              </a:rPr>
              <a:t>This candidate invents approval, payment guidance, temporary credit, and a completion timeline that the case data does not confirm.</a:t>
            </a:r>
            <a:endParaRPr lang="en-US" sz="1250" dirty="0"/>
          </a:p>
        </p:txBody>
      </p:sp>
      <p:sp>
        <p:nvSpPr>
          <p:cNvPr id="29" name="Text 24"/>
          <p:cNvSpPr/>
          <p:nvPr/>
        </p:nvSpPr>
        <p:spPr>
          <a:xfrm>
            <a:off x="457200" y="6547104"/>
            <a:ext cx="8229600" cy="274320"/>
          </a:xfrm>
          <a:prstGeom prst="rect">
            <a:avLst/>
          </a:prstGeom>
          <a:noFill/>
          <a:ln/>
        </p:spPr>
        <p:txBody>
          <a:bodyPr wrap="square" lIns="0" tIns="0" rIns="0" bIns="0" rtlCol="0" anchor="ctr"/>
          <a:lstStyle/>
          <a:p>
            <a:pPr algn="l" indent="0" marL="0">
              <a:buNone/>
            </a:pPr>
            <a:r>
              <a:rPr lang="en-US" sz="850" dirty="0">
                <a:solidFill>
                  <a:srgbClr val="5B6B84"/>
                </a:solidFill>
                <a:latin typeface="Calibri" pitchFamily="34" charset="0"/>
                <a:ea typeface="Calibri" pitchFamily="34" charset="-122"/>
                <a:cs typeface="Calibri" pitchFamily="34" charset="-120"/>
              </a:rPr>
              <a:t>PROMPT EVALUATION FRAMEWORK  •  SYNCHRONY TRAINING SIMULATION</a:t>
            </a:r>
            <a:endParaRPr lang="en-US" sz="850" dirty="0"/>
          </a:p>
        </p:txBody>
      </p:sp>
      <p:sp>
        <p:nvSpPr>
          <p:cNvPr id="30" name="Text 25"/>
          <p:cNvSpPr/>
          <p:nvPr/>
        </p:nvSpPr>
        <p:spPr>
          <a:xfrm>
            <a:off x="11274552" y="6547104"/>
            <a:ext cx="457200" cy="274320"/>
          </a:xfrm>
          <a:prstGeom prst="rect">
            <a:avLst/>
          </a:prstGeom>
          <a:noFill/>
          <a:ln/>
        </p:spPr>
        <p:txBody>
          <a:bodyPr wrap="square" lIns="0" tIns="0" rIns="0" bIns="0" rtlCol="0" anchor="ctr"/>
          <a:lstStyle/>
          <a:p>
            <a:pPr algn="r" indent="0" marL="0">
              <a:buNone/>
            </a:pPr>
            <a:r>
              <a:rPr lang="en-US" sz="850" dirty="0">
                <a:solidFill>
                  <a:srgbClr val="5B6B84"/>
                </a:solidFill>
                <a:latin typeface="Calibri" pitchFamily="34" charset="0"/>
                <a:ea typeface="Calibri" pitchFamily="34" charset="-122"/>
                <a:cs typeface="Calibri"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457200" y="347472"/>
            <a:ext cx="10058400" cy="274320"/>
          </a:xfrm>
          <a:prstGeom prst="rect">
            <a:avLst/>
          </a:prstGeom>
          <a:noFill/>
          <a:ln/>
        </p:spPr>
        <p:txBody>
          <a:bodyPr wrap="square" lIns="0" tIns="0" rIns="0" bIns="0" rtlCol="0" anchor="ctr"/>
          <a:lstStyle/>
          <a:p>
            <a:pPr indent="0" marL="0">
              <a:buNone/>
            </a:pPr>
            <a:r>
              <a:rPr lang="en-US" sz="1100" b="1" spc="150" kern="0" dirty="0">
                <a:solidFill>
                  <a:srgbClr val="0F8B8D"/>
                </a:solidFill>
                <a:latin typeface="Calibri" pitchFamily="34" charset="0"/>
                <a:ea typeface="Calibri" pitchFamily="34" charset="-122"/>
                <a:cs typeface="Calibri" pitchFamily="34" charset="-120"/>
              </a:rPr>
              <a:t>PROMPT DESIGN</a:t>
            </a:r>
            <a:endParaRPr lang="en-US" sz="1100" dirty="0"/>
          </a:p>
        </p:txBody>
      </p:sp>
      <p:sp>
        <p:nvSpPr>
          <p:cNvPr id="3" name="Text 1"/>
          <p:cNvSpPr/>
          <p:nvPr/>
        </p:nvSpPr>
        <p:spPr>
          <a:xfrm>
            <a:off x="457200" y="603504"/>
            <a:ext cx="11247120" cy="566928"/>
          </a:xfrm>
          <a:prstGeom prst="rect">
            <a:avLst/>
          </a:prstGeom>
          <a:noFill/>
          <a:ln/>
        </p:spPr>
        <p:txBody>
          <a:bodyPr wrap="square" lIns="0" tIns="0" rIns="0" bIns="0" rtlCol="0" anchor="ctr"/>
          <a:lstStyle/>
          <a:p>
            <a:pPr indent="0" marL="0">
              <a:buNone/>
            </a:pPr>
            <a:r>
              <a:rPr lang="en-US" sz="3000" b="1" dirty="0">
                <a:solidFill>
                  <a:srgbClr val="12233F"/>
                </a:solidFill>
                <a:latin typeface="Cambria" pitchFamily="34" charset="0"/>
                <a:ea typeface="Cambria" pitchFamily="34" charset="-122"/>
                <a:cs typeface="Cambria" pitchFamily="34" charset="-120"/>
              </a:rPr>
              <a:t>Evaluation prompt anatomy</a:t>
            </a:r>
            <a:endParaRPr lang="en-US" sz="3000" dirty="0"/>
          </a:p>
        </p:txBody>
      </p:sp>
      <p:sp>
        <p:nvSpPr>
          <p:cNvPr id="4" name="Text 2"/>
          <p:cNvSpPr/>
          <p:nvPr/>
        </p:nvSpPr>
        <p:spPr>
          <a:xfrm>
            <a:off x="457200" y="1170432"/>
            <a:ext cx="11247120" cy="365760"/>
          </a:xfrm>
          <a:prstGeom prst="rect">
            <a:avLst/>
          </a:prstGeom>
          <a:noFill/>
          <a:ln/>
        </p:spPr>
        <p:txBody>
          <a:bodyPr wrap="square" lIns="0" tIns="0" rIns="0" bIns="0" rtlCol="0" anchor="ctr"/>
          <a:lstStyle/>
          <a:p>
            <a:pPr indent="0" marL="0">
              <a:buNone/>
            </a:pPr>
            <a:r>
              <a:rPr lang="en-US" sz="1400" i="1" dirty="0">
                <a:solidFill>
                  <a:srgbClr val="5B6B84"/>
                </a:solidFill>
                <a:latin typeface="Calibri" pitchFamily="34" charset="0"/>
                <a:ea typeface="Calibri" pitchFamily="34" charset="-122"/>
                <a:cs typeface="Calibri" pitchFamily="34" charset="-120"/>
              </a:rPr>
              <a:t>A strong evaluation prompt has all three: criteria, evidence, and output to test.</a:t>
            </a:r>
            <a:endParaRPr lang="en-US" sz="1400" dirty="0"/>
          </a:p>
        </p:txBody>
      </p:sp>
      <p:sp>
        <p:nvSpPr>
          <p:cNvPr id="5" name="Shape 3"/>
          <p:cNvSpPr/>
          <p:nvPr/>
        </p:nvSpPr>
        <p:spPr>
          <a:xfrm>
            <a:off x="457200" y="1828800"/>
            <a:ext cx="3520440" cy="1783080"/>
          </a:xfrm>
          <a:prstGeom prst="roundRect">
            <a:avLst>
              <a:gd name="adj" fmla="val 4103"/>
            </a:avLst>
          </a:prstGeom>
          <a:solidFill>
            <a:srgbClr val="FFFFFF"/>
          </a:solidFill>
          <a:ln w="12700">
            <a:solidFill>
              <a:srgbClr val="E2E8F0"/>
            </a:solidFill>
            <a:prstDash val="solid"/>
          </a:ln>
        </p:spPr>
      </p:sp>
      <p:sp>
        <p:nvSpPr>
          <p:cNvPr id="6" name="Shape 4"/>
          <p:cNvSpPr/>
          <p:nvPr/>
        </p:nvSpPr>
        <p:spPr>
          <a:xfrm>
            <a:off x="658368" y="2011680"/>
            <a:ext cx="384048" cy="384048"/>
          </a:xfrm>
          <a:prstGeom prst="ellipse">
            <a:avLst/>
          </a:prstGeom>
          <a:solidFill>
            <a:srgbClr val="12233F"/>
          </a:solidFill>
          <a:ln/>
        </p:spPr>
      </p:sp>
      <p:sp>
        <p:nvSpPr>
          <p:cNvPr id="7" name="Text 5"/>
          <p:cNvSpPr/>
          <p:nvPr/>
        </p:nvSpPr>
        <p:spPr>
          <a:xfrm>
            <a:off x="658368" y="201168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Shape 6"/>
          <p:cNvSpPr/>
          <p:nvPr/>
        </p:nvSpPr>
        <p:spPr>
          <a:xfrm>
            <a:off x="3355848" y="2011680"/>
            <a:ext cx="384048" cy="384048"/>
          </a:xfrm>
          <a:prstGeom prst="ellipse">
            <a:avLst/>
          </a:prstGeom>
          <a:solidFill>
            <a:srgbClr val="E6EEF8"/>
          </a:solidFill>
          <a:ln/>
        </p:spPr>
      </p:sp>
      <p:pic>
        <p:nvPicPr>
          <p:cNvPr id="9" name="Image 0" descr="/home/claude/deck/icons/target.png">    </p:cNvPr>
          <p:cNvPicPr>
            <a:picLocks noChangeAspect="1"/>
          </p:cNvPicPr>
          <p:nvPr/>
        </p:nvPicPr>
        <p:blipFill>
          <a:blip r:embed="rId1"/>
          <a:stretch>
            <a:fillRect/>
          </a:stretch>
        </p:blipFill>
        <p:spPr>
          <a:xfrm>
            <a:off x="3448020" y="2103852"/>
            <a:ext cx="199705" cy="199705"/>
          </a:xfrm>
          <a:prstGeom prst="rect">
            <a:avLst/>
          </a:prstGeom>
        </p:spPr>
      </p:pic>
      <p:sp>
        <p:nvSpPr>
          <p:cNvPr id="10" name="Text 7"/>
          <p:cNvSpPr/>
          <p:nvPr/>
        </p:nvSpPr>
        <p:spPr>
          <a:xfrm>
            <a:off x="658368" y="2542032"/>
            <a:ext cx="3118104" cy="320040"/>
          </a:xfrm>
          <a:prstGeom prst="rect">
            <a:avLst/>
          </a:prstGeom>
          <a:noFill/>
          <a:ln/>
        </p:spPr>
        <p:txBody>
          <a:bodyPr wrap="square" lIns="0" tIns="0" rIns="0" bIns="0" rtlCol="0" anchor="ctr"/>
          <a:lstStyle/>
          <a:p>
            <a:pPr indent="0" marL="0">
              <a:buNone/>
            </a:pPr>
            <a:r>
              <a:rPr lang="en-US" sz="1450" b="1" dirty="0">
                <a:solidFill>
                  <a:srgbClr val="12233F"/>
                </a:solidFill>
                <a:latin typeface="Calibri" pitchFamily="34" charset="0"/>
                <a:ea typeface="Calibri" pitchFamily="34" charset="-122"/>
                <a:cs typeface="Calibri" pitchFamily="34" charset="-120"/>
              </a:rPr>
              <a:t>Evaluation role</a:t>
            </a:r>
            <a:endParaRPr lang="en-US" sz="1450" dirty="0"/>
          </a:p>
        </p:txBody>
      </p:sp>
      <p:sp>
        <p:nvSpPr>
          <p:cNvPr id="11" name="Text 8"/>
          <p:cNvSpPr/>
          <p:nvPr/>
        </p:nvSpPr>
        <p:spPr>
          <a:xfrm>
            <a:off x="658368" y="2880360"/>
            <a:ext cx="3118104" cy="658368"/>
          </a:xfrm>
          <a:prstGeom prst="rect">
            <a:avLst/>
          </a:prstGeom>
          <a:noFill/>
          <a:ln/>
        </p:spPr>
        <p:txBody>
          <a:bodyPr wrap="square" lIns="0" tIns="0" rIns="0" bIns="0" rtlCol="0" anchor="t"/>
          <a:lstStyle/>
          <a:p>
            <a:pPr indent="0" marL="0">
              <a:buNone/>
            </a:pPr>
            <a:r>
              <a:rPr lang="en-US" sz="1100" dirty="0">
                <a:solidFill>
                  <a:srgbClr val="5B6B84"/>
                </a:solidFill>
                <a:latin typeface="Calibri" pitchFamily="34" charset="0"/>
                <a:ea typeface="Calibri" pitchFamily="34" charset="-122"/>
                <a:cs typeface="Calibri" pitchFamily="34" charset="-120"/>
              </a:rPr>
              <a:t>Act as a strict quality reviewer for financial-services customer communication.</a:t>
            </a:r>
            <a:endParaRPr lang="en-US" sz="1100" dirty="0"/>
          </a:p>
        </p:txBody>
      </p:sp>
      <p:sp>
        <p:nvSpPr>
          <p:cNvPr id="12" name="Shape 9"/>
          <p:cNvSpPr/>
          <p:nvPr/>
        </p:nvSpPr>
        <p:spPr>
          <a:xfrm>
            <a:off x="3995928" y="2592324"/>
            <a:ext cx="256032" cy="256032"/>
          </a:xfrm>
          <a:prstGeom prst="ellipse">
            <a:avLst/>
          </a:prstGeom>
          <a:solidFill>
            <a:srgbClr val="FFFFFF"/>
          </a:solidFill>
          <a:ln/>
        </p:spPr>
      </p:sp>
      <p:pic>
        <p:nvPicPr>
          <p:cNvPr id="13" name="Image 1" descr="/home/claude/deck/icons/arrowright.png">    </p:cNvPr>
          <p:cNvPicPr>
            <a:picLocks noChangeAspect="1"/>
          </p:cNvPicPr>
          <p:nvPr/>
        </p:nvPicPr>
        <p:blipFill>
          <a:blip r:embed="rId2"/>
          <a:stretch>
            <a:fillRect/>
          </a:stretch>
        </p:blipFill>
        <p:spPr>
          <a:xfrm>
            <a:off x="4057376" y="2653772"/>
            <a:ext cx="133137" cy="133137"/>
          </a:xfrm>
          <a:prstGeom prst="rect">
            <a:avLst/>
          </a:prstGeom>
        </p:spPr>
      </p:pic>
      <p:sp>
        <p:nvSpPr>
          <p:cNvPr id="14" name="Shape 10"/>
          <p:cNvSpPr/>
          <p:nvPr/>
        </p:nvSpPr>
        <p:spPr>
          <a:xfrm>
            <a:off x="4297680" y="1828800"/>
            <a:ext cx="3520440" cy="1783080"/>
          </a:xfrm>
          <a:prstGeom prst="roundRect">
            <a:avLst>
              <a:gd name="adj" fmla="val 4103"/>
            </a:avLst>
          </a:prstGeom>
          <a:solidFill>
            <a:srgbClr val="FFFFFF"/>
          </a:solidFill>
          <a:ln w="12700">
            <a:solidFill>
              <a:srgbClr val="E2E8F0"/>
            </a:solidFill>
            <a:prstDash val="solid"/>
          </a:ln>
        </p:spPr>
      </p:sp>
      <p:sp>
        <p:nvSpPr>
          <p:cNvPr id="15" name="Shape 11"/>
          <p:cNvSpPr/>
          <p:nvPr/>
        </p:nvSpPr>
        <p:spPr>
          <a:xfrm>
            <a:off x="4498848" y="2011680"/>
            <a:ext cx="384048" cy="384048"/>
          </a:xfrm>
          <a:prstGeom prst="ellipse">
            <a:avLst/>
          </a:prstGeom>
          <a:solidFill>
            <a:srgbClr val="12233F"/>
          </a:solidFill>
          <a:ln/>
        </p:spPr>
      </p:sp>
      <p:sp>
        <p:nvSpPr>
          <p:cNvPr id="16" name="Text 12"/>
          <p:cNvSpPr/>
          <p:nvPr/>
        </p:nvSpPr>
        <p:spPr>
          <a:xfrm>
            <a:off x="4498848" y="201168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7" name="Shape 13"/>
          <p:cNvSpPr/>
          <p:nvPr/>
        </p:nvSpPr>
        <p:spPr>
          <a:xfrm>
            <a:off x="7196328" y="2011680"/>
            <a:ext cx="384048" cy="384048"/>
          </a:xfrm>
          <a:prstGeom prst="ellipse">
            <a:avLst/>
          </a:prstGeom>
          <a:solidFill>
            <a:srgbClr val="E6EEF8"/>
          </a:solidFill>
          <a:ln/>
        </p:spPr>
      </p:sp>
      <p:pic>
        <p:nvPicPr>
          <p:cNvPr id="18" name="Image 2" descr="/home/claude/deck/icons/listchecks.png">    </p:cNvPr>
          <p:cNvPicPr>
            <a:picLocks noChangeAspect="1"/>
          </p:cNvPicPr>
          <p:nvPr/>
        </p:nvPicPr>
        <p:blipFill>
          <a:blip r:embed="rId3"/>
          <a:stretch>
            <a:fillRect/>
          </a:stretch>
        </p:blipFill>
        <p:spPr>
          <a:xfrm>
            <a:off x="7288500" y="2103852"/>
            <a:ext cx="199705" cy="199705"/>
          </a:xfrm>
          <a:prstGeom prst="rect">
            <a:avLst/>
          </a:prstGeom>
        </p:spPr>
      </p:pic>
      <p:sp>
        <p:nvSpPr>
          <p:cNvPr id="19" name="Text 14"/>
          <p:cNvSpPr/>
          <p:nvPr/>
        </p:nvSpPr>
        <p:spPr>
          <a:xfrm>
            <a:off x="4498848" y="2542032"/>
            <a:ext cx="3118104" cy="320040"/>
          </a:xfrm>
          <a:prstGeom prst="rect">
            <a:avLst/>
          </a:prstGeom>
          <a:noFill/>
          <a:ln/>
        </p:spPr>
        <p:txBody>
          <a:bodyPr wrap="square" lIns="0" tIns="0" rIns="0" bIns="0" rtlCol="0" anchor="ctr"/>
          <a:lstStyle/>
          <a:p>
            <a:pPr indent="0" marL="0">
              <a:buNone/>
            </a:pPr>
            <a:r>
              <a:rPr lang="en-US" sz="1450" b="1" dirty="0">
                <a:solidFill>
                  <a:srgbClr val="12233F"/>
                </a:solidFill>
                <a:latin typeface="Calibri" pitchFamily="34" charset="0"/>
                <a:ea typeface="Calibri" pitchFamily="34" charset="-122"/>
                <a:cs typeface="Calibri" pitchFamily="34" charset="-120"/>
              </a:rPr>
              <a:t>Metrics</a:t>
            </a:r>
            <a:endParaRPr lang="en-US" sz="1450" dirty="0"/>
          </a:p>
        </p:txBody>
      </p:sp>
      <p:sp>
        <p:nvSpPr>
          <p:cNvPr id="20" name="Text 15"/>
          <p:cNvSpPr/>
          <p:nvPr/>
        </p:nvSpPr>
        <p:spPr>
          <a:xfrm>
            <a:off x="4498848" y="2880360"/>
            <a:ext cx="3118104" cy="658368"/>
          </a:xfrm>
          <a:prstGeom prst="rect">
            <a:avLst/>
          </a:prstGeom>
          <a:noFill/>
          <a:ln/>
        </p:spPr>
        <p:txBody>
          <a:bodyPr wrap="square" lIns="0" tIns="0" rIns="0" bIns="0" rtlCol="0" anchor="t"/>
          <a:lstStyle/>
          <a:p>
            <a:pPr indent="0" marL="0">
              <a:buNone/>
            </a:pPr>
            <a:r>
              <a:rPr lang="en-US" sz="1100" dirty="0">
                <a:solidFill>
                  <a:srgbClr val="5B6B84"/>
                </a:solidFill>
                <a:latin typeface="Calibri" pitchFamily="34" charset="0"/>
                <a:ea typeface="Calibri" pitchFamily="34" charset="-122"/>
                <a:cs typeface="Calibri" pitchFamily="34" charset="-120"/>
              </a:rPr>
              <a:t>Score accuracy, relevance, completeness, groundedness, consistency, format, conciseness, tone, safety, hallucination rate.</a:t>
            </a:r>
            <a:endParaRPr lang="en-US" sz="1100" dirty="0"/>
          </a:p>
        </p:txBody>
      </p:sp>
      <p:sp>
        <p:nvSpPr>
          <p:cNvPr id="21" name="Shape 16"/>
          <p:cNvSpPr/>
          <p:nvPr/>
        </p:nvSpPr>
        <p:spPr>
          <a:xfrm>
            <a:off x="7836408" y="2592324"/>
            <a:ext cx="256032" cy="256032"/>
          </a:xfrm>
          <a:prstGeom prst="ellipse">
            <a:avLst/>
          </a:prstGeom>
          <a:solidFill>
            <a:srgbClr val="FFFFFF"/>
          </a:solidFill>
          <a:ln/>
        </p:spPr>
      </p:sp>
      <p:pic>
        <p:nvPicPr>
          <p:cNvPr id="22" name="Image 3" descr="/home/claude/deck/icons/arrowright.png">    </p:cNvPr>
          <p:cNvPicPr>
            <a:picLocks noChangeAspect="1"/>
          </p:cNvPicPr>
          <p:nvPr/>
        </p:nvPicPr>
        <p:blipFill>
          <a:blip r:embed="rId4"/>
          <a:stretch>
            <a:fillRect/>
          </a:stretch>
        </p:blipFill>
        <p:spPr>
          <a:xfrm>
            <a:off x="7897856" y="2653772"/>
            <a:ext cx="133137" cy="133137"/>
          </a:xfrm>
          <a:prstGeom prst="rect">
            <a:avLst/>
          </a:prstGeom>
        </p:spPr>
      </p:pic>
      <p:sp>
        <p:nvSpPr>
          <p:cNvPr id="23" name="Shape 17"/>
          <p:cNvSpPr/>
          <p:nvPr/>
        </p:nvSpPr>
        <p:spPr>
          <a:xfrm>
            <a:off x="8138160" y="1828800"/>
            <a:ext cx="3520440" cy="1783080"/>
          </a:xfrm>
          <a:prstGeom prst="roundRect">
            <a:avLst>
              <a:gd name="adj" fmla="val 4103"/>
            </a:avLst>
          </a:prstGeom>
          <a:solidFill>
            <a:srgbClr val="FFFFFF"/>
          </a:solidFill>
          <a:ln w="12700">
            <a:solidFill>
              <a:srgbClr val="E2E8F0"/>
            </a:solidFill>
            <a:prstDash val="solid"/>
          </a:ln>
        </p:spPr>
      </p:sp>
      <p:sp>
        <p:nvSpPr>
          <p:cNvPr id="24" name="Shape 18"/>
          <p:cNvSpPr/>
          <p:nvPr/>
        </p:nvSpPr>
        <p:spPr>
          <a:xfrm>
            <a:off x="8339328" y="2011680"/>
            <a:ext cx="384048" cy="384048"/>
          </a:xfrm>
          <a:prstGeom prst="ellipse">
            <a:avLst/>
          </a:prstGeom>
          <a:solidFill>
            <a:srgbClr val="12233F"/>
          </a:solidFill>
          <a:ln/>
        </p:spPr>
      </p:sp>
      <p:sp>
        <p:nvSpPr>
          <p:cNvPr id="25" name="Text 19"/>
          <p:cNvSpPr/>
          <p:nvPr/>
        </p:nvSpPr>
        <p:spPr>
          <a:xfrm>
            <a:off x="8339328" y="201168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Shape 20"/>
          <p:cNvSpPr/>
          <p:nvPr/>
        </p:nvSpPr>
        <p:spPr>
          <a:xfrm>
            <a:off x="11036808" y="2011680"/>
            <a:ext cx="384048" cy="384048"/>
          </a:xfrm>
          <a:prstGeom prst="ellipse">
            <a:avLst/>
          </a:prstGeom>
          <a:solidFill>
            <a:srgbClr val="E6EEF8"/>
          </a:solidFill>
          <a:ln/>
        </p:spPr>
      </p:sp>
      <p:pic>
        <p:nvPicPr>
          <p:cNvPr id="27" name="Image 4" descr="/home/claude/deck/icons/anchor.png">    </p:cNvPr>
          <p:cNvPicPr>
            <a:picLocks noChangeAspect="1"/>
          </p:cNvPicPr>
          <p:nvPr/>
        </p:nvPicPr>
        <p:blipFill>
          <a:blip r:embed="rId5"/>
          <a:stretch>
            <a:fillRect/>
          </a:stretch>
        </p:blipFill>
        <p:spPr>
          <a:xfrm>
            <a:off x="11128980" y="2103852"/>
            <a:ext cx="199705" cy="199705"/>
          </a:xfrm>
          <a:prstGeom prst="rect">
            <a:avLst/>
          </a:prstGeom>
        </p:spPr>
      </p:pic>
      <p:sp>
        <p:nvSpPr>
          <p:cNvPr id="28" name="Text 21"/>
          <p:cNvSpPr/>
          <p:nvPr/>
        </p:nvSpPr>
        <p:spPr>
          <a:xfrm>
            <a:off x="8339328" y="2542032"/>
            <a:ext cx="3118104" cy="320040"/>
          </a:xfrm>
          <a:prstGeom prst="rect">
            <a:avLst/>
          </a:prstGeom>
          <a:noFill/>
          <a:ln/>
        </p:spPr>
        <p:txBody>
          <a:bodyPr wrap="square" lIns="0" tIns="0" rIns="0" bIns="0" rtlCol="0" anchor="ctr"/>
          <a:lstStyle/>
          <a:p>
            <a:pPr indent="0" marL="0">
              <a:buNone/>
            </a:pPr>
            <a:r>
              <a:rPr lang="en-US" sz="1450" b="1" dirty="0">
                <a:solidFill>
                  <a:srgbClr val="12233F"/>
                </a:solidFill>
                <a:latin typeface="Calibri" pitchFamily="34" charset="0"/>
                <a:ea typeface="Calibri" pitchFamily="34" charset="-122"/>
                <a:cs typeface="Calibri" pitchFamily="34" charset="-120"/>
              </a:rPr>
              <a:t>Evidence</a:t>
            </a:r>
            <a:endParaRPr lang="en-US" sz="1450" dirty="0"/>
          </a:p>
        </p:txBody>
      </p:sp>
      <p:sp>
        <p:nvSpPr>
          <p:cNvPr id="29" name="Text 22"/>
          <p:cNvSpPr/>
          <p:nvPr/>
        </p:nvSpPr>
        <p:spPr>
          <a:xfrm>
            <a:off x="8339328" y="2880360"/>
            <a:ext cx="3118104" cy="658368"/>
          </a:xfrm>
          <a:prstGeom prst="rect">
            <a:avLst/>
          </a:prstGeom>
          <a:noFill/>
          <a:ln/>
        </p:spPr>
        <p:txBody>
          <a:bodyPr wrap="square" lIns="0" tIns="0" rIns="0" bIns="0" rtlCol="0" anchor="t"/>
          <a:lstStyle/>
          <a:p>
            <a:pPr indent="0" marL="0">
              <a:buNone/>
            </a:pPr>
            <a:r>
              <a:rPr lang="en-US" sz="1100" dirty="0">
                <a:solidFill>
                  <a:srgbClr val="5B6B84"/>
                </a:solidFill>
                <a:latin typeface="Calibri" pitchFamily="34" charset="0"/>
                <a:ea typeface="Calibri" pitchFamily="34" charset="-122"/>
                <a:cs typeface="Calibri" pitchFamily="34" charset="-120"/>
              </a:rPr>
              <a:t>Verified complaint facts and internal notes. The model must test against these only.</a:t>
            </a:r>
            <a:endParaRPr lang="en-US" sz="1100" dirty="0"/>
          </a:p>
        </p:txBody>
      </p:sp>
      <p:sp>
        <p:nvSpPr>
          <p:cNvPr id="30" name="Shape 23"/>
          <p:cNvSpPr/>
          <p:nvPr/>
        </p:nvSpPr>
        <p:spPr>
          <a:xfrm>
            <a:off x="457200" y="3886200"/>
            <a:ext cx="11274552" cy="2331720"/>
          </a:xfrm>
          <a:prstGeom prst="roundRect">
            <a:avLst>
              <a:gd name="adj" fmla="val 3137"/>
            </a:avLst>
          </a:prstGeom>
          <a:solidFill>
            <a:srgbClr val="12233F"/>
          </a:solidFill>
          <a:ln/>
        </p:spPr>
      </p:sp>
      <p:sp>
        <p:nvSpPr>
          <p:cNvPr id="31" name="Shape 24"/>
          <p:cNvSpPr/>
          <p:nvPr/>
        </p:nvSpPr>
        <p:spPr>
          <a:xfrm>
            <a:off x="713232" y="4123944"/>
            <a:ext cx="420624" cy="420624"/>
          </a:xfrm>
          <a:prstGeom prst="ellipse">
            <a:avLst/>
          </a:prstGeom>
          <a:solidFill>
            <a:srgbClr val="0F8B8D"/>
          </a:solidFill>
          <a:ln/>
        </p:spPr>
      </p:sp>
      <p:pic>
        <p:nvPicPr>
          <p:cNvPr id="32" name="Image 5" descr="/home/claude/deck/icons/gavel.png">    </p:cNvPr>
          <p:cNvPicPr>
            <a:picLocks noChangeAspect="1"/>
          </p:cNvPicPr>
          <p:nvPr/>
        </p:nvPicPr>
        <p:blipFill>
          <a:blip r:embed="rId6"/>
          <a:stretch>
            <a:fillRect/>
          </a:stretch>
        </p:blipFill>
        <p:spPr>
          <a:xfrm>
            <a:off x="814182" y="4224894"/>
            <a:ext cx="218724" cy="218724"/>
          </a:xfrm>
          <a:prstGeom prst="rect">
            <a:avLst/>
          </a:prstGeom>
        </p:spPr>
      </p:pic>
      <p:sp>
        <p:nvSpPr>
          <p:cNvPr id="33" name="Text 25"/>
          <p:cNvSpPr/>
          <p:nvPr/>
        </p:nvSpPr>
        <p:spPr>
          <a:xfrm>
            <a:off x="1261872" y="4105656"/>
            <a:ext cx="5486400" cy="40233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Prompt pattern</a:t>
            </a:r>
            <a:endParaRPr lang="en-US" sz="1500" dirty="0"/>
          </a:p>
        </p:txBody>
      </p:sp>
      <p:sp>
        <p:nvSpPr>
          <p:cNvPr id="34" name="Shape 26"/>
          <p:cNvSpPr/>
          <p:nvPr/>
        </p:nvSpPr>
        <p:spPr>
          <a:xfrm>
            <a:off x="713232" y="4727448"/>
            <a:ext cx="310896" cy="310896"/>
          </a:xfrm>
          <a:prstGeom prst="roundRect">
            <a:avLst>
              <a:gd name="adj" fmla="val 50000"/>
            </a:avLst>
          </a:prstGeom>
          <a:solidFill>
            <a:srgbClr val="0F8B8D"/>
          </a:solidFill>
          <a:ln/>
        </p:spPr>
      </p:sp>
      <p:sp>
        <p:nvSpPr>
          <p:cNvPr id="35" name="Text 27"/>
          <p:cNvSpPr/>
          <p:nvPr/>
        </p:nvSpPr>
        <p:spPr>
          <a:xfrm>
            <a:off x="713232" y="472744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6" name="Text 28"/>
          <p:cNvSpPr/>
          <p:nvPr/>
        </p:nvSpPr>
        <p:spPr>
          <a:xfrm>
            <a:off x="1170432" y="4700016"/>
            <a:ext cx="10332720" cy="365760"/>
          </a:xfrm>
          <a:prstGeom prst="rect">
            <a:avLst/>
          </a:prstGeom>
          <a:noFill/>
          <a:ln/>
        </p:spPr>
        <p:txBody>
          <a:bodyPr wrap="square" lIns="0" tIns="0" rIns="0" bIns="0" rtlCol="0" anchor="ctr"/>
          <a:lstStyle/>
          <a:p>
            <a:pPr indent="0" marL="0">
              <a:buNone/>
            </a:pPr>
            <a:r>
              <a:rPr lang="en-US" sz="1300" dirty="0">
                <a:solidFill>
                  <a:srgbClr val="F2F5FA"/>
                </a:solidFill>
                <a:latin typeface="Calibri" pitchFamily="34" charset="0"/>
                <a:ea typeface="Calibri" pitchFamily="34" charset="-122"/>
                <a:cs typeface="Calibri" pitchFamily="34" charset="-120"/>
              </a:rPr>
              <a:t>Evaluate the candidate response against the verified facts.</a:t>
            </a:r>
            <a:endParaRPr lang="en-US" sz="1300" dirty="0"/>
          </a:p>
        </p:txBody>
      </p:sp>
      <p:sp>
        <p:nvSpPr>
          <p:cNvPr id="37" name="Shape 29"/>
          <p:cNvSpPr/>
          <p:nvPr/>
        </p:nvSpPr>
        <p:spPr>
          <a:xfrm>
            <a:off x="713232" y="5111496"/>
            <a:ext cx="310896" cy="310896"/>
          </a:xfrm>
          <a:prstGeom prst="roundRect">
            <a:avLst>
              <a:gd name="adj" fmla="val 50000"/>
            </a:avLst>
          </a:prstGeom>
          <a:solidFill>
            <a:srgbClr val="0F8B8D"/>
          </a:solidFill>
          <a:ln/>
        </p:spPr>
      </p:sp>
      <p:sp>
        <p:nvSpPr>
          <p:cNvPr id="38" name="Text 30"/>
          <p:cNvSpPr/>
          <p:nvPr/>
        </p:nvSpPr>
        <p:spPr>
          <a:xfrm>
            <a:off x="713232" y="511149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9" name="Text 31"/>
          <p:cNvSpPr/>
          <p:nvPr/>
        </p:nvSpPr>
        <p:spPr>
          <a:xfrm>
            <a:off x="1170432" y="5084064"/>
            <a:ext cx="10332720" cy="365760"/>
          </a:xfrm>
          <a:prstGeom prst="rect">
            <a:avLst/>
          </a:prstGeom>
          <a:noFill/>
          <a:ln/>
        </p:spPr>
        <p:txBody>
          <a:bodyPr wrap="square" lIns="0" tIns="0" rIns="0" bIns="0" rtlCol="0" anchor="ctr"/>
          <a:lstStyle/>
          <a:p>
            <a:pPr indent="0" marL="0">
              <a:buNone/>
            </a:pPr>
            <a:r>
              <a:rPr lang="en-US" sz="1300" dirty="0">
                <a:solidFill>
                  <a:srgbClr val="F2F5FA"/>
                </a:solidFill>
                <a:latin typeface="Calibri" pitchFamily="34" charset="0"/>
                <a:ea typeface="Calibri" pitchFamily="34" charset="-122"/>
                <a:cs typeface="Calibri" pitchFamily="34" charset="-120"/>
              </a:rPr>
              <a:t>Return a scorecard from 1–5 for each metric.</a:t>
            </a:r>
            <a:endParaRPr lang="en-US" sz="1300" dirty="0"/>
          </a:p>
        </p:txBody>
      </p:sp>
      <p:sp>
        <p:nvSpPr>
          <p:cNvPr id="40" name="Shape 32"/>
          <p:cNvSpPr/>
          <p:nvPr/>
        </p:nvSpPr>
        <p:spPr>
          <a:xfrm>
            <a:off x="713232" y="5495544"/>
            <a:ext cx="310896" cy="310896"/>
          </a:xfrm>
          <a:prstGeom prst="roundRect">
            <a:avLst>
              <a:gd name="adj" fmla="val 50000"/>
            </a:avLst>
          </a:prstGeom>
          <a:solidFill>
            <a:srgbClr val="0F8B8D"/>
          </a:solidFill>
          <a:ln/>
        </p:spPr>
      </p:sp>
      <p:sp>
        <p:nvSpPr>
          <p:cNvPr id="41" name="Text 33"/>
          <p:cNvSpPr/>
          <p:nvPr/>
        </p:nvSpPr>
        <p:spPr>
          <a:xfrm>
            <a:off x="713232" y="549554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2" name="Text 34"/>
          <p:cNvSpPr/>
          <p:nvPr/>
        </p:nvSpPr>
        <p:spPr>
          <a:xfrm>
            <a:off x="1170432" y="5468112"/>
            <a:ext cx="10332720" cy="365760"/>
          </a:xfrm>
          <a:prstGeom prst="rect">
            <a:avLst/>
          </a:prstGeom>
          <a:noFill/>
          <a:ln/>
        </p:spPr>
        <p:txBody>
          <a:bodyPr wrap="square" lIns="0" tIns="0" rIns="0" bIns="0" rtlCol="0" anchor="ctr"/>
          <a:lstStyle/>
          <a:p>
            <a:pPr indent="0" marL="0">
              <a:buNone/>
            </a:pPr>
            <a:r>
              <a:rPr lang="en-US" sz="1300" dirty="0">
                <a:solidFill>
                  <a:srgbClr val="F2F5FA"/>
                </a:solidFill>
                <a:latin typeface="Calibri" pitchFamily="34" charset="0"/>
                <a:ea typeface="Calibri" pitchFamily="34" charset="-122"/>
                <a:cs typeface="Calibri" pitchFamily="34" charset="-120"/>
              </a:rPr>
              <a:t>Identify unsupported claims, missing required points, tone issues, and safety risks.</a:t>
            </a:r>
            <a:endParaRPr lang="en-US" sz="1300" dirty="0"/>
          </a:p>
        </p:txBody>
      </p:sp>
      <p:sp>
        <p:nvSpPr>
          <p:cNvPr id="43" name="Shape 35"/>
          <p:cNvSpPr/>
          <p:nvPr/>
        </p:nvSpPr>
        <p:spPr>
          <a:xfrm>
            <a:off x="713232" y="5879592"/>
            <a:ext cx="310896" cy="310896"/>
          </a:xfrm>
          <a:prstGeom prst="roundRect">
            <a:avLst>
              <a:gd name="adj" fmla="val 50000"/>
            </a:avLst>
          </a:prstGeom>
          <a:solidFill>
            <a:srgbClr val="0F8B8D"/>
          </a:solidFill>
          <a:ln/>
        </p:spPr>
      </p:sp>
      <p:sp>
        <p:nvSpPr>
          <p:cNvPr id="44" name="Text 36"/>
          <p:cNvSpPr/>
          <p:nvPr/>
        </p:nvSpPr>
        <p:spPr>
          <a:xfrm>
            <a:off x="713232" y="58795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5" name="Text 37"/>
          <p:cNvSpPr/>
          <p:nvPr/>
        </p:nvSpPr>
        <p:spPr>
          <a:xfrm>
            <a:off x="1170432" y="5852160"/>
            <a:ext cx="10332720" cy="365760"/>
          </a:xfrm>
          <a:prstGeom prst="rect">
            <a:avLst/>
          </a:prstGeom>
          <a:noFill/>
          <a:ln/>
        </p:spPr>
        <p:txBody>
          <a:bodyPr wrap="square" lIns="0" tIns="0" rIns="0" bIns="0" rtlCol="0" anchor="ctr"/>
          <a:lstStyle/>
          <a:p>
            <a:pPr indent="0" marL="0">
              <a:buNone/>
            </a:pPr>
            <a:r>
              <a:rPr lang="en-US" sz="1300" dirty="0">
                <a:solidFill>
                  <a:srgbClr val="F2F5FA"/>
                </a:solidFill>
                <a:latin typeface="Calibri" pitchFamily="34" charset="0"/>
                <a:ea typeface="Calibri" pitchFamily="34" charset="-122"/>
                <a:cs typeface="Calibri" pitchFamily="34" charset="-120"/>
              </a:rPr>
              <a:t>Return Pass, Revise, or Reject with reasons.</a:t>
            </a:r>
            <a:endParaRPr lang="en-US" sz="1300" dirty="0"/>
          </a:p>
        </p:txBody>
      </p:sp>
      <p:sp>
        <p:nvSpPr>
          <p:cNvPr id="46" name="Text 38"/>
          <p:cNvSpPr/>
          <p:nvPr/>
        </p:nvSpPr>
        <p:spPr>
          <a:xfrm>
            <a:off x="457200" y="6547104"/>
            <a:ext cx="8229600" cy="274320"/>
          </a:xfrm>
          <a:prstGeom prst="rect">
            <a:avLst/>
          </a:prstGeom>
          <a:noFill/>
          <a:ln/>
        </p:spPr>
        <p:txBody>
          <a:bodyPr wrap="square" lIns="0" tIns="0" rIns="0" bIns="0" rtlCol="0" anchor="ctr"/>
          <a:lstStyle/>
          <a:p>
            <a:pPr algn="l" indent="0" marL="0">
              <a:buNone/>
            </a:pPr>
            <a:r>
              <a:rPr lang="en-US" sz="850" dirty="0">
                <a:solidFill>
                  <a:srgbClr val="5B6B84"/>
                </a:solidFill>
                <a:latin typeface="Calibri" pitchFamily="34" charset="0"/>
                <a:ea typeface="Calibri" pitchFamily="34" charset="-122"/>
                <a:cs typeface="Calibri" pitchFamily="34" charset="-120"/>
              </a:rPr>
              <a:t>PROMPT EVALUATION FRAMEWORK  •  SYNCHRONY TRAINING SIMULATION</a:t>
            </a:r>
            <a:endParaRPr lang="en-US" sz="850" dirty="0"/>
          </a:p>
        </p:txBody>
      </p:sp>
      <p:sp>
        <p:nvSpPr>
          <p:cNvPr id="47" name="Text 39"/>
          <p:cNvSpPr/>
          <p:nvPr/>
        </p:nvSpPr>
        <p:spPr>
          <a:xfrm>
            <a:off x="11274552" y="6547104"/>
            <a:ext cx="457200" cy="274320"/>
          </a:xfrm>
          <a:prstGeom prst="rect">
            <a:avLst/>
          </a:prstGeom>
          <a:noFill/>
          <a:ln/>
        </p:spPr>
        <p:txBody>
          <a:bodyPr wrap="square" lIns="0" tIns="0" rIns="0" bIns="0" rtlCol="0" anchor="ctr"/>
          <a:lstStyle/>
          <a:p>
            <a:pPr algn="r" indent="0" marL="0">
              <a:buNone/>
            </a:pPr>
            <a:r>
              <a:rPr lang="en-US" sz="850" dirty="0">
                <a:solidFill>
                  <a:srgbClr val="5B6B84"/>
                </a:solidFill>
                <a:latin typeface="Calibri" pitchFamily="34" charset="0"/>
                <a:ea typeface="Calibri" pitchFamily="34" charset="-122"/>
                <a:cs typeface="Calibri"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457200" y="347472"/>
            <a:ext cx="10058400" cy="274320"/>
          </a:xfrm>
          <a:prstGeom prst="rect">
            <a:avLst/>
          </a:prstGeom>
          <a:noFill/>
          <a:ln/>
        </p:spPr>
        <p:txBody>
          <a:bodyPr wrap="square" lIns="0" tIns="0" rIns="0" bIns="0" rtlCol="0" anchor="ctr"/>
          <a:lstStyle/>
          <a:p>
            <a:pPr indent="0" marL="0">
              <a:buNone/>
            </a:pPr>
            <a:r>
              <a:rPr lang="en-US" sz="1100" b="1" spc="150" kern="0" dirty="0">
                <a:solidFill>
                  <a:srgbClr val="0F8B8D"/>
                </a:solidFill>
                <a:latin typeface="Calibri" pitchFamily="34" charset="0"/>
                <a:ea typeface="Calibri" pitchFamily="34" charset="-122"/>
                <a:cs typeface="Calibri" pitchFamily="34" charset="-120"/>
              </a:rPr>
              <a:t>METRICS 1–4</a:t>
            </a:r>
            <a:endParaRPr lang="en-US" sz="1100" dirty="0"/>
          </a:p>
        </p:txBody>
      </p:sp>
      <p:sp>
        <p:nvSpPr>
          <p:cNvPr id="3" name="Text 1"/>
          <p:cNvSpPr/>
          <p:nvPr/>
        </p:nvSpPr>
        <p:spPr>
          <a:xfrm>
            <a:off x="457200" y="603504"/>
            <a:ext cx="11247120" cy="566928"/>
          </a:xfrm>
          <a:prstGeom prst="rect">
            <a:avLst/>
          </a:prstGeom>
          <a:noFill/>
          <a:ln/>
        </p:spPr>
        <p:txBody>
          <a:bodyPr wrap="square" lIns="0" tIns="0" rIns="0" bIns="0" rtlCol="0" anchor="ctr"/>
          <a:lstStyle/>
          <a:p>
            <a:pPr indent="0" marL="0">
              <a:buNone/>
            </a:pPr>
            <a:r>
              <a:rPr lang="en-US" sz="3000" b="1" dirty="0">
                <a:solidFill>
                  <a:srgbClr val="12233F"/>
                </a:solidFill>
                <a:latin typeface="Cambria" pitchFamily="34" charset="0"/>
                <a:ea typeface="Cambria" pitchFamily="34" charset="-122"/>
                <a:cs typeface="Cambria" pitchFamily="34" charset="-120"/>
              </a:rPr>
              <a:t>Truth and usefulness</a:t>
            </a:r>
            <a:endParaRPr lang="en-US" sz="3000" dirty="0"/>
          </a:p>
        </p:txBody>
      </p:sp>
      <p:sp>
        <p:nvSpPr>
          <p:cNvPr id="4" name="Text 2"/>
          <p:cNvSpPr/>
          <p:nvPr/>
        </p:nvSpPr>
        <p:spPr>
          <a:xfrm>
            <a:off x="457200" y="1170432"/>
            <a:ext cx="11247120" cy="365760"/>
          </a:xfrm>
          <a:prstGeom prst="rect">
            <a:avLst/>
          </a:prstGeom>
          <a:noFill/>
          <a:ln/>
        </p:spPr>
        <p:txBody>
          <a:bodyPr wrap="square" lIns="0" tIns="0" rIns="0" bIns="0" rtlCol="0" anchor="ctr"/>
          <a:lstStyle/>
          <a:p>
            <a:pPr indent="0" marL="0">
              <a:buNone/>
            </a:pPr>
            <a:r>
              <a:rPr lang="en-US" sz="1400" i="1" dirty="0">
                <a:solidFill>
                  <a:srgbClr val="5B6B84"/>
                </a:solidFill>
                <a:latin typeface="Calibri" pitchFamily="34" charset="0"/>
                <a:ea typeface="Calibri" pitchFamily="34" charset="-122"/>
                <a:cs typeface="Calibri" pitchFamily="34" charset="-120"/>
              </a:rPr>
              <a:t>These metrics determine whether the response is correct and useful.</a:t>
            </a:r>
            <a:endParaRPr lang="en-US" sz="1400" dirty="0"/>
          </a:p>
        </p:txBody>
      </p:sp>
      <p:sp>
        <p:nvSpPr>
          <p:cNvPr id="5" name="Shape 3"/>
          <p:cNvSpPr/>
          <p:nvPr/>
        </p:nvSpPr>
        <p:spPr>
          <a:xfrm>
            <a:off x="457200" y="1828800"/>
            <a:ext cx="2612898" cy="3383280"/>
          </a:xfrm>
          <a:prstGeom prst="roundRect">
            <a:avLst>
              <a:gd name="adj" fmla="val 2800"/>
            </a:avLst>
          </a:prstGeom>
          <a:solidFill>
            <a:srgbClr val="FFFFFF"/>
          </a:solidFill>
          <a:ln w="12700">
            <a:solidFill>
              <a:srgbClr val="E2E8F0"/>
            </a:solidFill>
            <a:prstDash val="solid"/>
          </a:ln>
        </p:spPr>
      </p:sp>
      <p:sp>
        <p:nvSpPr>
          <p:cNvPr id="6" name="Shape 4"/>
          <p:cNvSpPr/>
          <p:nvPr/>
        </p:nvSpPr>
        <p:spPr>
          <a:xfrm>
            <a:off x="658368" y="2029968"/>
            <a:ext cx="438912" cy="438912"/>
          </a:xfrm>
          <a:prstGeom prst="ellipse">
            <a:avLst/>
          </a:prstGeom>
          <a:solidFill>
            <a:srgbClr val="0F8B8D"/>
          </a:solidFill>
          <a:ln/>
        </p:spPr>
      </p:sp>
      <p:pic>
        <p:nvPicPr>
          <p:cNvPr id="7" name="Image 0" descr="/home/claude/deck/icons/target.png">    </p:cNvPr>
          <p:cNvPicPr>
            <a:picLocks noChangeAspect="1"/>
          </p:cNvPicPr>
          <p:nvPr/>
        </p:nvPicPr>
        <p:blipFill>
          <a:blip r:embed="rId1"/>
          <a:stretch>
            <a:fillRect/>
          </a:stretch>
        </p:blipFill>
        <p:spPr>
          <a:xfrm>
            <a:off x="763707" y="2135307"/>
            <a:ext cx="228234" cy="228234"/>
          </a:xfrm>
          <a:prstGeom prst="rect">
            <a:avLst/>
          </a:prstGeom>
        </p:spPr>
      </p:pic>
      <p:sp>
        <p:nvSpPr>
          <p:cNvPr id="8" name="Text 5"/>
          <p:cNvSpPr/>
          <p:nvPr/>
        </p:nvSpPr>
        <p:spPr>
          <a:xfrm>
            <a:off x="658368" y="2578608"/>
            <a:ext cx="2210562" cy="365760"/>
          </a:xfrm>
          <a:prstGeom prst="rect">
            <a:avLst/>
          </a:prstGeom>
          <a:noFill/>
          <a:ln/>
        </p:spPr>
        <p:txBody>
          <a:bodyPr wrap="square" lIns="0" tIns="0" rIns="0" bIns="0" rtlCol="0" anchor="ctr"/>
          <a:lstStyle/>
          <a:p>
            <a:pPr indent="0" marL="0">
              <a:buNone/>
            </a:pPr>
            <a:r>
              <a:rPr lang="en-US" sz="1450" b="1" dirty="0">
                <a:solidFill>
                  <a:srgbClr val="12233F"/>
                </a:solidFill>
                <a:latin typeface="Calibri" pitchFamily="34" charset="0"/>
                <a:ea typeface="Calibri" pitchFamily="34" charset="-122"/>
                <a:cs typeface="Calibri" pitchFamily="34" charset="-120"/>
              </a:rPr>
              <a:t>Accuracy</a:t>
            </a:r>
            <a:endParaRPr lang="en-US" sz="1450" dirty="0"/>
          </a:p>
        </p:txBody>
      </p:sp>
      <p:sp>
        <p:nvSpPr>
          <p:cNvPr id="9" name="Text 6"/>
          <p:cNvSpPr/>
          <p:nvPr/>
        </p:nvSpPr>
        <p:spPr>
          <a:xfrm>
            <a:off x="658368" y="2999232"/>
            <a:ext cx="2210562" cy="219456"/>
          </a:xfrm>
          <a:prstGeom prst="rect">
            <a:avLst/>
          </a:prstGeom>
          <a:noFill/>
          <a:ln/>
        </p:spPr>
        <p:txBody>
          <a:bodyPr wrap="square" lIns="0" tIns="0" rIns="0" bIns="0" rtlCol="0" anchor="ctr"/>
          <a:lstStyle/>
          <a:p>
            <a:pPr indent="0" marL="0">
              <a:buNone/>
            </a:pPr>
            <a:r>
              <a:rPr lang="en-US" sz="900" b="1" spc="50" kern="0" dirty="0">
                <a:solidFill>
                  <a:srgbClr val="0F8B8D"/>
                </a:solidFill>
                <a:latin typeface="Calibri" pitchFamily="34" charset="0"/>
                <a:ea typeface="Calibri" pitchFamily="34" charset="-122"/>
                <a:cs typeface="Calibri" pitchFamily="34" charset="-120"/>
              </a:rPr>
              <a:t>TEST</a:t>
            </a:r>
            <a:endParaRPr lang="en-US" sz="900" dirty="0"/>
          </a:p>
        </p:txBody>
      </p:sp>
      <p:sp>
        <p:nvSpPr>
          <p:cNvPr id="10" name="Text 7"/>
          <p:cNvSpPr/>
          <p:nvPr/>
        </p:nvSpPr>
        <p:spPr>
          <a:xfrm>
            <a:off x="658368" y="3218688"/>
            <a:ext cx="2210562" cy="566928"/>
          </a:xfrm>
          <a:prstGeom prst="rect">
            <a:avLst/>
          </a:prstGeom>
          <a:noFill/>
          <a:ln/>
        </p:spPr>
        <p:txBody>
          <a:bodyPr wrap="square" lIns="0" tIns="0" rIns="0" bIns="0" rtlCol="0" anchor="t"/>
          <a:lstStyle/>
          <a:p>
            <a:pPr indent="0" marL="0">
              <a:buNone/>
            </a:pPr>
            <a:r>
              <a:rPr lang="en-US" sz="1100" dirty="0">
                <a:solidFill>
                  <a:srgbClr val="1B2A41"/>
                </a:solidFill>
                <a:latin typeface="Calibri" pitchFamily="34" charset="0"/>
                <a:ea typeface="Calibri" pitchFamily="34" charset="-122"/>
                <a:cs typeface="Calibri" pitchFamily="34" charset="-120"/>
              </a:rPr>
              <a:t>Does every factual statement match verified data?</a:t>
            </a:r>
            <a:endParaRPr lang="en-US" sz="1100" dirty="0"/>
          </a:p>
        </p:txBody>
      </p:sp>
      <p:sp>
        <p:nvSpPr>
          <p:cNvPr id="11" name="Text 8"/>
          <p:cNvSpPr/>
          <p:nvPr/>
        </p:nvSpPr>
        <p:spPr>
          <a:xfrm>
            <a:off x="658368" y="3840480"/>
            <a:ext cx="2210562" cy="219456"/>
          </a:xfrm>
          <a:prstGeom prst="rect">
            <a:avLst/>
          </a:prstGeom>
          <a:noFill/>
          <a:ln/>
        </p:spPr>
        <p:txBody>
          <a:bodyPr wrap="square" lIns="0" tIns="0" rIns="0" bIns="0" rtlCol="0" anchor="ctr"/>
          <a:lstStyle/>
          <a:p>
            <a:pPr indent="0" marL="0">
              <a:buNone/>
            </a:pPr>
            <a:r>
              <a:rPr lang="en-US" sz="900" b="1" spc="50" kern="0" dirty="0">
                <a:solidFill>
                  <a:srgbClr val="0F8B8D"/>
                </a:solidFill>
                <a:latin typeface="Calibri" pitchFamily="34" charset="0"/>
                <a:ea typeface="Calibri" pitchFamily="34" charset="-122"/>
                <a:cs typeface="Calibri" pitchFamily="34" charset="-120"/>
              </a:rPr>
              <a:t>FAIL EXAMPLE</a:t>
            </a:r>
            <a:endParaRPr lang="en-US" sz="900" dirty="0"/>
          </a:p>
        </p:txBody>
      </p:sp>
      <p:sp>
        <p:nvSpPr>
          <p:cNvPr id="12" name="Text 9"/>
          <p:cNvSpPr/>
          <p:nvPr/>
        </p:nvSpPr>
        <p:spPr>
          <a:xfrm>
            <a:off x="658368" y="4059936"/>
            <a:ext cx="2210562" cy="548640"/>
          </a:xfrm>
          <a:prstGeom prst="rect">
            <a:avLst/>
          </a:prstGeom>
          <a:noFill/>
          <a:ln/>
        </p:spPr>
        <p:txBody>
          <a:bodyPr wrap="square" lIns="0" tIns="0" rIns="0" bIns="0" rtlCol="0" anchor="t"/>
          <a:lstStyle/>
          <a:p>
            <a:pPr indent="0" marL="0">
              <a:buNone/>
            </a:pPr>
            <a:r>
              <a:rPr lang="en-US" sz="1100" dirty="0">
                <a:solidFill>
                  <a:srgbClr val="C0392B"/>
                </a:solidFill>
                <a:latin typeface="Calibri" pitchFamily="34" charset="0"/>
                <a:ea typeface="Calibri" pitchFamily="34" charset="-122"/>
                <a:cs typeface="Calibri" pitchFamily="34" charset="-120"/>
              </a:rPr>
              <a:t>"Dispute approved" when status is only Open.</a:t>
            </a:r>
            <a:endParaRPr lang="en-US" sz="1100" dirty="0"/>
          </a:p>
        </p:txBody>
      </p:sp>
      <p:sp>
        <p:nvSpPr>
          <p:cNvPr id="13" name="Shape 10"/>
          <p:cNvSpPr/>
          <p:nvPr/>
        </p:nvSpPr>
        <p:spPr>
          <a:xfrm>
            <a:off x="3344418" y="1828800"/>
            <a:ext cx="2612898" cy="3383280"/>
          </a:xfrm>
          <a:prstGeom prst="roundRect">
            <a:avLst>
              <a:gd name="adj" fmla="val 2800"/>
            </a:avLst>
          </a:prstGeom>
          <a:solidFill>
            <a:srgbClr val="FFFFFF"/>
          </a:solidFill>
          <a:ln w="12700">
            <a:solidFill>
              <a:srgbClr val="E2E8F0"/>
            </a:solidFill>
            <a:prstDash val="solid"/>
          </a:ln>
        </p:spPr>
      </p:sp>
      <p:sp>
        <p:nvSpPr>
          <p:cNvPr id="14" name="Shape 11"/>
          <p:cNvSpPr/>
          <p:nvPr/>
        </p:nvSpPr>
        <p:spPr>
          <a:xfrm>
            <a:off x="3545586" y="2029968"/>
            <a:ext cx="438912" cy="438912"/>
          </a:xfrm>
          <a:prstGeom prst="ellipse">
            <a:avLst/>
          </a:prstGeom>
          <a:solidFill>
            <a:srgbClr val="0F8B8D"/>
          </a:solidFill>
          <a:ln/>
        </p:spPr>
      </p:sp>
      <p:pic>
        <p:nvPicPr>
          <p:cNvPr id="15" name="Image 1" descr="/home/claude/deck/icons/checkcircle.png">    </p:cNvPr>
          <p:cNvPicPr>
            <a:picLocks noChangeAspect="1"/>
          </p:cNvPicPr>
          <p:nvPr/>
        </p:nvPicPr>
        <p:blipFill>
          <a:blip r:embed="rId2"/>
          <a:stretch>
            <a:fillRect/>
          </a:stretch>
        </p:blipFill>
        <p:spPr>
          <a:xfrm>
            <a:off x="3650925" y="2135307"/>
            <a:ext cx="228234" cy="228234"/>
          </a:xfrm>
          <a:prstGeom prst="rect">
            <a:avLst/>
          </a:prstGeom>
        </p:spPr>
      </p:pic>
      <p:sp>
        <p:nvSpPr>
          <p:cNvPr id="16" name="Text 12"/>
          <p:cNvSpPr/>
          <p:nvPr/>
        </p:nvSpPr>
        <p:spPr>
          <a:xfrm>
            <a:off x="3545586" y="2578608"/>
            <a:ext cx="2210562" cy="365760"/>
          </a:xfrm>
          <a:prstGeom prst="rect">
            <a:avLst/>
          </a:prstGeom>
          <a:noFill/>
          <a:ln/>
        </p:spPr>
        <p:txBody>
          <a:bodyPr wrap="square" lIns="0" tIns="0" rIns="0" bIns="0" rtlCol="0" anchor="ctr"/>
          <a:lstStyle/>
          <a:p>
            <a:pPr indent="0" marL="0">
              <a:buNone/>
            </a:pPr>
            <a:r>
              <a:rPr lang="en-US" sz="1450" b="1" dirty="0">
                <a:solidFill>
                  <a:srgbClr val="12233F"/>
                </a:solidFill>
                <a:latin typeface="Calibri" pitchFamily="34" charset="0"/>
                <a:ea typeface="Calibri" pitchFamily="34" charset="-122"/>
                <a:cs typeface="Calibri" pitchFamily="34" charset="-120"/>
              </a:rPr>
              <a:t>Relevance</a:t>
            </a:r>
            <a:endParaRPr lang="en-US" sz="1450" dirty="0"/>
          </a:p>
        </p:txBody>
      </p:sp>
      <p:sp>
        <p:nvSpPr>
          <p:cNvPr id="17" name="Text 13"/>
          <p:cNvSpPr/>
          <p:nvPr/>
        </p:nvSpPr>
        <p:spPr>
          <a:xfrm>
            <a:off x="3545586" y="2999232"/>
            <a:ext cx="2210562" cy="219456"/>
          </a:xfrm>
          <a:prstGeom prst="rect">
            <a:avLst/>
          </a:prstGeom>
          <a:noFill/>
          <a:ln/>
        </p:spPr>
        <p:txBody>
          <a:bodyPr wrap="square" lIns="0" tIns="0" rIns="0" bIns="0" rtlCol="0" anchor="ctr"/>
          <a:lstStyle/>
          <a:p>
            <a:pPr indent="0" marL="0">
              <a:buNone/>
            </a:pPr>
            <a:r>
              <a:rPr lang="en-US" sz="900" b="1" spc="50" kern="0" dirty="0">
                <a:solidFill>
                  <a:srgbClr val="0F8B8D"/>
                </a:solidFill>
                <a:latin typeface="Calibri" pitchFamily="34" charset="0"/>
                <a:ea typeface="Calibri" pitchFamily="34" charset="-122"/>
                <a:cs typeface="Calibri" pitchFamily="34" charset="-120"/>
              </a:rPr>
              <a:t>TEST</a:t>
            </a:r>
            <a:endParaRPr lang="en-US" sz="900" dirty="0"/>
          </a:p>
        </p:txBody>
      </p:sp>
      <p:sp>
        <p:nvSpPr>
          <p:cNvPr id="18" name="Text 14"/>
          <p:cNvSpPr/>
          <p:nvPr/>
        </p:nvSpPr>
        <p:spPr>
          <a:xfrm>
            <a:off x="3545586" y="3218688"/>
            <a:ext cx="2210562" cy="457200"/>
          </a:xfrm>
          <a:prstGeom prst="rect">
            <a:avLst/>
          </a:prstGeom>
          <a:noFill/>
          <a:ln/>
        </p:spPr>
        <p:txBody>
          <a:bodyPr wrap="square" lIns="0" tIns="0" rIns="0" bIns="0" rtlCol="0" anchor="t"/>
          <a:lstStyle/>
          <a:p>
            <a:pPr indent="0" marL="0">
              <a:buNone/>
            </a:pPr>
            <a:r>
              <a:rPr lang="en-US" sz="1100" dirty="0">
                <a:solidFill>
                  <a:srgbClr val="1B2A41"/>
                </a:solidFill>
                <a:latin typeface="Calibri" pitchFamily="34" charset="0"/>
                <a:ea typeface="Calibri" pitchFamily="34" charset="-122"/>
                <a:cs typeface="Calibri" pitchFamily="34" charset="-120"/>
              </a:rPr>
              <a:t>Does it answer the customer request?</a:t>
            </a:r>
            <a:endParaRPr lang="en-US" sz="1100" dirty="0"/>
          </a:p>
        </p:txBody>
      </p:sp>
      <p:sp>
        <p:nvSpPr>
          <p:cNvPr id="19" name="Text 15"/>
          <p:cNvSpPr/>
          <p:nvPr/>
        </p:nvSpPr>
        <p:spPr>
          <a:xfrm>
            <a:off x="3545586" y="3730752"/>
            <a:ext cx="2210562" cy="219456"/>
          </a:xfrm>
          <a:prstGeom prst="rect">
            <a:avLst/>
          </a:prstGeom>
          <a:noFill/>
          <a:ln/>
        </p:spPr>
        <p:txBody>
          <a:bodyPr wrap="square" lIns="0" tIns="0" rIns="0" bIns="0" rtlCol="0" anchor="ctr"/>
          <a:lstStyle/>
          <a:p>
            <a:pPr indent="0" marL="0">
              <a:buNone/>
            </a:pPr>
            <a:r>
              <a:rPr lang="en-US" sz="900" b="1" spc="50" kern="0" dirty="0">
                <a:solidFill>
                  <a:srgbClr val="0F8B8D"/>
                </a:solidFill>
                <a:latin typeface="Calibri" pitchFamily="34" charset="0"/>
                <a:ea typeface="Calibri" pitchFamily="34" charset="-122"/>
                <a:cs typeface="Calibri" pitchFamily="34" charset="-120"/>
              </a:rPr>
              <a:t>MUST ADDRESS</a:t>
            </a:r>
            <a:endParaRPr lang="en-US" sz="900" dirty="0"/>
          </a:p>
        </p:txBody>
      </p:sp>
      <p:sp>
        <p:nvSpPr>
          <p:cNvPr id="20" name="Text 16"/>
          <p:cNvSpPr/>
          <p:nvPr/>
        </p:nvSpPr>
        <p:spPr>
          <a:xfrm>
            <a:off x="3545586" y="3950208"/>
            <a:ext cx="2210562" cy="777240"/>
          </a:xfrm>
          <a:prstGeom prst="rect">
            <a:avLst/>
          </a:prstGeom>
          <a:noFill/>
          <a:ln/>
        </p:spPr>
        <p:txBody>
          <a:bodyPr wrap="square" lIns="0" tIns="0" rIns="0" bIns="0" rtlCol="0" anchor="t"/>
          <a:lstStyle/>
          <a:p>
            <a:pPr indent="0" marL="0">
              <a:buNone/>
            </a:pPr>
            <a:r>
              <a:rPr lang="en-US" sz="1100" dirty="0">
                <a:solidFill>
                  <a:srgbClr val="1B2A41"/>
                </a:solidFill>
                <a:latin typeface="Calibri" pitchFamily="34" charset="0"/>
                <a:ea typeface="Calibri" pitchFamily="34" charset="-122"/>
                <a:cs typeface="Calibri" pitchFamily="34" charset="-120"/>
              </a:rPr>
              <a:t>Dispute status, payment question, update request, and escalation concern.</a:t>
            </a:r>
            <a:endParaRPr lang="en-US" sz="1100" dirty="0"/>
          </a:p>
        </p:txBody>
      </p:sp>
      <p:sp>
        <p:nvSpPr>
          <p:cNvPr id="21" name="Shape 17"/>
          <p:cNvSpPr/>
          <p:nvPr/>
        </p:nvSpPr>
        <p:spPr>
          <a:xfrm>
            <a:off x="6231636" y="1828800"/>
            <a:ext cx="2612898" cy="3383280"/>
          </a:xfrm>
          <a:prstGeom prst="roundRect">
            <a:avLst>
              <a:gd name="adj" fmla="val 2800"/>
            </a:avLst>
          </a:prstGeom>
          <a:solidFill>
            <a:srgbClr val="FFFFFF"/>
          </a:solidFill>
          <a:ln w="12700">
            <a:solidFill>
              <a:srgbClr val="E2E8F0"/>
            </a:solidFill>
            <a:prstDash val="solid"/>
          </a:ln>
        </p:spPr>
      </p:sp>
      <p:sp>
        <p:nvSpPr>
          <p:cNvPr id="22" name="Shape 18"/>
          <p:cNvSpPr/>
          <p:nvPr/>
        </p:nvSpPr>
        <p:spPr>
          <a:xfrm>
            <a:off x="6432804" y="2029968"/>
            <a:ext cx="438912" cy="438912"/>
          </a:xfrm>
          <a:prstGeom prst="ellipse">
            <a:avLst/>
          </a:prstGeom>
          <a:solidFill>
            <a:srgbClr val="0F8B8D"/>
          </a:solidFill>
          <a:ln/>
        </p:spPr>
      </p:sp>
      <p:pic>
        <p:nvPicPr>
          <p:cNvPr id="23" name="Image 2" descr="/home/claude/deck/icons/listchecks.png">    </p:cNvPr>
          <p:cNvPicPr>
            <a:picLocks noChangeAspect="1"/>
          </p:cNvPicPr>
          <p:nvPr/>
        </p:nvPicPr>
        <p:blipFill>
          <a:blip r:embed="rId3"/>
          <a:stretch>
            <a:fillRect/>
          </a:stretch>
        </p:blipFill>
        <p:spPr>
          <a:xfrm>
            <a:off x="6538143" y="2135307"/>
            <a:ext cx="228234" cy="228234"/>
          </a:xfrm>
          <a:prstGeom prst="rect">
            <a:avLst/>
          </a:prstGeom>
        </p:spPr>
      </p:pic>
      <p:sp>
        <p:nvSpPr>
          <p:cNvPr id="24" name="Text 19"/>
          <p:cNvSpPr/>
          <p:nvPr/>
        </p:nvSpPr>
        <p:spPr>
          <a:xfrm>
            <a:off x="6432804" y="2578608"/>
            <a:ext cx="2210562" cy="365760"/>
          </a:xfrm>
          <a:prstGeom prst="rect">
            <a:avLst/>
          </a:prstGeom>
          <a:noFill/>
          <a:ln/>
        </p:spPr>
        <p:txBody>
          <a:bodyPr wrap="square" lIns="0" tIns="0" rIns="0" bIns="0" rtlCol="0" anchor="ctr"/>
          <a:lstStyle/>
          <a:p>
            <a:pPr indent="0" marL="0">
              <a:buNone/>
            </a:pPr>
            <a:r>
              <a:rPr lang="en-US" sz="1450" b="1" dirty="0">
                <a:solidFill>
                  <a:srgbClr val="12233F"/>
                </a:solidFill>
                <a:latin typeface="Calibri" pitchFamily="34" charset="0"/>
                <a:ea typeface="Calibri" pitchFamily="34" charset="-122"/>
                <a:cs typeface="Calibri" pitchFamily="34" charset="-120"/>
              </a:rPr>
              <a:t>Completeness</a:t>
            </a:r>
            <a:endParaRPr lang="en-US" sz="1450" dirty="0"/>
          </a:p>
        </p:txBody>
      </p:sp>
      <p:sp>
        <p:nvSpPr>
          <p:cNvPr id="25" name="Text 20"/>
          <p:cNvSpPr/>
          <p:nvPr/>
        </p:nvSpPr>
        <p:spPr>
          <a:xfrm>
            <a:off x="6432804" y="2999232"/>
            <a:ext cx="2210562" cy="219456"/>
          </a:xfrm>
          <a:prstGeom prst="rect">
            <a:avLst/>
          </a:prstGeom>
          <a:noFill/>
          <a:ln/>
        </p:spPr>
        <p:txBody>
          <a:bodyPr wrap="square" lIns="0" tIns="0" rIns="0" bIns="0" rtlCol="0" anchor="ctr"/>
          <a:lstStyle/>
          <a:p>
            <a:pPr indent="0" marL="0">
              <a:buNone/>
            </a:pPr>
            <a:r>
              <a:rPr lang="en-US" sz="900" b="1" spc="50" kern="0" dirty="0">
                <a:solidFill>
                  <a:srgbClr val="0F8B8D"/>
                </a:solidFill>
                <a:latin typeface="Calibri" pitchFamily="34" charset="0"/>
                <a:ea typeface="Calibri" pitchFamily="34" charset="-122"/>
                <a:cs typeface="Calibri" pitchFamily="34" charset="-120"/>
              </a:rPr>
              <a:t>TEST</a:t>
            </a:r>
            <a:endParaRPr lang="en-US" sz="900" dirty="0"/>
          </a:p>
        </p:txBody>
      </p:sp>
      <p:sp>
        <p:nvSpPr>
          <p:cNvPr id="26" name="Text 21"/>
          <p:cNvSpPr/>
          <p:nvPr/>
        </p:nvSpPr>
        <p:spPr>
          <a:xfrm>
            <a:off x="6432804" y="3218688"/>
            <a:ext cx="2210562" cy="457200"/>
          </a:xfrm>
          <a:prstGeom prst="rect">
            <a:avLst/>
          </a:prstGeom>
          <a:noFill/>
          <a:ln/>
        </p:spPr>
        <p:txBody>
          <a:bodyPr wrap="square" lIns="0" tIns="0" rIns="0" bIns="0" rtlCol="0" anchor="t"/>
          <a:lstStyle/>
          <a:p>
            <a:pPr indent="0" marL="0">
              <a:buNone/>
            </a:pPr>
            <a:r>
              <a:rPr lang="en-US" sz="1100" dirty="0">
                <a:solidFill>
                  <a:srgbClr val="1B2A41"/>
                </a:solidFill>
                <a:latin typeface="Calibri" pitchFamily="34" charset="0"/>
                <a:ea typeface="Calibri" pitchFamily="34" charset="-122"/>
                <a:cs typeface="Calibri" pitchFamily="34" charset="-120"/>
              </a:rPr>
              <a:t>Are all required points covered?</a:t>
            </a:r>
            <a:endParaRPr lang="en-US" sz="1100" dirty="0"/>
          </a:p>
        </p:txBody>
      </p:sp>
      <p:sp>
        <p:nvSpPr>
          <p:cNvPr id="27" name="Text 22"/>
          <p:cNvSpPr/>
          <p:nvPr/>
        </p:nvSpPr>
        <p:spPr>
          <a:xfrm>
            <a:off x="6432804" y="3730752"/>
            <a:ext cx="2210562" cy="219456"/>
          </a:xfrm>
          <a:prstGeom prst="rect">
            <a:avLst/>
          </a:prstGeom>
          <a:noFill/>
          <a:ln/>
        </p:spPr>
        <p:txBody>
          <a:bodyPr wrap="square" lIns="0" tIns="0" rIns="0" bIns="0" rtlCol="0" anchor="ctr"/>
          <a:lstStyle/>
          <a:p>
            <a:pPr indent="0" marL="0">
              <a:buNone/>
            </a:pPr>
            <a:r>
              <a:rPr lang="en-US" sz="900" b="1" spc="50" kern="0" dirty="0">
                <a:solidFill>
                  <a:srgbClr val="0F8B8D"/>
                </a:solidFill>
                <a:latin typeface="Calibri" pitchFamily="34" charset="0"/>
                <a:ea typeface="Calibri" pitchFamily="34" charset="-122"/>
                <a:cs typeface="Calibri" pitchFamily="34" charset="-120"/>
              </a:rPr>
              <a:t>CHECKLIST</a:t>
            </a:r>
            <a:endParaRPr lang="en-US" sz="900" dirty="0"/>
          </a:p>
        </p:txBody>
      </p:sp>
      <p:sp>
        <p:nvSpPr>
          <p:cNvPr id="28" name="Text 23"/>
          <p:cNvSpPr/>
          <p:nvPr/>
        </p:nvSpPr>
        <p:spPr>
          <a:xfrm>
            <a:off x="6432804" y="3950208"/>
            <a:ext cx="2210562" cy="777240"/>
          </a:xfrm>
          <a:prstGeom prst="rect">
            <a:avLst/>
          </a:prstGeom>
          <a:noFill/>
          <a:ln/>
        </p:spPr>
        <p:txBody>
          <a:bodyPr wrap="square" lIns="0" tIns="0" rIns="0" bIns="0" rtlCol="0" anchor="t"/>
          <a:lstStyle/>
          <a:p>
            <a:pPr indent="0" marL="0">
              <a:buNone/>
            </a:pPr>
            <a:r>
              <a:rPr lang="en-US" sz="1100" dirty="0">
                <a:solidFill>
                  <a:srgbClr val="1B2A41"/>
                </a:solidFill>
                <a:latin typeface="Calibri" pitchFamily="34" charset="0"/>
                <a:ea typeface="Calibri" pitchFamily="34" charset="-122"/>
                <a:cs typeface="Calibri" pitchFamily="34" charset="-120"/>
              </a:rPr>
              <a:t>Acknowledge, status, missing guidance, human review, no promises.</a:t>
            </a:r>
            <a:endParaRPr lang="en-US" sz="1100" dirty="0"/>
          </a:p>
        </p:txBody>
      </p:sp>
      <p:sp>
        <p:nvSpPr>
          <p:cNvPr id="29" name="Shape 24"/>
          <p:cNvSpPr/>
          <p:nvPr/>
        </p:nvSpPr>
        <p:spPr>
          <a:xfrm>
            <a:off x="9118854" y="1828800"/>
            <a:ext cx="2612898" cy="3383280"/>
          </a:xfrm>
          <a:prstGeom prst="roundRect">
            <a:avLst>
              <a:gd name="adj" fmla="val 2800"/>
            </a:avLst>
          </a:prstGeom>
          <a:solidFill>
            <a:srgbClr val="FFFFFF"/>
          </a:solidFill>
          <a:ln w="12700">
            <a:solidFill>
              <a:srgbClr val="E2E8F0"/>
            </a:solidFill>
            <a:prstDash val="solid"/>
          </a:ln>
        </p:spPr>
      </p:sp>
      <p:sp>
        <p:nvSpPr>
          <p:cNvPr id="30" name="Shape 25"/>
          <p:cNvSpPr/>
          <p:nvPr/>
        </p:nvSpPr>
        <p:spPr>
          <a:xfrm>
            <a:off x="9320022" y="2029968"/>
            <a:ext cx="438912" cy="438912"/>
          </a:xfrm>
          <a:prstGeom prst="ellipse">
            <a:avLst/>
          </a:prstGeom>
          <a:solidFill>
            <a:srgbClr val="0F8B8D"/>
          </a:solidFill>
          <a:ln/>
        </p:spPr>
      </p:sp>
      <p:pic>
        <p:nvPicPr>
          <p:cNvPr id="31" name="Image 3" descr="/home/claude/deck/icons/anchor.png">    </p:cNvPr>
          <p:cNvPicPr>
            <a:picLocks noChangeAspect="1"/>
          </p:cNvPicPr>
          <p:nvPr/>
        </p:nvPicPr>
        <p:blipFill>
          <a:blip r:embed="rId4"/>
          <a:stretch>
            <a:fillRect/>
          </a:stretch>
        </p:blipFill>
        <p:spPr>
          <a:xfrm>
            <a:off x="9425361" y="2135307"/>
            <a:ext cx="228234" cy="228234"/>
          </a:xfrm>
          <a:prstGeom prst="rect">
            <a:avLst/>
          </a:prstGeom>
        </p:spPr>
      </p:pic>
      <p:sp>
        <p:nvSpPr>
          <p:cNvPr id="32" name="Text 26"/>
          <p:cNvSpPr/>
          <p:nvPr/>
        </p:nvSpPr>
        <p:spPr>
          <a:xfrm>
            <a:off x="9320022" y="2578608"/>
            <a:ext cx="2210562" cy="365760"/>
          </a:xfrm>
          <a:prstGeom prst="rect">
            <a:avLst/>
          </a:prstGeom>
          <a:noFill/>
          <a:ln/>
        </p:spPr>
        <p:txBody>
          <a:bodyPr wrap="square" lIns="0" tIns="0" rIns="0" bIns="0" rtlCol="0" anchor="ctr"/>
          <a:lstStyle/>
          <a:p>
            <a:pPr indent="0" marL="0">
              <a:buNone/>
            </a:pPr>
            <a:r>
              <a:rPr lang="en-US" sz="1450" b="1" dirty="0">
                <a:solidFill>
                  <a:srgbClr val="12233F"/>
                </a:solidFill>
                <a:latin typeface="Calibri" pitchFamily="34" charset="0"/>
                <a:ea typeface="Calibri" pitchFamily="34" charset="-122"/>
                <a:cs typeface="Calibri" pitchFamily="34" charset="-120"/>
              </a:rPr>
              <a:t>Groundedness</a:t>
            </a:r>
            <a:endParaRPr lang="en-US" sz="1450" dirty="0"/>
          </a:p>
        </p:txBody>
      </p:sp>
      <p:sp>
        <p:nvSpPr>
          <p:cNvPr id="33" name="Text 27"/>
          <p:cNvSpPr/>
          <p:nvPr/>
        </p:nvSpPr>
        <p:spPr>
          <a:xfrm>
            <a:off x="9320022" y="2999232"/>
            <a:ext cx="2210562" cy="219456"/>
          </a:xfrm>
          <a:prstGeom prst="rect">
            <a:avLst/>
          </a:prstGeom>
          <a:noFill/>
          <a:ln/>
        </p:spPr>
        <p:txBody>
          <a:bodyPr wrap="square" lIns="0" tIns="0" rIns="0" bIns="0" rtlCol="0" anchor="ctr"/>
          <a:lstStyle/>
          <a:p>
            <a:pPr indent="0" marL="0">
              <a:buNone/>
            </a:pPr>
            <a:r>
              <a:rPr lang="en-US" sz="900" b="1" spc="50" kern="0" dirty="0">
                <a:solidFill>
                  <a:srgbClr val="0F8B8D"/>
                </a:solidFill>
                <a:latin typeface="Calibri" pitchFamily="34" charset="0"/>
                <a:ea typeface="Calibri" pitchFamily="34" charset="-122"/>
                <a:cs typeface="Calibri" pitchFamily="34" charset="-120"/>
              </a:rPr>
              <a:t>TEST</a:t>
            </a:r>
            <a:endParaRPr lang="en-US" sz="900" dirty="0"/>
          </a:p>
        </p:txBody>
      </p:sp>
      <p:sp>
        <p:nvSpPr>
          <p:cNvPr id="34" name="Text 28"/>
          <p:cNvSpPr/>
          <p:nvPr/>
        </p:nvSpPr>
        <p:spPr>
          <a:xfrm>
            <a:off x="9320022" y="3218688"/>
            <a:ext cx="2210562" cy="566928"/>
          </a:xfrm>
          <a:prstGeom prst="rect">
            <a:avLst/>
          </a:prstGeom>
          <a:noFill/>
          <a:ln/>
        </p:spPr>
        <p:txBody>
          <a:bodyPr wrap="square" lIns="0" tIns="0" rIns="0" bIns="0" rtlCol="0" anchor="t"/>
          <a:lstStyle/>
          <a:p>
            <a:pPr indent="0" marL="0">
              <a:buNone/>
            </a:pPr>
            <a:r>
              <a:rPr lang="en-US" sz="1100" dirty="0">
                <a:solidFill>
                  <a:srgbClr val="1B2A41"/>
                </a:solidFill>
                <a:latin typeface="Calibri" pitchFamily="34" charset="0"/>
                <a:ea typeface="Calibri" pitchFamily="34" charset="-122"/>
                <a:cs typeface="Calibri" pitchFamily="34" charset="-120"/>
              </a:rPr>
              <a:t>Can each claim be traced to the provided source?</a:t>
            </a:r>
            <a:endParaRPr lang="en-US" sz="1100" dirty="0"/>
          </a:p>
        </p:txBody>
      </p:sp>
      <p:sp>
        <p:nvSpPr>
          <p:cNvPr id="35" name="Text 29"/>
          <p:cNvSpPr/>
          <p:nvPr/>
        </p:nvSpPr>
        <p:spPr>
          <a:xfrm>
            <a:off x="9320022" y="3840480"/>
            <a:ext cx="2210562" cy="219456"/>
          </a:xfrm>
          <a:prstGeom prst="rect">
            <a:avLst/>
          </a:prstGeom>
          <a:noFill/>
          <a:ln/>
        </p:spPr>
        <p:txBody>
          <a:bodyPr wrap="square" lIns="0" tIns="0" rIns="0" bIns="0" rtlCol="0" anchor="ctr"/>
          <a:lstStyle/>
          <a:p>
            <a:pPr indent="0" marL="0">
              <a:buNone/>
            </a:pPr>
            <a:r>
              <a:rPr lang="en-US" sz="900" b="1" spc="50" kern="0" dirty="0">
                <a:solidFill>
                  <a:srgbClr val="0F8B8D"/>
                </a:solidFill>
                <a:latin typeface="Calibri" pitchFamily="34" charset="0"/>
                <a:ea typeface="Calibri" pitchFamily="34" charset="-122"/>
                <a:cs typeface="Calibri" pitchFamily="34" charset="-120"/>
              </a:rPr>
              <a:t>RULE</a:t>
            </a:r>
            <a:endParaRPr lang="en-US" sz="900" dirty="0"/>
          </a:p>
        </p:txBody>
      </p:sp>
      <p:sp>
        <p:nvSpPr>
          <p:cNvPr id="36" name="Text 30"/>
          <p:cNvSpPr/>
          <p:nvPr/>
        </p:nvSpPr>
        <p:spPr>
          <a:xfrm>
            <a:off x="9320022" y="4059936"/>
            <a:ext cx="2210562" cy="548640"/>
          </a:xfrm>
          <a:prstGeom prst="rect">
            <a:avLst/>
          </a:prstGeom>
          <a:noFill/>
          <a:ln/>
        </p:spPr>
        <p:txBody>
          <a:bodyPr wrap="square" lIns="0" tIns="0" rIns="0" bIns="0" rtlCol="0" anchor="t"/>
          <a:lstStyle/>
          <a:p>
            <a:pPr indent="0" marL="0">
              <a:buNone/>
            </a:pPr>
            <a:r>
              <a:rPr lang="en-US" sz="1100" dirty="0">
                <a:solidFill>
                  <a:srgbClr val="C0392B"/>
                </a:solidFill>
                <a:latin typeface="Calibri" pitchFamily="34" charset="0"/>
                <a:ea typeface="Calibri" pitchFamily="34" charset="-122"/>
                <a:cs typeface="Calibri" pitchFamily="34" charset="-120"/>
              </a:rPr>
              <a:t>Unsupported claims are counted as hallucinations.</a:t>
            </a:r>
            <a:endParaRPr lang="en-US" sz="1100" dirty="0"/>
          </a:p>
        </p:txBody>
      </p:sp>
      <p:sp>
        <p:nvSpPr>
          <p:cNvPr id="37" name="Text 31"/>
          <p:cNvSpPr/>
          <p:nvPr/>
        </p:nvSpPr>
        <p:spPr>
          <a:xfrm>
            <a:off x="457200" y="6547104"/>
            <a:ext cx="8229600" cy="274320"/>
          </a:xfrm>
          <a:prstGeom prst="rect">
            <a:avLst/>
          </a:prstGeom>
          <a:noFill/>
          <a:ln/>
        </p:spPr>
        <p:txBody>
          <a:bodyPr wrap="square" lIns="0" tIns="0" rIns="0" bIns="0" rtlCol="0" anchor="ctr"/>
          <a:lstStyle/>
          <a:p>
            <a:pPr algn="l" indent="0" marL="0">
              <a:buNone/>
            </a:pPr>
            <a:r>
              <a:rPr lang="en-US" sz="850" dirty="0">
                <a:solidFill>
                  <a:srgbClr val="5B6B84"/>
                </a:solidFill>
                <a:latin typeface="Calibri" pitchFamily="34" charset="0"/>
                <a:ea typeface="Calibri" pitchFamily="34" charset="-122"/>
                <a:cs typeface="Calibri" pitchFamily="34" charset="-120"/>
              </a:rPr>
              <a:t>PROMPT EVALUATION FRAMEWORK  •  SYNCHRONY TRAINING SIMULATION</a:t>
            </a:r>
            <a:endParaRPr lang="en-US" sz="850" dirty="0"/>
          </a:p>
        </p:txBody>
      </p:sp>
      <p:sp>
        <p:nvSpPr>
          <p:cNvPr id="38" name="Text 32"/>
          <p:cNvSpPr/>
          <p:nvPr/>
        </p:nvSpPr>
        <p:spPr>
          <a:xfrm>
            <a:off x="11274552" y="6547104"/>
            <a:ext cx="457200" cy="274320"/>
          </a:xfrm>
          <a:prstGeom prst="rect">
            <a:avLst/>
          </a:prstGeom>
          <a:noFill/>
          <a:ln/>
        </p:spPr>
        <p:txBody>
          <a:bodyPr wrap="square" lIns="0" tIns="0" rIns="0" bIns="0" rtlCol="0" anchor="ctr"/>
          <a:lstStyle/>
          <a:p>
            <a:pPr algn="r" indent="0" marL="0">
              <a:buNone/>
            </a:pPr>
            <a:r>
              <a:rPr lang="en-US" sz="850" dirty="0">
                <a:solidFill>
                  <a:srgbClr val="5B6B84"/>
                </a:solidFill>
                <a:latin typeface="Calibri" pitchFamily="34" charset="0"/>
                <a:ea typeface="Calibri" pitchFamily="34" charset="-122"/>
                <a:cs typeface="Calibri"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457200" y="347472"/>
            <a:ext cx="10058400" cy="274320"/>
          </a:xfrm>
          <a:prstGeom prst="rect">
            <a:avLst/>
          </a:prstGeom>
          <a:noFill/>
          <a:ln/>
        </p:spPr>
        <p:txBody>
          <a:bodyPr wrap="square" lIns="0" tIns="0" rIns="0" bIns="0" rtlCol="0" anchor="ctr"/>
          <a:lstStyle/>
          <a:p>
            <a:pPr indent="0" marL="0">
              <a:buNone/>
            </a:pPr>
            <a:r>
              <a:rPr lang="en-US" sz="1100" b="1" spc="150" kern="0" dirty="0">
                <a:solidFill>
                  <a:srgbClr val="0F8B8D"/>
                </a:solidFill>
                <a:latin typeface="Calibri" pitchFamily="34" charset="0"/>
                <a:ea typeface="Calibri" pitchFamily="34" charset="-122"/>
                <a:cs typeface="Calibri" pitchFamily="34" charset="-120"/>
              </a:rPr>
              <a:t>METRICS 5–7</a:t>
            </a:r>
            <a:endParaRPr lang="en-US" sz="1100" dirty="0"/>
          </a:p>
        </p:txBody>
      </p:sp>
      <p:sp>
        <p:nvSpPr>
          <p:cNvPr id="3" name="Text 1"/>
          <p:cNvSpPr/>
          <p:nvPr/>
        </p:nvSpPr>
        <p:spPr>
          <a:xfrm>
            <a:off x="457200" y="603504"/>
            <a:ext cx="11247120" cy="566928"/>
          </a:xfrm>
          <a:prstGeom prst="rect">
            <a:avLst/>
          </a:prstGeom>
          <a:noFill/>
          <a:ln/>
        </p:spPr>
        <p:txBody>
          <a:bodyPr wrap="square" lIns="0" tIns="0" rIns="0" bIns="0" rtlCol="0" anchor="ctr"/>
          <a:lstStyle/>
          <a:p>
            <a:pPr indent="0" marL="0">
              <a:buNone/>
            </a:pPr>
            <a:r>
              <a:rPr lang="en-US" sz="3000" b="1" dirty="0">
                <a:solidFill>
                  <a:srgbClr val="12233F"/>
                </a:solidFill>
                <a:latin typeface="Cambria" pitchFamily="34" charset="0"/>
                <a:ea typeface="Cambria" pitchFamily="34" charset="-122"/>
                <a:cs typeface="Cambria" pitchFamily="34" charset="-120"/>
              </a:rPr>
              <a:t>Repeatability and structure</a:t>
            </a:r>
            <a:endParaRPr lang="en-US" sz="3000" dirty="0"/>
          </a:p>
        </p:txBody>
      </p:sp>
      <p:sp>
        <p:nvSpPr>
          <p:cNvPr id="4" name="Text 2"/>
          <p:cNvSpPr/>
          <p:nvPr/>
        </p:nvSpPr>
        <p:spPr>
          <a:xfrm>
            <a:off x="457200" y="1170432"/>
            <a:ext cx="11247120" cy="365760"/>
          </a:xfrm>
          <a:prstGeom prst="rect">
            <a:avLst/>
          </a:prstGeom>
          <a:noFill/>
          <a:ln/>
        </p:spPr>
        <p:txBody>
          <a:bodyPr wrap="square" lIns="0" tIns="0" rIns="0" bIns="0" rtlCol="0" anchor="ctr"/>
          <a:lstStyle/>
          <a:p>
            <a:pPr indent="0" marL="0">
              <a:buNone/>
            </a:pPr>
            <a:r>
              <a:rPr lang="en-US" sz="1400" i="1" dirty="0">
                <a:solidFill>
                  <a:srgbClr val="5B6B84"/>
                </a:solidFill>
                <a:latin typeface="Calibri" pitchFamily="34" charset="0"/>
                <a:ea typeface="Calibri" pitchFamily="34" charset="-122"/>
                <a:cs typeface="Calibri" pitchFamily="34" charset="-120"/>
              </a:rPr>
              <a:t>These metrics help compare prompt versions and control output shape.</a:t>
            </a:r>
            <a:endParaRPr lang="en-US" sz="1400" dirty="0"/>
          </a:p>
        </p:txBody>
      </p:sp>
      <p:sp>
        <p:nvSpPr>
          <p:cNvPr id="5" name="Shape 3"/>
          <p:cNvSpPr/>
          <p:nvPr/>
        </p:nvSpPr>
        <p:spPr>
          <a:xfrm>
            <a:off x="457200" y="1828800"/>
            <a:ext cx="3575304" cy="2697480"/>
          </a:xfrm>
          <a:prstGeom prst="roundRect">
            <a:avLst>
              <a:gd name="adj" fmla="val 2712"/>
            </a:avLst>
          </a:prstGeom>
          <a:solidFill>
            <a:srgbClr val="FFFFFF"/>
          </a:solidFill>
          <a:ln w="12700">
            <a:solidFill>
              <a:srgbClr val="E2E8F0"/>
            </a:solidFill>
            <a:prstDash val="solid"/>
          </a:ln>
        </p:spPr>
      </p:sp>
      <p:sp>
        <p:nvSpPr>
          <p:cNvPr id="6" name="Shape 4"/>
          <p:cNvSpPr/>
          <p:nvPr/>
        </p:nvSpPr>
        <p:spPr>
          <a:xfrm>
            <a:off x="658368" y="2029968"/>
            <a:ext cx="438912" cy="438912"/>
          </a:xfrm>
          <a:prstGeom prst="ellipse">
            <a:avLst/>
          </a:prstGeom>
          <a:solidFill>
            <a:srgbClr val="0F8B8D"/>
          </a:solidFill>
          <a:ln/>
        </p:spPr>
      </p:sp>
      <p:pic>
        <p:nvPicPr>
          <p:cNvPr id="7" name="Image 0" descr="/home/claude/deck/icons/refresh.png">    </p:cNvPr>
          <p:cNvPicPr>
            <a:picLocks noChangeAspect="1"/>
          </p:cNvPicPr>
          <p:nvPr/>
        </p:nvPicPr>
        <p:blipFill>
          <a:blip r:embed="rId1"/>
          <a:stretch>
            <a:fillRect/>
          </a:stretch>
        </p:blipFill>
        <p:spPr>
          <a:xfrm>
            <a:off x="763707" y="2135307"/>
            <a:ext cx="228234" cy="228234"/>
          </a:xfrm>
          <a:prstGeom prst="rect">
            <a:avLst/>
          </a:prstGeom>
        </p:spPr>
      </p:pic>
      <p:sp>
        <p:nvSpPr>
          <p:cNvPr id="8" name="Text 5"/>
          <p:cNvSpPr/>
          <p:nvPr/>
        </p:nvSpPr>
        <p:spPr>
          <a:xfrm>
            <a:off x="658368" y="2578608"/>
            <a:ext cx="3172968" cy="365760"/>
          </a:xfrm>
          <a:prstGeom prst="rect">
            <a:avLst/>
          </a:prstGeom>
          <a:noFill/>
          <a:ln/>
        </p:spPr>
        <p:txBody>
          <a:bodyPr wrap="square" lIns="0" tIns="0" rIns="0" bIns="0" rtlCol="0" anchor="ctr"/>
          <a:lstStyle/>
          <a:p>
            <a:pPr indent="0" marL="0">
              <a:buNone/>
            </a:pPr>
            <a:r>
              <a:rPr lang="en-US" sz="1450" b="1" dirty="0">
                <a:solidFill>
                  <a:srgbClr val="12233F"/>
                </a:solidFill>
                <a:latin typeface="Calibri" pitchFamily="34" charset="0"/>
                <a:ea typeface="Calibri" pitchFamily="34" charset="-122"/>
                <a:cs typeface="Calibri" pitchFamily="34" charset="-120"/>
              </a:rPr>
              <a:t>Consistency</a:t>
            </a:r>
            <a:endParaRPr lang="en-US" sz="1450" dirty="0"/>
          </a:p>
        </p:txBody>
      </p:sp>
      <p:sp>
        <p:nvSpPr>
          <p:cNvPr id="9" name="Text 6"/>
          <p:cNvSpPr/>
          <p:nvPr/>
        </p:nvSpPr>
        <p:spPr>
          <a:xfrm>
            <a:off x="658368" y="2999232"/>
            <a:ext cx="3172968" cy="219456"/>
          </a:xfrm>
          <a:prstGeom prst="rect">
            <a:avLst/>
          </a:prstGeom>
          <a:noFill/>
          <a:ln/>
        </p:spPr>
        <p:txBody>
          <a:bodyPr wrap="square" lIns="0" tIns="0" rIns="0" bIns="0" rtlCol="0" anchor="ctr"/>
          <a:lstStyle/>
          <a:p>
            <a:pPr indent="0" marL="0">
              <a:buNone/>
            </a:pPr>
            <a:r>
              <a:rPr lang="en-US" sz="900" b="1" spc="50" kern="0" dirty="0">
                <a:solidFill>
                  <a:srgbClr val="0F8B8D"/>
                </a:solidFill>
                <a:latin typeface="Calibri" pitchFamily="34" charset="0"/>
                <a:ea typeface="Calibri" pitchFamily="34" charset="-122"/>
                <a:cs typeface="Calibri" pitchFamily="34" charset="-120"/>
              </a:rPr>
              <a:t>TEST</a:t>
            </a:r>
            <a:endParaRPr lang="en-US" sz="900" dirty="0"/>
          </a:p>
        </p:txBody>
      </p:sp>
      <p:sp>
        <p:nvSpPr>
          <p:cNvPr id="10" name="Text 7"/>
          <p:cNvSpPr/>
          <p:nvPr/>
        </p:nvSpPr>
        <p:spPr>
          <a:xfrm>
            <a:off x="658368" y="3218688"/>
            <a:ext cx="3172968" cy="457200"/>
          </a:xfrm>
          <a:prstGeom prst="rect">
            <a:avLst/>
          </a:prstGeom>
          <a:noFill/>
          <a:ln/>
        </p:spPr>
        <p:txBody>
          <a:bodyPr wrap="square" lIns="0" tIns="0" rIns="0" bIns="0" rtlCol="0" anchor="t"/>
          <a:lstStyle/>
          <a:p>
            <a:pPr indent="0" marL="0">
              <a:buNone/>
            </a:pPr>
            <a:r>
              <a:rPr lang="en-US" sz="1100" dirty="0">
                <a:solidFill>
                  <a:srgbClr val="1B2A41"/>
                </a:solidFill>
                <a:latin typeface="Calibri" pitchFamily="34" charset="0"/>
                <a:ea typeface="Calibri" pitchFamily="34" charset="-122"/>
                <a:cs typeface="Calibri" pitchFamily="34" charset="-120"/>
              </a:rPr>
              <a:t>Run the same prompt 3 to 5 times.</a:t>
            </a:r>
            <a:endParaRPr lang="en-US" sz="1100" dirty="0"/>
          </a:p>
        </p:txBody>
      </p:sp>
      <p:sp>
        <p:nvSpPr>
          <p:cNvPr id="11" name="Text 8"/>
          <p:cNvSpPr/>
          <p:nvPr/>
        </p:nvSpPr>
        <p:spPr>
          <a:xfrm>
            <a:off x="658368" y="3730752"/>
            <a:ext cx="3172968" cy="219456"/>
          </a:xfrm>
          <a:prstGeom prst="rect">
            <a:avLst/>
          </a:prstGeom>
          <a:noFill/>
          <a:ln/>
        </p:spPr>
        <p:txBody>
          <a:bodyPr wrap="square" lIns="0" tIns="0" rIns="0" bIns="0" rtlCol="0" anchor="ctr"/>
          <a:lstStyle/>
          <a:p>
            <a:pPr indent="0" marL="0">
              <a:buNone/>
            </a:pPr>
            <a:r>
              <a:rPr lang="en-US" sz="900" b="1" spc="50" kern="0" dirty="0">
                <a:solidFill>
                  <a:srgbClr val="0F8B8D"/>
                </a:solidFill>
                <a:latin typeface="Calibri" pitchFamily="34" charset="0"/>
                <a:ea typeface="Calibri" pitchFamily="34" charset="-122"/>
                <a:cs typeface="Calibri" pitchFamily="34" charset="-120"/>
              </a:rPr>
              <a:t>CHECK</a:t>
            </a:r>
            <a:endParaRPr lang="en-US" sz="900" dirty="0"/>
          </a:p>
        </p:txBody>
      </p:sp>
      <p:sp>
        <p:nvSpPr>
          <p:cNvPr id="12" name="Text 9"/>
          <p:cNvSpPr/>
          <p:nvPr/>
        </p:nvSpPr>
        <p:spPr>
          <a:xfrm>
            <a:off x="658368" y="3950208"/>
            <a:ext cx="3172968" cy="658368"/>
          </a:xfrm>
          <a:prstGeom prst="rect">
            <a:avLst/>
          </a:prstGeom>
          <a:noFill/>
          <a:ln/>
        </p:spPr>
        <p:txBody>
          <a:bodyPr wrap="square" lIns="0" tIns="0" rIns="0" bIns="0" rtlCol="0" anchor="t"/>
          <a:lstStyle/>
          <a:p>
            <a:pPr indent="0" marL="0">
              <a:buNone/>
            </a:pPr>
            <a:r>
              <a:rPr lang="en-US" sz="1100" dirty="0">
                <a:solidFill>
                  <a:srgbClr val="1B2A41"/>
                </a:solidFill>
                <a:latin typeface="Calibri" pitchFamily="34" charset="0"/>
                <a:ea typeface="Calibri" pitchFamily="34" charset="-122"/>
                <a:cs typeface="Calibri" pitchFamily="34" charset="-120"/>
              </a:rPr>
              <a:t>Classification, severity, missing info, and final decision stay stable.</a:t>
            </a:r>
            <a:endParaRPr lang="en-US" sz="1100" dirty="0"/>
          </a:p>
        </p:txBody>
      </p:sp>
      <p:sp>
        <p:nvSpPr>
          <p:cNvPr id="13" name="Shape 10"/>
          <p:cNvSpPr/>
          <p:nvPr/>
        </p:nvSpPr>
        <p:spPr>
          <a:xfrm>
            <a:off x="4306824" y="1828800"/>
            <a:ext cx="3575304" cy="2697480"/>
          </a:xfrm>
          <a:prstGeom prst="roundRect">
            <a:avLst>
              <a:gd name="adj" fmla="val 2712"/>
            </a:avLst>
          </a:prstGeom>
          <a:solidFill>
            <a:srgbClr val="FFFFFF"/>
          </a:solidFill>
          <a:ln w="12700">
            <a:solidFill>
              <a:srgbClr val="E2E8F0"/>
            </a:solidFill>
            <a:prstDash val="solid"/>
          </a:ln>
        </p:spPr>
      </p:sp>
      <p:sp>
        <p:nvSpPr>
          <p:cNvPr id="14" name="Shape 11"/>
          <p:cNvSpPr/>
          <p:nvPr/>
        </p:nvSpPr>
        <p:spPr>
          <a:xfrm>
            <a:off x="4507992" y="2029968"/>
            <a:ext cx="438912" cy="438912"/>
          </a:xfrm>
          <a:prstGeom prst="ellipse">
            <a:avLst/>
          </a:prstGeom>
          <a:solidFill>
            <a:srgbClr val="0F8B8D"/>
          </a:solidFill>
          <a:ln/>
        </p:spPr>
      </p:sp>
      <p:pic>
        <p:nvPicPr>
          <p:cNvPr id="15" name="Image 1" descr="/home/claude/deck/icons/layout.png">    </p:cNvPr>
          <p:cNvPicPr>
            <a:picLocks noChangeAspect="1"/>
          </p:cNvPicPr>
          <p:nvPr/>
        </p:nvPicPr>
        <p:blipFill>
          <a:blip r:embed="rId2"/>
          <a:stretch>
            <a:fillRect/>
          </a:stretch>
        </p:blipFill>
        <p:spPr>
          <a:xfrm>
            <a:off x="4613331" y="2135307"/>
            <a:ext cx="228234" cy="228234"/>
          </a:xfrm>
          <a:prstGeom prst="rect">
            <a:avLst/>
          </a:prstGeom>
        </p:spPr>
      </p:pic>
      <p:sp>
        <p:nvSpPr>
          <p:cNvPr id="16" name="Text 12"/>
          <p:cNvSpPr/>
          <p:nvPr/>
        </p:nvSpPr>
        <p:spPr>
          <a:xfrm>
            <a:off x="4507992" y="2578608"/>
            <a:ext cx="3172968" cy="365760"/>
          </a:xfrm>
          <a:prstGeom prst="rect">
            <a:avLst/>
          </a:prstGeom>
          <a:noFill/>
          <a:ln/>
        </p:spPr>
        <p:txBody>
          <a:bodyPr wrap="square" lIns="0" tIns="0" rIns="0" bIns="0" rtlCol="0" anchor="ctr"/>
          <a:lstStyle/>
          <a:p>
            <a:pPr indent="0" marL="0">
              <a:buNone/>
            </a:pPr>
            <a:r>
              <a:rPr lang="en-US" sz="1450" b="1" dirty="0">
                <a:solidFill>
                  <a:srgbClr val="12233F"/>
                </a:solidFill>
                <a:latin typeface="Calibri" pitchFamily="34" charset="0"/>
                <a:ea typeface="Calibri" pitchFamily="34" charset="-122"/>
                <a:cs typeface="Calibri" pitchFamily="34" charset="-120"/>
              </a:rPr>
              <a:t>Format compliance</a:t>
            </a:r>
            <a:endParaRPr lang="en-US" sz="1450" dirty="0"/>
          </a:p>
        </p:txBody>
      </p:sp>
      <p:sp>
        <p:nvSpPr>
          <p:cNvPr id="17" name="Text 13"/>
          <p:cNvSpPr/>
          <p:nvPr/>
        </p:nvSpPr>
        <p:spPr>
          <a:xfrm>
            <a:off x="4507992" y="2999232"/>
            <a:ext cx="3172968" cy="219456"/>
          </a:xfrm>
          <a:prstGeom prst="rect">
            <a:avLst/>
          </a:prstGeom>
          <a:noFill/>
          <a:ln/>
        </p:spPr>
        <p:txBody>
          <a:bodyPr wrap="square" lIns="0" tIns="0" rIns="0" bIns="0" rtlCol="0" anchor="ctr"/>
          <a:lstStyle/>
          <a:p>
            <a:pPr indent="0" marL="0">
              <a:buNone/>
            </a:pPr>
            <a:r>
              <a:rPr lang="en-US" sz="900" b="1" spc="50" kern="0" dirty="0">
                <a:solidFill>
                  <a:srgbClr val="0F8B8D"/>
                </a:solidFill>
                <a:latin typeface="Calibri" pitchFamily="34" charset="0"/>
                <a:ea typeface="Calibri" pitchFamily="34" charset="-122"/>
                <a:cs typeface="Calibri" pitchFamily="34" charset="-120"/>
              </a:rPr>
              <a:t>RULES</a:t>
            </a:r>
            <a:endParaRPr lang="en-US" sz="900" dirty="0"/>
          </a:p>
        </p:txBody>
      </p:sp>
      <p:sp>
        <p:nvSpPr>
          <p:cNvPr id="18" name="Text 14"/>
          <p:cNvSpPr/>
          <p:nvPr/>
        </p:nvSpPr>
        <p:spPr>
          <a:xfrm>
            <a:off x="4507992" y="3218688"/>
            <a:ext cx="3172968" cy="1115568"/>
          </a:xfrm>
          <a:prstGeom prst="rect">
            <a:avLst/>
          </a:prstGeom>
          <a:noFill/>
          <a:ln/>
        </p:spPr>
        <p:txBody>
          <a:bodyPr wrap="square" lIns="0" tIns="0" rIns="0" bIns="0" rtlCol="0" anchor="t"/>
          <a:lstStyle/>
          <a:p>
            <a:pPr indent="0" marL="0">
              <a:buNone/>
            </a:pPr>
            <a:r>
              <a:rPr lang="en-US" sz="1100" dirty="0">
                <a:solidFill>
                  <a:srgbClr val="1B2A41"/>
                </a:solidFill>
                <a:latin typeface="Calibri" pitchFamily="34" charset="0"/>
                <a:ea typeface="Calibri" pitchFamily="34" charset="-122"/>
                <a:cs typeface="Calibri" pitchFamily="34" charset="-120"/>
              </a:rPr>
              <a:t>If JSON is required, it must parse. If a table is required, columns must match.</a:t>
            </a:r>
            <a:endParaRPr lang="en-US" sz="1100" dirty="0"/>
          </a:p>
        </p:txBody>
      </p:sp>
      <p:sp>
        <p:nvSpPr>
          <p:cNvPr id="19" name="Shape 15"/>
          <p:cNvSpPr/>
          <p:nvPr/>
        </p:nvSpPr>
        <p:spPr>
          <a:xfrm>
            <a:off x="8156448" y="1828800"/>
            <a:ext cx="3575304" cy="2697480"/>
          </a:xfrm>
          <a:prstGeom prst="roundRect">
            <a:avLst>
              <a:gd name="adj" fmla="val 2712"/>
            </a:avLst>
          </a:prstGeom>
          <a:solidFill>
            <a:srgbClr val="FFFFFF"/>
          </a:solidFill>
          <a:ln w="12700">
            <a:solidFill>
              <a:srgbClr val="E2E8F0"/>
            </a:solidFill>
            <a:prstDash val="solid"/>
          </a:ln>
        </p:spPr>
      </p:sp>
      <p:sp>
        <p:nvSpPr>
          <p:cNvPr id="20" name="Shape 16"/>
          <p:cNvSpPr/>
          <p:nvPr/>
        </p:nvSpPr>
        <p:spPr>
          <a:xfrm>
            <a:off x="8357616" y="2029968"/>
            <a:ext cx="438912" cy="438912"/>
          </a:xfrm>
          <a:prstGeom prst="ellipse">
            <a:avLst/>
          </a:prstGeom>
          <a:solidFill>
            <a:srgbClr val="0F8B8D"/>
          </a:solidFill>
          <a:ln/>
        </p:spPr>
      </p:sp>
      <p:pic>
        <p:nvPicPr>
          <p:cNvPr id="21" name="Image 2" descr="/home/claude/deck/icons/minimize.png">    </p:cNvPr>
          <p:cNvPicPr>
            <a:picLocks noChangeAspect="1"/>
          </p:cNvPicPr>
          <p:nvPr/>
        </p:nvPicPr>
        <p:blipFill>
          <a:blip r:embed="rId3"/>
          <a:stretch>
            <a:fillRect/>
          </a:stretch>
        </p:blipFill>
        <p:spPr>
          <a:xfrm>
            <a:off x="8462955" y="2135307"/>
            <a:ext cx="228234" cy="228234"/>
          </a:xfrm>
          <a:prstGeom prst="rect">
            <a:avLst/>
          </a:prstGeom>
        </p:spPr>
      </p:pic>
      <p:sp>
        <p:nvSpPr>
          <p:cNvPr id="22" name="Text 17"/>
          <p:cNvSpPr/>
          <p:nvPr/>
        </p:nvSpPr>
        <p:spPr>
          <a:xfrm>
            <a:off x="8357616" y="2578608"/>
            <a:ext cx="3172968" cy="365760"/>
          </a:xfrm>
          <a:prstGeom prst="rect">
            <a:avLst/>
          </a:prstGeom>
          <a:noFill/>
          <a:ln/>
        </p:spPr>
        <p:txBody>
          <a:bodyPr wrap="square" lIns="0" tIns="0" rIns="0" bIns="0" rtlCol="0" anchor="ctr"/>
          <a:lstStyle/>
          <a:p>
            <a:pPr indent="0" marL="0">
              <a:buNone/>
            </a:pPr>
            <a:r>
              <a:rPr lang="en-US" sz="1450" b="1" dirty="0">
                <a:solidFill>
                  <a:srgbClr val="12233F"/>
                </a:solidFill>
                <a:latin typeface="Calibri" pitchFamily="34" charset="0"/>
                <a:ea typeface="Calibri" pitchFamily="34" charset="-122"/>
                <a:cs typeface="Calibri" pitchFamily="34" charset="-120"/>
              </a:rPr>
              <a:t>Conciseness</a:t>
            </a:r>
            <a:endParaRPr lang="en-US" sz="1450" dirty="0"/>
          </a:p>
        </p:txBody>
      </p:sp>
      <p:sp>
        <p:nvSpPr>
          <p:cNvPr id="23" name="Text 18"/>
          <p:cNvSpPr/>
          <p:nvPr/>
        </p:nvSpPr>
        <p:spPr>
          <a:xfrm>
            <a:off x="8357616" y="2999232"/>
            <a:ext cx="3172968" cy="219456"/>
          </a:xfrm>
          <a:prstGeom prst="rect">
            <a:avLst/>
          </a:prstGeom>
          <a:noFill/>
          <a:ln/>
        </p:spPr>
        <p:txBody>
          <a:bodyPr wrap="square" lIns="0" tIns="0" rIns="0" bIns="0" rtlCol="0" anchor="ctr"/>
          <a:lstStyle/>
          <a:p>
            <a:pPr indent="0" marL="0">
              <a:buNone/>
            </a:pPr>
            <a:r>
              <a:rPr lang="en-US" sz="900" b="1" spc="50" kern="0" dirty="0">
                <a:solidFill>
                  <a:srgbClr val="0F8B8D"/>
                </a:solidFill>
                <a:latin typeface="Calibri" pitchFamily="34" charset="0"/>
                <a:ea typeface="Calibri" pitchFamily="34" charset="-122"/>
                <a:cs typeface="Calibri" pitchFamily="34" charset="-120"/>
              </a:rPr>
              <a:t>TEST</a:t>
            </a:r>
            <a:endParaRPr lang="en-US" sz="900" dirty="0"/>
          </a:p>
        </p:txBody>
      </p:sp>
      <p:sp>
        <p:nvSpPr>
          <p:cNvPr id="24" name="Text 19"/>
          <p:cNvSpPr/>
          <p:nvPr/>
        </p:nvSpPr>
        <p:spPr>
          <a:xfrm>
            <a:off x="8357616" y="3218688"/>
            <a:ext cx="3172968" cy="457200"/>
          </a:xfrm>
          <a:prstGeom prst="rect">
            <a:avLst/>
          </a:prstGeom>
          <a:noFill/>
          <a:ln/>
        </p:spPr>
        <p:txBody>
          <a:bodyPr wrap="square" lIns="0" tIns="0" rIns="0" bIns="0" rtlCol="0" anchor="t"/>
          <a:lstStyle/>
          <a:p>
            <a:pPr indent="0" marL="0">
              <a:buNone/>
            </a:pPr>
            <a:r>
              <a:rPr lang="en-US" sz="1100" dirty="0">
                <a:solidFill>
                  <a:srgbClr val="1B2A41"/>
                </a:solidFill>
                <a:latin typeface="Calibri" pitchFamily="34" charset="0"/>
                <a:ea typeface="Calibri" pitchFamily="34" charset="-122"/>
                <a:cs typeface="Calibri" pitchFamily="34" charset="-120"/>
              </a:rPr>
              <a:t>If a word limit is required, count words.</a:t>
            </a:r>
            <a:endParaRPr lang="en-US" sz="1100" dirty="0"/>
          </a:p>
        </p:txBody>
      </p:sp>
      <p:sp>
        <p:nvSpPr>
          <p:cNvPr id="25" name="Text 20"/>
          <p:cNvSpPr/>
          <p:nvPr/>
        </p:nvSpPr>
        <p:spPr>
          <a:xfrm>
            <a:off x="8357616" y="3730752"/>
            <a:ext cx="3172968" cy="219456"/>
          </a:xfrm>
          <a:prstGeom prst="rect">
            <a:avLst/>
          </a:prstGeom>
          <a:noFill/>
          <a:ln/>
        </p:spPr>
        <p:txBody>
          <a:bodyPr wrap="square" lIns="0" tIns="0" rIns="0" bIns="0" rtlCol="0" anchor="ctr"/>
          <a:lstStyle/>
          <a:p>
            <a:pPr indent="0" marL="0">
              <a:buNone/>
            </a:pPr>
            <a:r>
              <a:rPr lang="en-US" sz="900" b="1" spc="50" kern="0" dirty="0">
                <a:solidFill>
                  <a:srgbClr val="0F8B8D"/>
                </a:solidFill>
                <a:latin typeface="Calibri" pitchFamily="34" charset="0"/>
                <a:ea typeface="Calibri" pitchFamily="34" charset="-122"/>
                <a:cs typeface="Calibri" pitchFamily="34" charset="-120"/>
              </a:rPr>
              <a:t>CHECK</a:t>
            </a:r>
            <a:endParaRPr lang="en-US" sz="900" dirty="0"/>
          </a:p>
        </p:txBody>
      </p:sp>
      <p:sp>
        <p:nvSpPr>
          <p:cNvPr id="26" name="Text 21"/>
          <p:cNvSpPr/>
          <p:nvPr/>
        </p:nvSpPr>
        <p:spPr>
          <a:xfrm>
            <a:off x="8357616" y="3950208"/>
            <a:ext cx="3172968" cy="658368"/>
          </a:xfrm>
          <a:prstGeom prst="rect">
            <a:avLst/>
          </a:prstGeom>
          <a:noFill/>
          <a:ln/>
        </p:spPr>
        <p:txBody>
          <a:bodyPr wrap="square" lIns="0" tIns="0" rIns="0" bIns="0" rtlCol="0" anchor="t"/>
          <a:lstStyle/>
          <a:p>
            <a:pPr indent="0" marL="0">
              <a:buNone/>
            </a:pPr>
            <a:r>
              <a:rPr lang="en-US" sz="1100" dirty="0">
                <a:solidFill>
                  <a:srgbClr val="1B2A41"/>
                </a:solidFill>
                <a:latin typeface="Calibri" pitchFamily="34" charset="0"/>
                <a:ea typeface="Calibri" pitchFamily="34" charset="-122"/>
                <a:cs typeface="Calibri" pitchFamily="34" charset="-120"/>
              </a:rPr>
              <a:t>Avoids filler, repeated points, internal explanations, unnecessary policy language.</a:t>
            </a:r>
            <a:endParaRPr lang="en-US" sz="1100" dirty="0"/>
          </a:p>
        </p:txBody>
      </p:sp>
      <p:sp>
        <p:nvSpPr>
          <p:cNvPr id="27" name="Shape 22"/>
          <p:cNvSpPr/>
          <p:nvPr/>
        </p:nvSpPr>
        <p:spPr>
          <a:xfrm>
            <a:off x="457200" y="4727448"/>
            <a:ext cx="11274552" cy="566928"/>
          </a:xfrm>
          <a:prstGeom prst="roundRect">
            <a:avLst>
              <a:gd name="adj" fmla="val 12903"/>
            </a:avLst>
          </a:prstGeom>
          <a:solidFill>
            <a:srgbClr val="EAF1FB"/>
          </a:solidFill>
          <a:ln w="12700">
            <a:solidFill>
              <a:srgbClr val="CFE0F5"/>
            </a:solidFill>
            <a:prstDash val="solid"/>
          </a:ln>
        </p:spPr>
      </p:sp>
      <p:sp>
        <p:nvSpPr>
          <p:cNvPr id="28" name="Shape 23"/>
          <p:cNvSpPr/>
          <p:nvPr/>
        </p:nvSpPr>
        <p:spPr>
          <a:xfrm>
            <a:off x="658368" y="4818888"/>
            <a:ext cx="384048" cy="384048"/>
          </a:xfrm>
          <a:prstGeom prst="ellipse">
            <a:avLst/>
          </a:prstGeom>
          <a:solidFill>
            <a:srgbClr val="12233F"/>
          </a:solidFill>
          <a:ln/>
        </p:spPr>
      </p:sp>
      <p:pic>
        <p:nvPicPr>
          <p:cNvPr id="29" name="Image 3" descr="/home/claude/deck/icons/flask.png">    </p:cNvPr>
          <p:cNvPicPr>
            <a:picLocks noChangeAspect="1"/>
          </p:cNvPicPr>
          <p:nvPr/>
        </p:nvPicPr>
        <p:blipFill>
          <a:blip r:embed="rId4"/>
          <a:stretch>
            <a:fillRect/>
          </a:stretch>
        </p:blipFill>
        <p:spPr>
          <a:xfrm>
            <a:off x="750540" y="4911060"/>
            <a:ext cx="199705" cy="199705"/>
          </a:xfrm>
          <a:prstGeom prst="rect">
            <a:avLst/>
          </a:prstGeom>
        </p:spPr>
      </p:pic>
      <p:sp>
        <p:nvSpPr>
          <p:cNvPr id="30" name="Text 24"/>
          <p:cNvSpPr/>
          <p:nvPr/>
        </p:nvSpPr>
        <p:spPr>
          <a:xfrm>
            <a:off x="1170432" y="4727448"/>
            <a:ext cx="10378440" cy="566928"/>
          </a:xfrm>
          <a:prstGeom prst="rect">
            <a:avLst/>
          </a:prstGeom>
          <a:noFill/>
          <a:ln/>
        </p:spPr>
        <p:txBody>
          <a:bodyPr wrap="square" lIns="0" tIns="0" rIns="0" bIns="0" rtlCol="0" anchor="ctr"/>
          <a:lstStyle/>
          <a:p>
            <a:pPr indent="0" marL="0">
              <a:buNone/>
            </a:pPr>
            <a:r>
              <a:rPr lang="en-US" sz="1200" b="1" dirty="0">
                <a:solidFill>
                  <a:srgbClr val="12233F"/>
                </a:solidFill>
                <a:latin typeface="Calibri" pitchFamily="34" charset="0"/>
                <a:ea typeface="Calibri" pitchFamily="34" charset="-122"/>
                <a:cs typeface="Calibri" pitchFamily="34" charset="-120"/>
              </a:rPr>
              <a:t>Quick test:  </a:t>
            </a:r>
            <a:pPr indent="0" marL="0">
              <a:buNone/>
            </a:pPr>
            <a:r>
              <a:rPr lang="en-US" sz="1200" dirty="0">
                <a:solidFill>
                  <a:srgbClr val="1B2A41"/>
                </a:solidFill>
                <a:latin typeface="Calibri" pitchFamily="34" charset="0"/>
                <a:ea typeface="Calibri" pitchFamily="34" charset="-122"/>
                <a:cs typeface="Calibri" pitchFamily="34" charset="-120"/>
              </a:rPr>
              <a:t>Run the prompt 5 times. Compare issue category, severity, required controls, and word count.</a:t>
            </a:r>
            <a:endParaRPr lang="en-US" sz="1200" dirty="0"/>
          </a:p>
        </p:txBody>
      </p:sp>
      <p:sp>
        <p:nvSpPr>
          <p:cNvPr id="31" name="Text 25"/>
          <p:cNvSpPr/>
          <p:nvPr/>
        </p:nvSpPr>
        <p:spPr>
          <a:xfrm>
            <a:off x="457200" y="6547104"/>
            <a:ext cx="8229600" cy="274320"/>
          </a:xfrm>
          <a:prstGeom prst="rect">
            <a:avLst/>
          </a:prstGeom>
          <a:noFill/>
          <a:ln/>
        </p:spPr>
        <p:txBody>
          <a:bodyPr wrap="square" lIns="0" tIns="0" rIns="0" bIns="0" rtlCol="0" anchor="ctr"/>
          <a:lstStyle/>
          <a:p>
            <a:pPr algn="l" indent="0" marL="0">
              <a:buNone/>
            </a:pPr>
            <a:r>
              <a:rPr lang="en-US" sz="850" dirty="0">
                <a:solidFill>
                  <a:srgbClr val="5B6B84"/>
                </a:solidFill>
                <a:latin typeface="Calibri" pitchFamily="34" charset="0"/>
                <a:ea typeface="Calibri" pitchFamily="34" charset="-122"/>
                <a:cs typeface="Calibri" pitchFamily="34" charset="-120"/>
              </a:rPr>
              <a:t>PROMPT EVALUATION FRAMEWORK  •  SYNCHRONY TRAINING SIMULATION</a:t>
            </a:r>
            <a:endParaRPr lang="en-US" sz="850" dirty="0"/>
          </a:p>
        </p:txBody>
      </p:sp>
      <p:sp>
        <p:nvSpPr>
          <p:cNvPr id="32" name="Text 26"/>
          <p:cNvSpPr/>
          <p:nvPr/>
        </p:nvSpPr>
        <p:spPr>
          <a:xfrm>
            <a:off x="11274552" y="6547104"/>
            <a:ext cx="457200" cy="274320"/>
          </a:xfrm>
          <a:prstGeom prst="rect">
            <a:avLst/>
          </a:prstGeom>
          <a:noFill/>
          <a:ln/>
        </p:spPr>
        <p:txBody>
          <a:bodyPr wrap="square" lIns="0" tIns="0" rIns="0" bIns="0" rtlCol="0" anchor="ctr"/>
          <a:lstStyle/>
          <a:p>
            <a:pPr algn="r" indent="0" marL="0">
              <a:buNone/>
            </a:pPr>
            <a:r>
              <a:rPr lang="en-US" sz="850" dirty="0">
                <a:solidFill>
                  <a:srgbClr val="5B6B84"/>
                </a:solidFill>
                <a:latin typeface="Calibri" pitchFamily="34" charset="0"/>
                <a:ea typeface="Calibri" pitchFamily="34" charset="-122"/>
                <a:cs typeface="Calibri"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457200" y="347472"/>
            <a:ext cx="10058400" cy="274320"/>
          </a:xfrm>
          <a:prstGeom prst="rect">
            <a:avLst/>
          </a:prstGeom>
          <a:noFill/>
          <a:ln/>
        </p:spPr>
        <p:txBody>
          <a:bodyPr wrap="square" lIns="0" tIns="0" rIns="0" bIns="0" rtlCol="0" anchor="ctr"/>
          <a:lstStyle/>
          <a:p>
            <a:pPr indent="0" marL="0">
              <a:buNone/>
            </a:pPr>
            <a:r>
              <a:rPr lang="en-US" sz="1100" b="1" spc="150" kern="0" dirty="0">
                <a:solidFill>
                  <a:srgbClr val="0F8B8D"/>
                </a:solidFill>
                <a:latin typeface="Calibri" pitchFamily="34" charset="0"/>
                <a:ea typeface="Calibri" pitchFamily="34" charset="-122"/>
                <a:cs typeface="Calibri" pitchFamily="34" charset="-120"/>
              </a:rPr>
              <a:t>METRICS 8–10</a:t>
            </a:r>
            <a:endParaRPr lang="en-US" sz="1100" dirty="0"/>
          </a:p>
        </p:txBody>
      </p:sp>
      <p:sp>
        <p:nvSpPr>
          <p:cNvPr id="3" name="Text 1"/>
          <p:cNvSpPr/>
          <p:nvPr/>
        </p:nvSpPr>
        <p:spPr>
          <a:xfrm>
            <a:off x="457200" y="603504"/>
            <a:ext cx="11247120" cy="566928"/>
          </a:xfrm>
          <a:prstGeom prst="rect">
            <a:avLst/>
          </a:prstGeom>
          <a:noFill/>
          <a:ln/>
        </p:spPr>
        <p:txBody>
          <a:bodyPr wrap="square" lIns="0" tIns="0" rIns="0" bIns="0" rtlCol="0" anchor="ctr"/>
          <a:lstStyle/>
          <a:p>
            <a:pPr indent="0" marL="0">
              <a:buNone/>
            </a:pPr>
            <a:r>
              <a:rPr lang="en-US" sz="3000" b="1" dirty="0">
                <a:solidFill>
                  <a:srgbClr val="12233F"/>
                </a:solidFill>
                <a:latin typeface="Cambria" pitchFamily="34" charset="0"/>
                <a:ea typeface="Cambria" pitchFamily="34" charset="-122"/>
                <a:cs typeface="Cambria" pitchFamily="34" charset="-120"/>
              </a:rPr>
              <a:t>Behavior and risk</a:t>
            </a:r>
            <a:endParaRPr lang="en-US" sz="3000" dirty="0"/>
          </a:p>
        </p:txBody>
      </p:sp>
      <p:sp>
        <p:nvSpPr>
          <p:cNvPr id="4" name="Text 2"/>
          <p:cNvSpPr/>
          <p:nvPr/>
        </p:nvSpPr>
        <p:spPr>
          <a:xfrm>
            <a:off x="457200" y="1170432"/>
            <a:ext cx="11247120" cy="365760"/>
          </a:xfrm>
          <a:prstGeom prst="rect">
            <a:avLst/>
          </a:prstGeom>
          <a:noFill/>
          <a:ln/>
        </p:spPr>
        <p:txBody>
          <a:bodyPr wrap="square" lIns="0" tIns="0" rIns="0" bIns="0" rtlCol="0" anchor="ctr"/>
          <a:lstStyle/>
          <a:p>
            <a:pPr indent="0" marL="0">
              <a:buNone/>
            </a:pPr>
            <a:r>
              <a:rPr lang="en-US" sz="1400" i="1" dirty="0">
                <a:solidFill>
                  <a:srgbClr val="5B6B84"/>
                </a:solidFill>
                <a:latin typeface="Calibri" pitchFamily="34" charset="0"/>
                <a:ea typeface="Calibri" pitchFamily="34" charset="-122"/>
                <a:cs typeface="Calibri" pitchFamily="34" charset="-120"/>
              </a:rPr>
              <a:t>These metrics protect customer experience and regulated workflows.</a:t>
            </a:r>
            <a:endParaRPr lang="en-US" sz="1400" dirty="0"/>
          </a:p>
        </p:txBody>
      </p:sp>
      <p:sp>
        <p:nvSpPr>
          <p:cNvPr id="5" name="Shape 3"/>
          <p:cNvSpPr/>
          <p:nvPr/>
        </p:nvSpPr>
        <p:spPr>
          <a:xfrm>
            <a:off x="457200" y="1828800"/>
            <a:ext cx="3575304" cy="3291840"/>
          </a:xfrm>
          <a:prstGeom prst="roundRect">
            <a:avLst>
              <a:gd name="adj" fmla="val 2222"/>
            </a:avLst>
          </a:prstGeom>
          <a:solidFill>
            <a:srgbClr val="FFFFFF"/>
          </a:solidFill>
          <a:ln w="12700">
            <a:solidFill>
              <a:srgbClr val="E2E8F0"/>
            </a:solidFill>
            <a:prstDash val="solid"/>
          </a:ln>
        </p:spPr>
      </p:sp>
      <p:sp>
        <p:nvSpPr>
          <p:cNvPr id="6" name="Shape 4"/>
          <p:cNvSpPr/>
          <p:nvPr/>
        </p:nvSpPr>
        <p:spPr>
          <a:xfrm>
            <a:off x="658368" y="2029968"/>
            <a:ext cx="438912" cy="438912"/>
          </a:xfrm>
          <a:prstGeom prst="ellipse">
            <a:avLst/>
          </a:prstGeom>
          <a:solidFill>
            <a:srgbClr val="0F8B8D"/>
          </a:solidFill>
          <a:ln/>
        </p:spPr>
      </p:sp>
      <p:pic>
        <p:nvPicPr>
          <p:cNvPr id="7" name="Image 0" descr="/home/claude/deck/icons/message.png">    </p:cNvPr>
          <p:cNvPicPr>
            <a:picLocks noChangeAspect="1"/>
          </p:cNvPicPr>
          <p:nvPr/>
        </p:nvPicPr>
        <p:blipFill>
          <a:blip r:embed="rId1"/>
          <a:stretch>
            <a:fillRect/>
          </a:stretch>
        </p:blipFill>
        <p:spPr>
          <a:xfrm>
            <a:off x="763707" y="2135307"/>
            <a:ext cx="228234" cy="228234"/>
          </a:xfrm>
          <a:prstGeom prst="rect">
            <a:avLst/>
          </a:prstGeom>
        </p:spPr>
      </p:pic>
      <p:sp>
        <p:nvSpPr>
          <p:cNvPr id="8" name="Text 5"/>
          <p:cNvSpPr/>
          <p:nvPr/>
        </p:nvSpPr>
        <p:spPr>
          <a:xfrm>
            <a:off x="658368" y="2578608"/>
            <a:ext cx="3172968" cy="365760"/>
          </a:xfrm>
          <a:prstGeom prst="rect">
            <a:avLst/>
          </a:prstGeom>
          <a:noFill/>
          <a:ln/>
        </p:spPr>
        <p:txBody>
          <a:bodyPr wrap="square" lIns="0" tIns="0" rIns="0" bIns="0" rtlCol="0" anchor="ctr"/>
          <a:lstStyle/>
          <a:p>
            <a:pPr indent="0" marL="0">
              <a:buNone/>
            </a:pPr>
            <a:r>
              <a:rPr lang="en-US" sz="1450" b="1" dirty="0">
                <a:solidFill>
                  <a:srgbClr val="12233F"/>
                </a:solidFill>
                <a:latin typeface="Calibri" pitchFamily="34" charset="0"/>
                <a:ea typeface="Calibri" pitchFamily="34" charset="-122"/>
                <a:cs typeface="Calibri" pitchFamily="34" charset="-120"/>
              </a:rPr>
              <a:t>Tone compliance</a:t>
            </a:r>
            <a:endParaRPr lang="en-US" sz="1450" dirty="0"/>
          </a:p>
        </p:txBody>
      </p:sp>
      <p:sp>
        <p:nvSpPr>
          <p:cNvPr id="9" name="Text 6"/>
          <p:cNvSpPr/>
          <p:nvPr/>
        </p:nvSpPr>
        <p:spPr>
          <a:xfrm>
            <a:off x="658368" y="2999232"/>
            <a:ext cx="3172968" cy="219456"/>
          </a:xfrm>
          <a:prstGeom prst="rect">
            <a:avLst/>
          </a:prstGeom>
          <a:noFill/>
          <a:ln/>
        </p:spPr>
        <p:txBody>
          <a:bodyPr wrap="square" lIns="0" tIns="0" rIns="0" bIns="0" rtlCol="0" anchor="ctr"/>
          <a:lstStyle/>
          <a:p>
            <a:pPr indent="0" marL="0">
              <a:buNone/>
            </a:pPr>
            <a:r>
              <a:rPr lang="en-US" sz="900" b="1" spc="50" kern="0" dirty="0">
                <a:solidFill>
                  <a:srgbClr val="0F8B8D"/>
                </a:solidFill>
                <a:latin typeface="Calibri" pitchFamily="34" charset="0"/>
                <a:ea typeface="Calibri" pitchFamily="34" charset="-122"/>
                <a:cs typeface="Calibri" pitchFamily="34" charset="-120"/>
              </a:rPr>
              <a:t>TEST</a:t>
            </a:r>
            <a:endParaRPr lang="en-US" sz="900" dirty="0"/>
          </a:p>
        </p:txBody>
      </p:sp>
      <p:sp>
        <p:nvSpPr>
          <p:cNvPr id="10" name="Text 7"/>
          <p:cNvSpPr/>
          <p:nvPr/>
        </p:nvSpPr>
        <p:spPr>
          <a:xfrm>
            <a:off x="658368" y="3218688"/>
            <a:ext cx="3172968" cy="658368"/>
          </a:xfrm>
          <a:prstGeom prst="rect">
            <a:avLst/>
          </a:prstGeom>
          <a:noFill/>
          <a:ln/>
        </p:spPr>
        <p:txBody>
          <a:bodyPr wrap="square" lIns="0" tIns="0" rIns="0" bIns="0" rtlCol="0" anchor="t"/>
          <a:lstStyle/>
          <a:p>
            <a:pPr indent="0" marL="0">
              <a:buNone/>
            </a:pPr>
            <a:r>
              <a:rPr lang="en-US" sz="1100" dirty="0">
                <a:solidFill>
                  <a:srgbClr val="1B2A41"/>
                </a:solidFill>
                <a:latin typeface="Calibri" pitchFamily="34" charset="0"/>
                <a:ea typeface="Calibri" pitchFamily="34" charset="-122"/>
                <a:cs typeface="Calibri" pitchFamily="34" charset="-120"/>
              </a:rPr>
              <a:t>Does the response stay professional, empathetic, and accountable?</a:t>
            </a:r>
            <a:endParaRPr lang="en-US" sz="1100" dirty="0"/>
          </a:p>
        </p:txBody>
      </p:sp>
      <p:sp>
        <p:nvSpPr>
          <p:cNvPr id="11" name="Text 8"/>
          <p:cNvSpPr/>
          <p:nvPr/>
        </p:nvSpPr>
        <p:spPr>
          <a:xfrm>
            <a:off x="658368" y="3931920"/>
            <a:ext cx="3172968" cy="219456"/>
          </a:xfrm>
          <a:prstGeom prst="rect">
            <a:avLst/>
          </a:prstGeom>
          <a:noFill/>
          <a:ln/>
        </p:spPr>
        <p:txBody>
          <a:bodyPr wrap="square" lIns="0" tIns="0" rIns="0" bIns="0" rtlCol="0" anchor="ctr"/>
          <a:lstStyle/>
          <a:p>
            <a:pPr indent="0" marL="0">
              <a:buNone/>
            </a:pPr>
            <a:r>
              <a:rPr lang="en-US" sz="900" b="1" spc="50" kern="0" dirty="0">
                <a:solidFill>
                  <a:srgbClr val="0F8B8D"/>
                </a:solidFill>
                <a:latin typeface="Calibri" pitchFamily="34" charset="0"/>
                <a:ea typeface="Calibri" pitchFamily="34" charset="-122"/>
                <a:cs typeface="Calibri" pitchFamily="34" charset="-120"/>
              </a:rPr>
              <a:t>FAIL</a:t>
            </a:r>
            <a:endParaRPr lang="en-US" sz="900" dirty="0"/>
          </a:p>
        </p:txBody>
      </p:sp>
      <p:sp>
        <p:nvSpPr>
          <p:cNvPr id="12" name="Text 9"/>
          <p:cNvSpPr/>
          <p:nvPr/>
        </p:nvSpPr>
        <p:spPr>
          <a:xfrm>
            <a:off x="658368" y="4151376"/>
            <a:ext cx="3172968" cy="457200"/>
          </a:xfrm>
          <a:prstGeom prst="rect">
            <a:avLst/>
          </a:prstGeom>
          <a:noFill/>
          <a:ln/>
        </p:spPr>
        <p:txBody>
          <a:bodyPr wrap="square" lIns="0" tIns="0" rIns="0" bIns="0" rtlCol="0" anchor="t"/>
          <a:lstStyle/>
          <a:p>
            <a:pPr indent="0" marL="0">
              <a:buNone/>
            </a:pPr>
            <a:r>
              <a:rPr lang="en-US" sz="1100" dirty="0">
                <a:solidFill>
                  <a:srgbClr val="C0392B"/>
                </a:solidFill>
                <a:latin typeface="Calibri" pitchFamily="34" charset="0"/>
                <a:ea typeface="Calibri" pitchFamily="34" charset="-122"/>
                <a:cs typeface="Calibri" pitchFamily="34" charset="-120"/>
              </a:rPr>
              <a:t>Defensive, blaming, cold, or overly casual.</a:t>
            </a:r>
            <a:endParaRPr lang="en-US" sz="1100" dirty="0"/>
          </a:p>
        </p:txBody>
      </p:sp>
      <p:sp>
        <p:nvSpPr>
          <p:cNvPr id="13" name="Shape 10"/>
          <p:cNvSpPr/>
          <p:nvPr/>
        </p:nvSpPr>
        <p:spPr>
          <a:xfrm>
            <a:off x="4306824" y="1828800"/>
            <a:ext cx="3575304" cy="3291840"/>
          </a:xfrm>
          <a:prstGeom prst="roundRect">
            <a:avLst>
              <a:gd name="adj" fmla="val 2222"/>
            </a:avLst>
          </a:prstGeom>
          <a:solidFill>
            <a:srgbClr val="FFFFFF"/>
          </a:solidFill>
          <a:ln w="12700">
            <a:solidFill>
              <a:srgbClr val="E2E8F0"/>
            </a:solidFill>
            <a:prstDash val="solid"/>
          </a:ln>
        </p:spPr>
      </p:sp>
      <p:sp>
        <p:nvSpPr>
          <p:cNvPr id="14" name="Shape 11"/>
          <p:cNvSpPr/>
          <p:nvPr/>
        </p:nvSpPr>
        <p:spPr>
          <a:xfrm>
            <a:off x="4507992" y="2029968"/>
            <a:ext cx="438912" cy="438912"/>
          </a:xfrm>
          <a:prstGeom prst="ellipse">
            <a:avLst/>
          </a:prstGeom>
          <a:solidFill>
            <a:srgbClr val="0F8B8D"/>
          </a:solidFill>
          <a:ln/>
        </p:spPr>
      </p:sp>
      <p:pic>
        <p:nvPicPr>
          <p:cNvPr id="15" name="Image 1" descr="/home/claude/deck/icons/shield.png">    </p:cNvPr>
          <p:cNvPicPr>
            <a:picLocks noChangeAspect="1"/>
          </p:cNvPicPr>
          <p:nvPr/>
        </p:nvPicPr>
        <p:blipFill>
          <a:blip r:embed="rId2"/>
          <a:stretch>
            <a:fillRect/>
          </a:stretch>
        </p:blipFill>
        <p:spPr>
          <a:xfrm>
            <a:off x="4613331" y="2135307"/>
            <a:ext cx="228234" cy="228234"/>
          </a:xfrm>
          <a:prstGeom prst="rect">
            <a:avLst/>
          </a:prstGeom>
        </p:spPr>
      </p:pic>
      <p:sp>
        <p:nvSpPr>
          <p:cNvPr id="16" name="Text 12"/>
          <p:cNvSpPr/>
          <p:nvPr/>
        </p:nvSpPr>
        <p:spPr>
          <a:xfrm>
            <a:off x="4507992" y="2578608"/>
            <a:ext cx="3172968" cy="365760"/>
          </a:xfrm>
          <a:prstGeom prst="rect">
            <a:avLst/>
          </a:prstGeom>
          <a:noFill/>
          <a:ln/>
        </p:spPr>
        <p:txBody>
          <a:bodyPr wrap="square" lIns="0" tIns="0" rIns="0" bIns="0" rtlCol="0" anchor="ctr"/>
          <a:lstStyle/>
          <a:p>
            <a:pPr indent="0" marL="0">
              <a:buNone/>
            </a:pPr>
            <a:r>
              <a:rPr lang="en-US" sz="1450" b="1" dirty="0">
                <a:solidFill>
                  <a:srgbClr val="12233F"/>
                </a:solidFill>
                <a:latin typeface="Calibri" pitchFamily="34" charset="0"/>
                <a:ea typeface="Calibri" pitchFamily="34" charset="-122"/>
                <a:cs typeface="Calibri" pitchFamily="34" charset="-120"/>
              </a:rPr>
              <a:t>Safety</a:t>
            </a:r>
            <a:endParaRPr lang="en-US" sz="1450" dirty="0"/>
          </a:p>
        </p:txBody>
      </p:sp>
      <p:sp>
        <p:nvSpPr>
          <p:cNvPr id="17" name="Text 13"/>
          <p:cNvSpPr/>
          <p:nvPr/>
        </p:nvSpPr>
        <p:spPr>
          <a:xfrm>
            <a:off x="4507992" y="2999232"/>
            <a:ext cx="3172968" cy="219456"/>
          </a:xfrm>
          <a:prstGeom prst="rect">
            <a:avLst/>
          </a:prstGeom>
          <a:noFill/>
          <a:ln/>
        </p:spPr>
        <p:txBody>
          <a:bodyPr wrap="square" lIns="0" tIns="0" rIns="0" bIns="0" rtlCol="0" anchor="ctr"/>
          <a:lstStyle/>
          <a:p>
            <a:pPr indent="0" marL="0">
              <a:buNone/>
            </a:pPr>
            <a:r>
              <a:rPr lang="en-US" sz="900" b="1" spc="50" kern="0" dirty="0">
                <a:solidFill>
                  <a:srgbClr val="0F8B8D"/>
                </a:solidFill>
                <a:latin typeface="Calibri" pitchFamily="34" charset="0"/>
                <a:ea typeface="Calibri" pitchFamily="34" charset="-122"/>
                <a:cs typeface="Calibri" pitchFamily="34" charset="-120"/>
              </a:rPr>
              <a:t>TEST</a:t>
            </a:r>
            <a:endParaRPr lang="en-US" sz="900" dirty="0"/>
          </a:p>
        </p:txBody>
      </p:sp>
      <p:sp>
        <p:nvSpPr>
          <p:cNvPr id="18" name="Text 14"/>
          <p:cNvSpPr/>
          <p:nvPr/>
        </p:nvSpPr>
        <p:spPr>
          <a:xfrm>
            <a:off x="4507992" y="3218688"/>
            <a:ext cx="3172968" cy="457200"/>
          </a:xfrm>
          <a:prstGeom prst="rect">
            <a:avLst/>
          </a:prstGeom>
          <a:noFill/>
          <a:ln/>
        </p:spPr>
        <p:txBody>
          <a:bodyPr wrap="square" lIns="0" tIns="0" rIns="0" bIns="0" rtlCol="0" anchor="t"/>
          <a:lstStyle/>
          <a:p>
            <a:pPr indent="0" marL="0">
              <a:buNone/>
            </a:pPr>
            <a:r>
              <a:rPr lang="en-US" sz="1100" dirty="0">
                <a:solidFill>
                  <a:srgbClr val="1B2A41"/>
                </a:solidFill>
                <a:latin typeface="Calibri" pitchFamily="34" charset="0"/>
                <a:ea typeface="Calibri" pitchFamily="34" charset="-122"/>
                <a:cs typeface="Calibri" pitchFamily="34" charset="-120"/>
              </a:rPr>
              <a:t>Does it avoid risky claims?</a:t>
            </a:r>
            <a:endParaRPr lang="en-US" sz="1100" dirty="0"/>
          </a:p>
        </p:txBody>
      </p:sp>
      <p:sp>
        <p:nvSpPr>
          <p:cNvPr id="19" name="Text 15"/>
          <p:cNvSpPr/>
          <p:nvPr/>
        </p:nvSpPr>
        <p:spPr>
          <a:xfrm>
            <a:off x="4507992" y="3730752"/>
            <a:ext cx="3172968" cy="219456"/>
          </a:xfrm>
          <a:prstGeom prst="rect">
            <a:avLst/>
          </a:prstGeom>
          <a:noFill/>
          <a:ln/>
        </p:spPr>
        <p:txBody>
          <a:bodyPr wrap="square" lIns="0" tIns="0" rIns="0" bIns="0" rtlCol="0" anchor="ctr"/>
          <a:lstStyle/>
          <a:p>
            <a:pPr indent="0" marL="0">
              <a:buNone/>
            </a:pPr>
            <a:r>
              <a:rPr lang="en-US" sz="900" b="1" spc="50" kern="0" dirty="0">
                <a:solidFill>
                  <a:srgbClr val="0F8B8D"/>
                </a:solidFill>
                <a:latin typeface="Calibri" pitchFamily="34" charset="0"/>
                <a:ea typeface="Calibri" pitchFamily="34" charset="-122"/>
                <a:cs typeface="Calibri" pitchFamily="34" charset="-120"/>
              </a:rPr>
              <a:t>FAIL</a:t>
            </a:r>
            <a:endParaRPr lang="en-US" sz="900" dirty="0"/>
          </a:p>
        </p:txBody>
      </p:sp>
      <p:sp>
        <p:nvSpPr>
          <p:cNvPr id="20" name="Text 16"/>
          <p:cNvSpPr/>
          <p:nvPr/>
        </p:nvSpPr>
        <p:spPr>
          <a:xfrm>
            <a:off x="4507992" y="3950208"/>
            <a:ext cx="3172968" cy="868680"/>
          </a:xfrm>
          <a:prstGeom prst="rect">
            <a:avLst/>
          </a:prstGeom>
          <a:noFill/>
          <a:ln/>
        </p:spPr>
        <p:txBody>
          <a:bodyPr wrap="square" lIns="0" tIns="0" rIns="0" bIns="0" rtlCol="0" anchor="t"/>
          <a:lstStyle/>
          <a:p>
            <a:pPr indent="0" marL="0">
              <a:buNone/>
            </a:pPr>
            <a:r>
              <a:rPr lang="en-US" sz="1100" dirty="0">
                <a:solidFill>
                  <a:srgbClr val="C0392B"/>
                </a:solidFill>
                <a:latin typeface="Calibri" pitchFamily="34" charset="0"/>
                <a:ea typeface="Calibri" pitchFamily="34" charset="-122"/>
                <a:cs typeface="Calibri" pitchFamily="34" charset="-120"/>
              </a:rPr>
              <a:t>Payment advice without approval, legal conclusion, guaranteed timeline, internal queue details.</a:t>
            </a:r>
            <a:endParaRPr lang="en-US" sz="1100" dirty="0"/>
          </a:p>
        </p:txBody>
      </p:sp>
      <p:sp>
        <p:nvSpPr>
          <p:cNvPr id="21" name="Shape 17"/>
          <p:cNvSpPr/>
          <p:nvPr/>
        </p:nvSpPr>
        <p:spPr>
          <a:xfrm>
            <a:off x="8156448" y="1828800"/>
            <a:ext cx="3575304" cy="3291840"/>
          </a:xfrm>
          <a:prstGeom prst="roundRect">
            <a:avLst>
              <a:gd name="adj" fmla="val 2222"/>
            </a:avLst>
          </a:prstGeom>
          <a:solidFill>
            <a:srgbClr val="FFFFFF"/>
          </a:solidFill>
          <a:ln w="12700">
            <a:solidFill>
              <a:srgbClr val="E2E8F0"/>
            </a:solidFill>
            <a:prstDash val="solid"/>
          </a:ln>
        </p:spPr>
      </p:sp>
      <p:sp>
        <p:nvSpPr>
          <p:cNvPr id="22" name="Shape 18"/>
          <p:cNvSpPr/>
          <p:nvPr/>
        </p:nvSpPr>
        <p:spPr>
          <a:xfrm>
            <a:off x="8357616" y="2029968"/>
            <a:ext cx="438912" cy="438912"/>
          </a:xfrm>
          <a:prstGeom prst="ellipse">
            <a:avLst/>
          </a:prstGeom>
          <a:solidFill>
            <a:srgbClr val="0F8B8D"/>
          </a:solidFill>
          <a:ln/>
        </p:spPr>
      </p:sp>
      <p:pic>
        <p:nvPicPr>
          <p:cNvPr id="23" name="Image 2" descr="/home/claude/deck/icons/alerttriangle.png">    </p:cNvPr>
          <p:cNvPicPr>
            <a:picLocks noChangeAspect="1"/>
          </p:cNvPicPr>
          <p:nvPr/>
        </p:nvPicPr>
        <p:blipFill>
          <a:blip r:embed="rId3"/>
          <a:stretch>
            <a:fillRect/>
          </a:stretch>
        </p:blipFill>
        <p:spPr>
          <a:xfrm>
            <a:off x="8462955" y="2135307"/>
            <a:ext cx="228234" cy="228234"/>
          </a:xfrm>
          <a:prstGeom prst="rect">
            <a:avLst/>
          </a:prstGeom>
        </p:spPr>
      </p:pic>
      <p:sp>
        <p:nvSpPr>
          <p:cNvPr id="24" name="Text 19"/>
          <p:cNvSpPr/>
          <p:nvPr/>
        </p:nvSpPr>
        <p:spPr>
          <a:xfrm>
            <a:off x="8357616" y="2578608"/>
            <a:ext cx="3172968" cy="365760"/>
          </a:xfrm>
          <a:prstGeom prst="rect">
            <a:avLst/>
          </a:prstGeom>
          <a:noFill/>
          <a:ln/>
        </p:spPr>
        <p:txBody>
          <a:bodyPr wrap="square" lIns="0" tIns="0" rIns="0" bIns="0" rtlCol="0" anchor="ctr"/>
          <a:lstStyle/>
          <a:p>
            <a:pPr indent="0" marL="0">
              <a:buNone/>
            </a:pPr>
            <a:r>
              <a:rPr lang="en-US" sz="1450" b="1" dirty="0">
                <a:solidFill>
                  <a:srgbClr val="12233F"/>
                </a:solidFill>
                <a:latin typeface="Calibri" pitchFamily="34" charset="0"/>
                <a:ea typeface="Calibri" pitchFamily="34" charset="-122"/>
                <a:cs typeface="Calibri" pitchFamily="34" charset="-120"/>
              </a:rPr>
              <a:t>Hallucination rate</a:t>
            </a:r>
            <a:endParaRPr lang="en-US" sz="1450" dirty="0"/>
          </a:p>
        </p:txBody>
      </p:sp>
      <p:sp>
        <p:nvSpPr>
          <p:cNvPr id="25" name="Text 20"/>
          <p:cNvSpPr/>
          <p:nvPr/>
        </p:nvSpPr>
        <p:spPr>
          <a:xfrm>
            <a:off x="8357616" y="2999232"/>
            <a:ext cx="3172968" cy="219456"/>
          </a:xfrm>
          <a:prstGeom prst="rect">
            <a:avLst/>
          </a:prstGeom>
          <a:noFill/>
          <a:ln/>
        </p:spPr>
        <p:txBody>
          <a:bodyPr wrap="square" lIns="0" tIns="0" rIns="0" bIns="0" rtlCol="0" anchor="ctr"/>
          <a:lstStyle/>
          <a:p>
            <a:pPr indent="0" marL="0">
              <a:buNone/>
            </a:pPr>
            <a:r>
              <a:rPr lang="en-US" sz="900" b="1" spc="50" kern="0" dirty="0">
                <a:solidFill>
                  <a:srgbClr val="0F8B8D"/>
                </a:solidFill>
                <a:latin typeface="Calibri" pitchFamily="34" charset="0"/>
                <a:ea typeface="Calibri" pitchFamily="34" charset="-122"/>
                <a:cs typeface="Calibri" pitchFamily="34" charset="-120"/>
              </a:rPr>
              <a:t>TEST</a:t>
            </a:r>
            <a:endParaRPr lang="en-US" sz="900" dirty="0"/>
          </a:p>
        </p:txBody>
      </p:sp>
      <p:sp>
        <p:nvSpPr>
          <p:cNvPr id="26" name="Text 21"/>
          <p:cNvSpPr/>
          <p:nvPr/>
        </p:nvSpPr>
        <p:spPr>
          <a:xfrm>
            <a:off x="8357616" y="3218688"/>
            <a:ext cx="3172968" cy="457200"/>
          </a:xfrm>
          <a:prstGeom prst="rect">
            <a:avLst/>
          </a:prstGeom>
          <a:noFill/>
          <a:ln/>
        </p:spPr>
        <p:txBody>
          <a:bodyPr wrap="square" lIns="0" tIns="0" rIns="0" bIns="0" rtlCol="0" anchor="t"/>
          <a:lstStyle/>
          <a:p>
            <a:pPr indent="0" marL="0">
              <a:buNone/>
            </a:pPr>
            <a:r>
              <a:rPr lang="en-US" sz="1100" dirty="0">
                <a:solidFill>
                  <a:srgbClr val="1B2A41"/>
                </a:solidFill>
                <a:latin typeface="Calibri" pitchFamily="34" charset="0"/>
                <a:ea typeface="Calibri" pitchFamily="34" charset="-122"/>
                <a:cs typeface="Calibri" pitchFamily="34" charset="-120"/>
              </a:rPr>
              <a:t>Count unsupported factual claims.</a:t>
            </a:r>
            <a:endParaRPr lang="en-US" sz="1100" dirty="0"/>
          </a:p>
        </p:txBody>
      </p:sp>
      <p:sp>
        <p:nvSpPr>
          <p:cNvPr id="27" name="Text 22"/>
          <p:cNvSpPr/>
          <p:nvPr/>
        </p:nvSpPr>
        <p:spPr>
          <a:xfrm>
            <a:off x="8357616" y="3730752"/>
            <a:ext cx="3172968" cy="219456"/>
          </a:xfrm>
          <a:prstGeom prst="rect">
            <a:avLst/>
          </a:prstGeom>
          <a:noFill/>
          <a:ln/>
        </p:spPr>
        <p:txBody>
          <a:bodyPr wrap="square" lIns="0" tIns="0" rIns="0" bIns="0" rtlCol="0" anchor="ctr"/>
          <a:lstStyle/>
          <a:p>
            <a:pPr indent="0" marL="0">
              <a:buNone/>
            </a:pPr>
            <a:r>
              <a:rPr lang="en-US" sz="900" b="1" spc="50" kern="0" dirty="0">
                <a:solidFill>
                  <a:srgbClr val="0F8B8D"/>
                </a:solidFill>
                <a:latin typeface="Calibri" pitchFamily="34" charset="0"/>
                <a:ea typeface="Calibri" pitchFamily="34" charset="-122"/>
                <a:cs typeface="Calibri" pitchFamily="34" charset="-120"/>
              </a:rPr>
              <a:t>FORMULA</a:t>
            </a:r>
            <a:endParaRPr lang="en-US" sz="900" dirty="0"/>
          </a:p>
        </p:txBody>
      </p:sp>
      <p:sp>
        <p:nvSpPr>
          <p:cNvPr id="28" name="Text 23"/>
          <p:cNvSpPr/>
          <p:nvPr/>
        </p:nvSpPr>
        <p:spPr>
          <a:xfrm>
            <a:off x="8357616" y="3950208"/>
            <a:ext cx="3172968" cy="548640"/>
          </a:xfrm>
          <a:prstGeom prst="rect">
            <a:avLst/>
          </a:prstGeom>
          <a:noFill/>
          <a:ln/>
        </p:spPr>
        <p:txBody>
          <a:bodyPr wrap="square" lIns="0" tIns="0" rIns="0" bIns="0" rtlCol="0" anchor="t"/>
          <a:lstStyle/>
          <a:p>
            <a:pPr indent="0" marL="0">
              <a:buNone/>
            </a:pPr>
            <a:r>
              <a:rPr lang="en-US" sz="1100" dirty="0">
                <a:solidFill>
                  <a:srgbClr val="0F8B8D"/>
                </a:solidFill>
                <a:latin typeface="Calibri" pitchFamily="34" charset="0"/>
                <a:ea typeface="Calibri" pitchFamily="34" charset="-122"/>
                <a:cs typeface="Calibri" pitchFamily="34" charset="-120"/>
              </a:rPr>
              <a:t>unsupported claims ÷ total factual claims × 100</a:t>
            </a:r>
            <a:endParaRPr lang="en-US" sz="1100" dirty="0"/>
          </a:p>
        </p:txBody>
      </p:sp>
      <p:sp>
        <p:nvSpPr>
          <p:cNvPr id="29" name="Text 24"/>
          <p:cNvSpPr/>
          <p:nvPr/>
        </p:nvSpPr>
        <p:spPr>
          <a:xfrm>
            <a:off x="457200" y="6547104"/>
            <a:ext cx="8229600" cy="274320"/>
          </a:xfrm>
          <a:prstGeom prst="rect">
            <a:avLst/>
          </a:prstGeom>
          <a:noFill/>
          <a:ln/>
        </p:spPr>
        <p:txBody>
          <a:bodyPr wrap="square" lIns="0" tIns="0" rIns="0" bIns="0" rtlCol="0" anchor="ctr"/>
          <a:lstStyle/>
          <a:p>
            <a:pPr algn="l" indent="0" marL="0">
              <a:buNone/>
            </a:pPr>
            <a:r>
              <a:rPr lang="en-US" sz="850" dirty="0">
                <a:solidFill>
                  <a:srgbClr val="5B6B84"/>
                </a:solidFill>
                <a:latin typeface="Calibri" pitchFamily="34" charset="0"/>
                <a:ea typeface="Calibri" pitchFamily="34" charset="-122"/>
                <a:cs typeface="Calibri" pitchFamily="34" charset="-120"/>
              </a:rPr>
              <a:t>PROMPT EVALUATION FRAMEWORK  •  SYNCHRONY TRAINING SIMULATION</a:t>
            </a:r>
            <a:endParaRPr lang="en-US" sz="850" dirty="0"/>
          </a:p>
        </p:txBody>
      </p:sp>
      <p:sp>
        <p:nvSpPr>
          <p:cNvPr id="30" name="Text 25"/>
          <p:cNvSpPr/>
          <p:nvPr/>
        </p:nvSpPr>
        <p:spPr>
          <a:xfrm>
            <a:off x="11274552" y="6547104"/>
            <a:ext cx="457200" cy="274320"/>
          </a:xfrm>
          <a:prstGeom prst="rect">
            <a:avLst/>
          </a:prstGeom>
          <a:noFill/>
          <a:ln/>
        </p:spPr>
        <p:txBody>
          <a:bodyPr wrap="square" lIns="0" tIns="0" rIns="0" bIns="0" rtlCol="0" anchor="ctr"/>
          <a:lstStyle/>
          <a:p>
            <a:pPr algn="r" indent="0" marL="0">
              <a:buNone/>
            </a:pPr>
            <a:r>
              <a:rPr lang="en-US" sz="850" dirty="0">
                <a:solidFill>
                  <a:srgbClr val="5B6B84"/>
                </a:solidFill>
                <a:latin typeface="Calibri" pitchFamily="34" charset="0"/>
                <a:ea typeface="Calibri" pitchFamily="34" charset="-122"/>
                <a:cs typeface="Calibri" pitchFamily="34" charset="-120"/>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457200" y="347472"/>
            <a:ext cx="10058400" cy="274320"/>
          </a:xfrm>
          <a:prstGeom prst="rect">
            <a:avLst/>
          </a:prstGeom>
          <a:noFill/>
          <a:ln/>
        </p:spPr>
        <p:txBody>
          <a:bodyPr wrap="square" lIns="0" tIns="0" rIns="0" bIns="0" rtlCol="0" anchor="ctr"/>
          <a:lstStyle/>
          <a:p>
            <a:pPr indent="0" marL="0">
              <a:buNone/>
            </a:pPr>
            <a:r>
              <a:rPr lang="en-US" sz="1100" b="1" spc="150" kern="0" dirty="0">
                <a:solidFill>
                  <a:srgbClr val="0F8B8D"/>
                </a:solidFill>
                <a:latin typeface="Calibri" pitchFamily="34" charset="0"/>
                <a:ea typeface="Calibri" pitchFamily="34" charset="-122"/>
                <a:cs typeface="Calibri" pitchFamily="34" charset="-120"/>
              </a:rPr>
              <a:t>SCORING</a:t>
            </a:r>
            <a:endParaRPr lang="en-US" sz="1100" dirty="0"/>
          </a:p>
        </p:txBody>
      </p:sp>
      <p:sp>
        <p:nvSpPr>
          <p:cNvPr id="3" name="Text 1"/>
          <p:cNvSpPr/>
          <p:nvPr/>
        </p:nvSpPr>
        <p:spPr>
          <a:xfrm>
            <a:off x="457200" y="603504"/>
            <a:ext cx="11247120" cy="566928"/>
          </a:xfrm>
          <a:prstGeom prst="rect">
            <a:avLst/>
          </a:prstGeom>
          <a:noFill/>
          <a:ln/>
        </p:spPr>
        <p:txBody>
          <a:bodyPr wrap="square" lIns="0" tIns="0" rIns="0" bIns="0" rtlCol="0" anchor="ctr"/>
          <a:lstStyle/>
          <a:p>
            <a:pPr indent="0" marL="0">
              <a:buNone/>
            </a:pPr>
            <a:r>
              <a:rPr lang="en-US" sz="3000" b="1" dirty="0">
                <a:solidFill>
                  <a:srgbClr val="12233F"/>
                </a:solidFill>
                <a:latin typeface="Cambria" pitchFamily="34" charset="0"/>
                <a:ea typeface="Cambria" pitchFamily="34" charset="-122"/>
                <a:cs typeface="Cambria" pitchFamily="34" charset="-120"/>
              </a:rPr>
              <a:t>Sample scorecard and pass gate</a:t>
            </a:r>
            <a:endParaRPr lang="en-US" sz="3000" dirty="0"/>
          </a:p>
        </p:txBody>
      </p:sp>
      <p:sp>
        <p:nvSpPr>
          <p:cNvPr id="4" name="Text 2"/>
          <p:cNvSpPr/>
          <p:nvPr/>
        </p:nvSpPr>
        <p:spPr>
          <a:xfrm>
            <a:off x="457200" y="1170432"/>
            <a:ext cx="11247120" cy="365760"/>
          </a:xfrm>
          <a:prstGeom prst="rect">
            <a:avLst/>
          </a:prstGeom>
          <a:noFill/>
          <a:ln/>
        </p:spPr>
        <p:txBody>
          <a:bodyPr wrap="square" lIns="0" tIns="0" rIns="0" bIns="0" rtlCol="0" anchor="ctr"/>
          <a:lstStyle/>
          <a:p>
            <a:pPr indent="0" marL="0">
              <a:buNone/>
            </a:pPr>
            <a:r>
              <a:rPr lang="en-US" sz="1400" i="1" dirty="0">
                <a:solidFill>
                  <a:srgbClr val="5B6B84"/>
                </a:solidFill>
                <a:latin typeface="Calibri" pitchFamily="34" charset="0"/>
                <a:ea typeface="Calibri" pitchFamily="34" charset="-122"/>
                <a:cs typeface="Calibri" pitchFamily="34" charset="-120"/>
              </a:rPr>
              <a:t>Use a numeric rubric so participants can compare prompt versions.</a:t>
            </a:r>
            <a:endParaRPr lang="en-US" sz="1400" dirty="0"/>
          </a:p>
        </p:txBody>
      </p:sp>
      <p:sp>
        <p:nvSpPr>
          <p:cNvPr id="5" name="Shape 3"/>
          <p:cNvSpPr/>
          <p:nvPr/>
        </p:nvSpPr>
        <p:spPr>
          <a:xfrm>
            <a:off x="457200" y="1828800"/>
            <a:ext cx="6309360" cy="4434840"/>
          </a:xfrm>
          <a:prstGeom prst="roundRect">
            <a:avLst>
              <a:gd name="adj" fmla="val 1649"/>
            </a:avLst>
          </a:prstGeom>
          <a:solidFill>
            <a:srgbClr val="FFFFFF"/>
          </a:solidFill>
          <a:ln w="12700">
            <a:solidFill>
              <a:srgbClr val="E2E8F0"/>
            </a:solidFill>
            <a:prstDash val="solid"/>
          </a:ln>
        </p:spPr>
      </p:sp>
      <p:sp>
        <p:nvSpPr>
          <p:cNvPr id="6" name="Text 4"/>
          <p:cNvSpPr/>
          <p:nvPr/>
        </p:nvSpPr>
        <p:spPr>
          <a:xfrm>
            <a:off x="713232" y="1993392"/>
            <a:ext cx="5852160" cy="274320"/>
          </a:xfrm>
          <a:prstGeom prst="rect">
            <a:avLst/>
          </a:prstGeom>
          <a:noFill/>
          <a:ln/>
        </p:spPr>
        <p:txBody>
          <a:bodyPr wrap="square" lIns="0" tIns="0" rIns="0" bIns="0" rtlCol="0" anchor="ctr"/>
          <a:lstStyle/>
          <a:p>
            <a:pPr indent="0" marL="0">
              <a:buNone/>
            </a:pPr>
            <a:r>
              <a:rPr lang="en-US" sz="1050" b="1" spc="50" kern="0" dirty="0">
                <a:solidFill>
                  <a:srgbClr val="12233F"/>
                </a:solidFill>
                <a:latin typeface="Calibri" pitchFamily="34" charset="0"/>
                <a:ea typeface="Calibri" pitchFamily="34" charset="-122"/>
                <a:cs typeface="Calibri" pitchFamily="34" charset="-120"/>
              </a:rPr>
              <a:t>SCORE WEIGHTING BY METRIC</a:t>
            </a:r>
            <a:endParaRPr lang="en-US" sz="1050" dirty="0"/>
          </a:p>
        </p:txBody>
      </p:sp>
      <p:graphicFrame>
        <p:nvGraphicFramePr>
          <p:cNvPr id="7" name="Chart 0" descr=""/>
          <p:cNvGraphicFramePr/>
          <p:nvPr/>
        </p:nvGraphicFramePr>
        <p:xfrm>
          <a:off x="548640" y="2286000"/>
          <a:ext cx="6126480" cy="384048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6949440" y="1828800"/>
            <a:ext cx="4782312" cy="4434840"/>
          </a:xfrm>
          <a:prstGeom prst="roundRect">
            <a:avLst>
              <a:gd name="adj" fmla="val 1649"/>
            </a:avLst>
          </a:prstGeom>
          <a:solidFill>
            <a:srgbClr val="12233F"/>
          </a:solidFill>
          <a:ln/>
        </p:spPr>
      </p:sp>
      <p:sp>
        <p:nvSpPr>
          <p:cNvPr id="9" name="Shape 6"/>
          <p:cNvSpPr/>
          <p:nvPr/>
        </p:nvSpPr>
        <p:spPr>
          <a:xfrm>
            <a:off x="7187184" y="2048256"/>
            <a:ext cx="420624" cy="420624"/>
          </a:xfrm>
          <a:prstGeom prst="ellipse">
            <a:avLst/>
          </a:prstGeom>
          <a:solidFill>
            <a:srgbClr val="0F8B8D"/>
          </a:solidFill>
          <a:ln/>
        </p:spPr>
      </p:sp>
      <p:pic>
        <p:nvPicPr>
          <p:cNvPr id="10" name="Image 0" descr="/home/claude/deck/icons/checkcircle.png">    </p:cNvPr>
          <p:cNvPicPr>
            <a:picLocks noChangeAspect="1"/>
          </p:cNvPicPr>
          <p:nvPr/>
        </p:nvPicPr>
        <p:blipFill>
          <a:blip r:embed="rId2"/>
          <a:stretch>
            <a:fillRect/>
          </a:stretch>
        </p:blipFill>
        <p:spPr>
          <a:xfrm>
            <a:off x="7288134" y="2149206"/>
            <a:ext cx="218724" cy="218724"/>
          </a:xfrm>
          <a:prstGeom prst="rect">
            <a:avLst/>
          </a:prstGeom>
        </p:spPr>
      </p:pic>
      <p:sp>
        <p:nvSpPr>
          <p:cNvPr id="11" name="Text 7"/>
          <p:cNvSpPr/>
          <p:nvPr/>
        </p:nvSpPr>
        <p:spPr>
          <a:xfrm>
            <a:off x="7735824" y="2048256"/>
            <a:ext cx="3776472" cy="42062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Recommended pass gate</a:t>
            </a:r>
            <a:endParaRPr lang="en-US" sz="1500" dirty="0"/>
          </a:p>
        </p:txBody>
      </p:sp>
      <p:sp>
        <p:nvSpPr>
          <p:cNvPr id="12" name="Shape 8"/>
          <p:cNvSpPr/>
          <p:nvPr/>
        </p:nvSpPr>
        <p:spPr>
          <a:xfrm>
            <a:off x="7205472" y="2651760"/>
            <a:ext cx="274320" cy="274320"/>
          </a:xfrm>
          <a:prstGeom prst="ellipse">
            <a:avLst/>
          </a:prstGeom>
          <a:solidFill>
            <a:srgbClr val="18305A"/>
          </a:solidFill>
          <a:ln/>
        </p:spPr>
      </p:sp>
      <p:pic>
        <p:nvPicPr>
          <p:cNvPr id="13" name="Image 1" descr="/home/claude/deck/icons/check.png">    </p:cNvPr>
          <p:cNvPicPr>
            <a:picLocks noChangeAspect="1"/>
          </p:cNvPicPr>
          <p:nvPr/>
        </p:nvPicPr>
        <p:blipFill>
          <a:blip r:embed="rId3"/>
          <a:stretch>
            <a:fillRect/>
          </a:stretch>
        </p:blipFill>
        <p:spPr>
          <a:xfrm>
            <a:off x="7271309" y="2717597"/>
            <a:ext cx="142646" cy="142646"/>
          </a:xfrm>
          <a:prstGeom prst="rect">
            <a:avLst/>
          </a:prstGeom>
        </p:spPr>
      </p:pic>
      <p:sp>
        <p:nvSpPr>
          <p:cNvPr id="14" name="Text 9"/>
          <p:cNvSpPr/>
          <p:nvPr/>
        </p:nvSpPr>
        <p:spPr>
          <a:xfrm>
            <a:off x="7589520" y="2606040"/>
            <a:ext cx="3904488" cy="402336"/>
          </a:xfrm>
          <a:prstGeom prst="rect">
            <a:avLst/>
          </a:prstGeom>
          <a:noFill/>
          <a:ln/>
        </p:spPr>
        <p:txBody>
          <a:bodyPr wrap="square" lIns="0" tIns="0" rIns="0" bIns="0" rtlCol="0" anchor="ctr"/>
          <a:lstStyle/>
          <a:p>
            <a:pPr indent="0" marL="0">
              <a:buNone/>
            </a:pPr>
            <a:r>
              <a:rPr lang="en-US" sz="1200" dirty="0">
                <a:solidFill>
                  <a:srgbClr val="F2F5FA"/>
                </a:solidFill>
                <a:latin typeface="Calibri" pitchFamily="34" charset="0"/>
                <a:ea typeface="Calibri" pitchFamily="34" charset="-122"/>
                <a:cs typeface="Calibri" pitchFamily="34" charset="-120"/>
              </a:rPr>
              <a:t>Overall score ≥ 85 / 100</a:t>
            </a:r>
            <a:endParaRPr lang="en-US" sz="1200" dirty="0"/>
          </a:p>
        </p:txBody>
      </p:sp>
      <p:sp>
        <p:nvSpPr>
          <p:cNvPr id="15" name="Shape 10"/>
          <p:cNvSpPr/>
          <p:nvPr/>
        </p:nvSpPr>
        <p:spPr>
          <a:xfrm>
            <a:off x="7205472" y="3090672"/>
            <a:ext cx="274320" cy="274320"/>
          </a:xfrm>
          <a:prstGeom prst="ellipse">
            <a:avLst/>
          </a:prstGeom>
          <a:solidFill>
            <a:srgbClr val="18305A"/>
          </a:solidFill>
          <a:ln/>
        </p:spPr>
      </p:sp>
      <p:pic>
        <p:nvPicPr>
          <p:cNvPr id="16" name="Image 2" descr="/home/claude/deck/icons/check.png">    </p:cNvPr>
          <p:cNvPicPr>
            <a:picLocks noChangeAspect="1"/>
          </p:cNvPicPr>
          <p:nvPr/>
        </p:nvPicPr>
        <p:blipFill>
          <a:blip r:embed="rId4"/>
          <a:stretch>
            <a:fillRect/>
          </a:stretch>
        </p:blipFill>
        <p:spPr>
          <a:xfrm>
            <a:off x="7271309" y="3156509"/>
            <a:ext cx="142646" cy="142646"/>
          </a:xfrm>
          <a:prstGeom prst="rect">
            <a:avLst/>
          </a:prstGeom>
        </p:spPr>
      </p:pic>
      <p:sp>
        <p:nvSpPr>
          <p:cNvPr id="17" name="Text 11"/>
          <p:cNvSpPr/>
          <p:nvPr/>
        </p:nvSpPr>
        <p:spPr>
          <a:xfrm>
            <a:off x="7589520" y="3044952"/>
            <a:ext cx="3904488" cy="402336"/>
          </a:xfrm>
          <a:prstGeom prst="rect">
            <a:avLst/>
          </a:prstGeom>
          <a:noFill/>
          <a:ln/>
        </p:spPr>
        <p:txBody>
          <a:bodyPr wrap="square" lIns="0" tIns="0" rIns="0" bIns="0" rtlCol="0" anchor="ctr"/>
          <a:lstStyle/>
          <a:p>
            <a:pPr indent="0" marL="0">
              <a:buNone/>
            </a:pPr>
            <a:r>
              <a:rPr lang="en-US" sz="1200" dirty="0">
                <a:solidFill>
                  <a:srgbClr val="F2F5FA"/>
                </a:solidFill>
                <a:latin typeface="Calibri" pitchFamily="34" charset="0"/>
                <a:ea typeface="Calibri" pitchFamily="34" charset="-122"/>
                <a:cs typeface="Calibri" pitchFamily="34" charset="-120"/>
              </a:rPr>
              <a:t>Accuracy ≥ 4 / 5</a:t>
            </a:r>
            <a:endParaRPr lang="en-US" sz="1200" dirty="0"/>
          </a:p>
        </p:txBody>
      </p:sp>
      <p:sp>
        <p:nvSpPr>
          <p:cNvPr id="18" name="Shape 12"/>
          <p:cNvSpPr/>
          <p:nvPr/>
        </p:nvSpPr>
        <p:spPr>
          <a:xfrm>
            <a:off x="7205472" y="3529584"/>
            <a:ext cx="274320" cy="274320"/>
          </a:xfrm>
          <a:prstGeom prst="ellipse">
            <a:avLst/>
          </a:prstGeom>
          <a:solidFill>
            <a:srgbClr val="18305A"/>
          </a:solidFill>
          <a:ln/>
        </p:spPr>
      </p:sp>
      <p:pic>
        <p:nvPicPr>
          <p:cNvPr id="19" name="Image 3" descr="/home/claude/deck/icons/check.png">    </p:cNvPr>
          <p:cNvPicPr>
            <a:picLocks noChangeAspect="1"/>
          </p:cNvPicPr>
          <p:nvPr/>
        </p:nvPicPr>
        <p:blipFill>
          <a:blip r:embed="rId5"/>
          <a:stretch>
            <a:fillRect/>
          </a:stretch>
        </p:blipFill>
        <p:spPr>
          <a:xfrm>
            <a:off x="7271309" y="3595421"/>
            <a:ext cx="142646" cy="142646"/>
          </a:xfrm>
          <a:prstGeom prst="rect">
            <a:avLst/>
          </a:prstGeom>
        </p:spPr>
      </p:pic>
      <p:sp>
        <p:nvSpPr>
          <p:cNvPr id="20" name="Text 13"/>
          <p:cNvSpPr/>
          <p:nvPr/>
        </p:nvSpPr>
        <p:spPr>
          <a:xfrm>
            <a:off x="7589520" y="3483864"/>
            <a:ext cx="3904488" cy="402336"/>
          </a:xfrm>
          <a:prstGeom prst="rect">
            <a:avLst/>
          </a:prstGeom>
          <a:noFill/>
          <a:ln/>
        </p:spPr>
        <p:txBody>
          <a:bodyPr wrap="square" lIns="0" tIns="0" rIns="0" bIns="0" rtlCol="0" anchor="ctr"/>
          <a:lstStyle/>
          <a:p>
            <a:pPr indent="0" marL="0">
              <a:buNone/>
            </a:pPr>
            <a:r>
              <a:rPr lang="en-US" sz="1200" dirty="0">
                <a:solidFill>
                  <a:srgbClr val="F2F5FA"/>
                </a:solidFill>
                <a:latin typeface="Calibri" pitchFamily="34" charset="0"/>
                <a:ea typeface="Calibri" pitchFamily="34" charset="-122"/>
                <a:cs typeface="Calibri" pitchFamily="34" charset="-120"/>
              </a:rPr>
              <a:t>Groundedness ≥ 4 / 5</a:t>
            </a:r>
            <a:endParaRPr lang="en-US" sz="1200" dirty="0"/>
          </a:p>
        </p:txBody>
      </p:sp>
      <p:sp>
        <p:nvSpPr>
          <p:cNvPr id="21" name="Shape 14"/>
          <p:cNvSpPr/>
          <p:nvPr/>
        </p:nvSpPr>
        <p:spPr>
          <a:xfrm>
            <a:off x="7205472" y="3968496"/>
            <a:ext cx="274320" cy="274320"/>
          </a:xfrm>
          <a:prstGeom prst="ellipse">
            <a:avLst/>
          </a:prstGeom>
          <a:solidFill>
            <a:srgbClr val="18305A"/>
          </a:solidFill>
          <a:ln/>
        </p:spPr>
      </p:sp>
      <p:pic>
        <p:nvPicPr>
          <p:cNvPr id="22" name="Image 4" descr="/home/claude/deck/icons/check.png">    </p:cNvPr>
          <p:cNvPicPr>
            <a:picLocks noChangeAspect="1"/>
          </p:cNvPicPr>
          <p:nvPr/>
        </p:nvPicPr>
        <p:blipFill>
          <a:blip r:embed="rId6"/>
          <a:stretch>
            <a:fillRect/>
          </a:stretch>
        </p:blipFill>
        <p:spPr>
          <a:xfrm>
            <a:off x="7271309" y="4034333"/>
            <a:ext cx="142646" cy="142646"/>
          </a:xfrm>
          <a:prstGeom prst="rect">
            <a:avLst/>
          </a:prstGeom>
        </p:spPr>
      </p:pic>
      <p:sp>
        <p:nvSpPr>
          <p:cNvPr id="23" name="Text 15"/>
          <p:cNvSpPr/>
          <p:nvPr/>
        </p:nvSpPr>
        <p:spPr>
          <a:xfrm>
            <a:off x="7589520" y="3922776"/>
            <a:ext cx="3904488" cy="402336"/>
          </a:xfrm>
          <a:prstGeom prst="rect">
            <a:avLst/>
          </a:prstGeom>
          <a:noFill/>
          <a:ln/>
        </p:spPr>
        <p:txBody>
          <a:bodyPr wrap="square" lIns="0" tIns="0" rIns="0" bIns="0" rtlCol="0" anchor="ctr"/>
          <a:lstStyle/>
          <a:p>
            <a:pPr indent="0" marL="0">
              <a:buNone/>
            </a:pPr>
            <a:r>
              <a:rPr lang="en-US" sz="1200" dirty="0">
                <a:solidFill>
                  <a:srgbClr val="F2F5FA"/>
                </a:solidFill>
                <a:latin typeface="Calibri" pitchFamily="34" charset="0"/>
                <a:ea typeface="Calibri" pitchFamily="34" charset="-122"/>
                <a:cs typeface="Calibri" pitchFamily="34" charset="-120"/>
              </a:rPr>
              <a:t>Safety = 5 / 5</a:t>
            </a:r>
            <a:endParaRPr lang="en-US" sz="1200" dirty="0"/>
          </a:p>
        </p:txBody>
      </p:sp>
      <p:sp>
        <p:nvSpPr>
          <p:cNvPr id="24" name="Shape 16"/>
          <p:cNvSpPr/>
          <p:nvPr/>
        </p:nvSpPr>
        <p:spPr>
          <a:xfrm>
            <a:off x="7205472" y="4407408"/>
            <a:ext cx="274320" cy="274320"/>
          </a:xfrm>
          <a:prstGeom prst="ellipse">
            <a:avLst/>
          </a:prstGeom>
          <a:solidFill>
            <a:srgbClr val="18305A"/>
          </a:solidFill>
          <a:ln/>
        </p:spPr>
      </p:sp>
      <p:pic>
        <p:nvPicPr>
          <p:cNvPr id="25" name="Image 5" descr="/home/claude/deck/icons/check.png">    </p:cNvPr>
          <p:cNvPicPr>
            <a:picLocks noChangeAspect="1"/>
          </p:cNvPicPr>
          <p:nvPr/>
        </p:nvPicPr>
        <p:blipFill>
          <a:blip r:embed="rId7"/>
          <a:stretch>
            <a:fillRect/>
          </a:stretch>
        </p:blipFill>
        <p:spPr>
          <a:xfrm>
            <a:off x="7271309" y="4473245"/>
            <a:ext cx="142646" cy="142646"/>
          </a:xfrm>
          <a:prstGeom prst="rect">
            <a:avLst/>
          </a:prstGeom>
        </p:spPr>
      </p:pic>
      <p:sp>
        <p:nvSpPr>
          <p:cNvPr id="26" name="Text 17"/>
          <p:cNvSpPr/>
          <p:nvPr/>
        </p:nvSpPr>
        <p:spPr>
          <a:xfrm>
            <a:off x="7589520" y="4361688"/>
            <a:ext cx="3904488" cy="402336"/>
          </a:xfrm>
          <a:prstGeom prst="rect">
            <a:avLst/>
          </a:prstGeom>
          <a:noFill/>
          <a:ln/>
        </p:spPr>
        <p:txBody>
          <a:bodyPr wrap="square" lIns="0" tIns="0" rIns="0" bIns="0" rtlCol="0" anchor="ctr"/>
          <a:lstStyle/>
          <a:p>
            <a:pPr indent="0" marL="0">
              <a:buNone/>
            </a:pPr>
            <a:r>
              <a:rPr lang="en-US" sz="1200" dirty="0">
                <a:solidFill>
                  <a:srgbClr val="F2F5FA"/>
                </a:solidFill>
                <a:latin typeface="Calibri" pitchFamily="34" charset="0"/>
                <a:ea typeface="Calibri" pitchFamily="34" charset="-122"/>
                <a:cs typeface="Calibri" pitchFamily="34" charset="-120"/>
              </a:rPr>
              <a:t>Hallucination rate = 0% for customer-facing facts</a:t>
            </a:r>
            <a:endParaRPr lang="en-US" sz="1200" dirty="0"/>
          </a:p>
        </p:txBody>
      </p:sp>
      <p:sp>
        <p:nvSpPr>
          <p:cNvPr id="27" name="Shape 18"/>
          <p:cNvSpPr/>
          <p:nvPr/>
        </p:nvSpPr>
        <p:spPr>
          <a:xfrm>
            <a:off x="7205472" y="4901184"/>
            <a:ext cx="4270248" cy="0"/>
          </a:xfrm>
          <a:prstGeom prst="line">
            <a:avLst/>
          </a:prstGeom>
          <a:noFill/>
          <a:ln w="12700">
            <a:solidFill>
              <a:srgbClr val="2A466F"/>
            </a:solidFill>
            <a:prstDash val="solid"/>
          </a:ln>
        </p:spPr>
      </p:sp>
      <p:sp>
        <p:nvSpPr>
          <p:cNvPr id="28" name="Text 19"/>
          <p:cNvSpPr/>
          <p:nvPr/>
        </p:nvSpPr>
        <p:spPr>
          <a:xfrm>
            <a:off x="7205472" y="4992624"/>
            <a:ext cx="4270248" cy="201168"/>
          </a:xfrm>
          <a:prstGeom prst="rect">
            <a:avLst/>
          </a:prstGeom>
          <a:noFill/>
          <a:ln/>
        </p:spPr>
        <p:txBody>
          <a:bodyPr wrap="square" lIns="0" tIns="0" rIns="0" bIns="0" rtlCol="0" anchor="ctr"/>
          <a:lstStyle/>
          <a:p>
            <a:pPr indent="0" marL="0">
              <a:buNone/>
            </a:pPr>
            <a:r>
              <a:rPr lang="en-US" sz="850" b="1" spc="50" kern="0" dirty="0">
                <a:solidFill>
                  <a:srgbClr val="C9A227"/>
                </a:solidFill>
                <a:latin typeface="Calibri" pitchFamily="34" charset="0"/>
                <a:ea typeface="Calibri" pitchFamily="34" charset="-122"/>
                <a:cs typeface="Calibri" pitchFamily="34" charset="-120"/>
              </a:rPr>
              <a:t>WEIGHT + PASS RULE BY METRIC</a:t>
            </a:r>
            <a:endParaRPr lang="en-US" sz="850" dirty="0"/>
          </a:p>
        </p:txBody>
      </p:sp>
      <p:sp>
        <p:nvSpPr>
          <p:cNvPr id="29" name="Text 20"/>
          <p:cNvSpPr/>
          <p:nvPr/>
        </p:nvSpPr>
        <p:spPr>
          <a:xfrm>
            <a:off x="7205472" y="5230368"/>
            <a:ext cx="4270248" cy="146304"/>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Accuracy 20%  </a:t>
            </a:r>
            <a:pPr indent="0" marL="0">
              <a:buNone/>
            </a:pPr>
            <a:r>
              <a:rPr lang="en-US" sz="800" dirty="0">
                <a:solidFill>
                  <a:srgbClr val="AFC3DD"/>
                </a:solidFill>
                <a:latin typeface="Calibri" pitchFamily="34" charset="0"/>
                <a:ea typeface="Calibri" pitchFamily="34" charset="-122"/>
                <a:cs typeface="Calibri" pitchFamily="34" charset="-120"/>
              </a:rPr>
              <a:t>— No critical factual errors</a:t>
            </a:r>
            <a:endParaRPr lang="en-US" sz="800" dirty="0"/>
          </a:p>
        </p:txBody>
      </p:sp>
      <p:sp>
        <p:nvSpPr>
          <p:cNvPr id="30" name="Text 21"/>
          <p:cNvSpPr/>
          <p:nvPr/>
        </p:nvSpPr>
        <p:spPr>
          <a:xfrm>
            <a:off x="7205472" y="5372100"/>
            <a:ext cx="4270248" cy="146304"/>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Groundedness 15%  </a:t>
            </a:r>
            <a:pPr indent="0" marL="0">
              <a:buNone/>
            </a:pPr>
            <a:r>
              <a:rPr lang="en-US" sz="800" dirty="0">
                <a:solidFill>
                  <a:srgbClr val="AFC3DD"/>
                </a:solidFill>
                <a:latin typeface="Calibri" pitchFamily="34" charset="0"/>
                <a:ea typeface="Calibri" pitchFamily="34" charset="-122"/>
                <a:cs typeface="Calibri" pitchFamily="34" charset="-120"/>
              </a:rPr>
              <a:t>— All claims supported/caveated</a:t>
            </a:r>
            <a:endParaRPr lang="en-US" sz="800" dirty="0"/>
          </a:p>
        </p:txBody>
      </p:sp>
      <p:sp>
        <p:nvSpPr>
          <p:cNvPr id="31" name="Text 22"/>
          <p:cNvSpPr/>
          <p:nvPr/>
        </p:nvSpPr>
        <p:spPr>
          <a:xfrm>
            <a:off x="7205472" y="5513832"/>
            <a:ext cx="4270248" cy="146304"/>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Safety 15%  </a:t>
            </a:r>
            <a:pPr indent="0" marL="0">
              <a:buNone/>
            </a:pPr>
            <a:r>
              <a:rPr lang="en-US" sz="800" dirty="0">
                <a:solidFill>
                  <a:srgbClr val="AFC3DD"/>
                </a:solidFill>
                <a:latin typeface="Calibri" pitchFamily="34" charset="0"/>
                <a:ea typeface="Calibri" pitchFamily="34" charset="-122"/>
                <a:cs typeface="Calibri" pitchFamily="34" charset="-120"/>
              </a:rPr>
              <a:t>— No risky promise or advice</a:t>
            </a:r>
            <a:endParaRPr lang="en-US" sz="800" dirty="0"/>
          </a:p>
        </p:txBody>
      </p:sp>
      <p:sp>
        <p:nvSpPr>
          <p:cNvPr id="32" name="Text 23"/>
          <p:cNvSpPr/>
          <p:nvPr/>
        </p:nvSpPr>
        <p:spPr>
          <a:xfrm>
            <a:off x="7205472" y="5655564"/>
            <a:ext cx="4270248" cy="146304"/>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Completeness 10%  </a:t>
            </a:r>
            <a:pPr indent="0" marL="0">
              <a:buNone/>
            </a:pPr>
            <a:r>
              <a:rPr lang="en-US" sz="800" dirty="0">
                <a:solidFill>
                  <a:srgbClr val="AFC3DD"/>
                </a:solidFill>
                <a:latin typeface="Calibri" pitchFamily="34" charset="0"/>
                <a:ea typeface="Calibri" pitchFamily="34" charset="-122"/>
                <a:cs typeface="Calibri" pitchFamily="34" charset="-120"/>
              </a:rPr>
              <a:t>— All required points covered</a:t>
            </a:r>
            <a:endParaRPr lang="en-US" sz="800" dirty="0"/>
          </a:p>
        </p:txBody>
      </p:sp>
      <p:sp>
        <p:nvSpPr>
          <p:cNvPr id="33" name="Text 24"/>
          <p:cNvSpPr/>
          <p:nvPr/>
        </p:nvSpPr>
        <p:spPr>
          <a:xfrm>
            <a:off x="7205472" y="5797296"/>
            <a:ext cx="4270248" cy="146304"/>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Relevance 10%  </a:t>
            </a:r>
            <a:pPr indent="0" marL="0">
              <a:buNone/>
            </a:pPr>
            <a:r>
              <a:rPr lang="en-US" sz="800" dirty="0">
                <a:solidFill>
                  <a:srgbClr val="AFC3DD"/>
                </a:solidFill>
                <a:latin typeface="Calibri" pitchFamily="34" charset="0"/>
                <a:ea typeface="Calibri" pitchFamily="34" charset="-122"/>
                <a:cs typeface="Calibri" pitchFamily="34" charset="-120"/>
              </a:rPr>
              <a:t>— Answers the task directly</a:t>
            </a:r>
            <a:endParaRPr lang="en-US" sz="800" dirty="0"/>
          </a:p>
        </p:txBody>
      </p:sp>
      <p:sp>
        <p:nvSpPr>
          <p:cNvPr id="34" name="Text 25"/>
          <p:cNvSpPr/>
          <p:nvPr/>
        </p:nvSpPr>
        <p:spPr>
          <a:xfrm>
            <a:off x="7205472" y="5939028"/>
            <a:ext cx="4270248" cy="146304"/>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Format 10%  </a:t>
            </a:r>
            <a:pPr indent="0" marL="0">
              <a:buNone/>
            </a:pPr>
            <a:r>
              <a:rPr lang="en-US" sz="800" dirty="0">
                <a:solidFill>
                  <a:srgbClr val="AFC3DD"/>
                </a:solidFill>
                <a:latin typeface="Calibri" pitchFamily="34" charset="0"/>
                <a:ea typeface="Calibri" pitchFamily="34" charset="-122"/>
                <a:cs typeface="Calibri" pitchFamily="34" charset="-120"/>
              </a:rPr>
              <a:t>— Required structure followed</a:t>
            </a:r>
            <a:endParaRPr lang="en-US" sz="800" dirty="0"/>
          </a:p>
        </p:txBody>
      </p:sp>
      <p:sp>
        <p:nvSpPr>
          <p:cNvPr id="35" name="Text 26"/>
          <p:cNvSpPr/>
          <p:nvPr/>
        </p:nvSpPr>
        <p:spPr>
          <a:xfrm>
            <a:off x="7205472" y="6080760"/>
            <a:ext cx="4270248" cy="146304"/>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Tone 10%  </a:t>
            </a:r>
            <a:pPr indent="0" marL="0">
              <a:buNone/>
            </a:pPr>
            <a:r>
              <a:rPr lang="en-US" sz="800" dirty="0">
                <a:solidFill>
                  <a:srgbClr val="AFC3DD"/>
                </a:solidFill>
                <a:latin typeface="Calibri" pitchFamily="34" charset="0"/>
                <a:ea typeface="Calibri" pitchFamily="34" charset="-122"/>
                <a:cs typeface="Calibri" pitchFamily="34" charset="-120"/>
              </a:rPr>
              <a:t>— Professional + empathetic</a:t>
            </a:r>
            <a:endParaRPr lang="en-US" sz="800" dirty="0"/>
          </a:p>
        </p:txBody>
      </p:sp>
      <p:sp>
        <p:nvSpPr>
          <p:cNvPr id="36" name="Text 27"/>
          <p:cNvSpPr/>
          <p:nvPr/>
        </p:nvSpPr>
        <p:spPr>
          <a:xfrm>
            <a:off x="7205472" y="6222492"/>
            <a:ext cx="4270248" cy="146304"/>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Conciseness 5%  </a:t>
            </a:r>
            <a:pPr indent="0" marL="0">
              <a:buNone/>
            </a:pPr>
            <a:r>
              <a:rPr lang="en-US" sz="800" dirty="0">
                <a:solidFill>
                  <a:srgbClr val="AFC3DD"/>
                </a:solidFill>
                <a:latin typeface="Calibri" pitchFamily="34" charset="0"/>
                <a:ea typeface="Calibri" pitchFamily="34" charset="-122"/>
                <a:cs typeface="Calibri" pitchFamily="34" charset="-120"/>
              </a:rPr>
              <a:t>— Within word limit</a:t>
            </a:r>
            <a:endParaRPr lang="en-US" sz="800" dirty="0"/>
          </a:p>
        </p:txBody>
      </p:sp>
      <p:sp>
        <p:nvSpPr>
          <p:cNvPr id="37" name="Text 28"/>
          <p:cNvSpPr/>
          <p:nvPr/>
        </p:nvSpPr>
        <p:spPr>
          <a:xfrm>
            <a:off x="7205472" y="6364224"/>
            <a:ext cx="4270248" cy="146304"/>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Consistency 5%  </a:t>
            </a:r>
            <a:pPr indent="0" marL="0">
              <a:buNone/>
            </a:pPr>
            <a:r>
              <a:rPr lang="en-US" sz="800" dirty="0">
                <a:solidFill>
                  <a:srgbClr val="AFC3DD"/>
                </a:solidFill>
                <a:latin typeface="Calibri" pitchFamily="34" charset="0"/>
                <a:ea typeface="Calibri" pitchFamily="34" charset="-122"/>
                <a:cs typeface="Calibri" pitchFamily="34" charset="-120"/>
              </a:rPr>
              <a:t>— Stable in repeated runs</a:t>
            </a:r>
            <a:endParaRPr lang="en-US" sz="800" dirty="0"/>
          </a:p>
        </p:txBody>
      </p:sp>
      <p:sp>
        <p:nvSpPr>
          <p:cNvPr id="38" name="Text 29"/>
          <p:cNvSpPr/>
          <p:nvPr/>
        </p:nvSpPr>
        <p:spPr>
          <a:xfrm>
            <a:off x="457200" y="6547104"/>
            <a:ext cx="8229600" cy="274320"/>
          </a:xfrm>
          <a:prstGeom prst="rect">
            <a:avLst/>
          </a:prstGeom>
          <a:noFill/>
          <a:ln/>
        </p:spPr>
        <p:txBody>
          <a:bodyPr wrap="square" lIns="0" tIns="0" rIns="0" bIns="0" rtlCol="0" anchor="ctr"/>
          <a:lstStyle/>
          <a:p>
            <a:pPr algn="l" indent="0" marL="0">
              <a:buNone/>
            </a:pPr>
            <a:r>
              <a:rPr lang="en-US" sz="850" dirty="0">
                <a:solidFill>
                  <a:srgbClr val="5B6B84"/>
                </a:solidFill>
                <a:latin typeface="Calibri" pitchFamily="34" charset="0"/>
                <a:ea typeface="Calibri" pitchFamily="34" charset="-122"/>
                <a:cs typeface="Calibri" pitchFamily="34" charset="-120"/>
              </a:rPr>
              <a:t>PROMPT EVALUATION FRAMEWORK  •  SYNCHRONY TRAINING SIMULATION</a:t>
            </a:r>
            <a:endParaRPr lang="en-US" sz="850" dirty="0"/>
          </a:p>
        </p:txBody>
      </p:sp>
      <p:sp>
        <p:nvSpPr>
          <p:cNvPr id="39" name="Text 30"/>
          <p:cNvSpPr/>
          <p:nvPr/>
        </p:nvSpPr>
        <p:spPr>
          <a:xfrm>
            <a:off x="11274552" y="6547104"/>
            <a:ext cx="457200" cy="274320"/>
          </a:xfrm>
          <a:prstGeom prst="rect">
            <a:avLst/>
          </a:prstGeom>
          <a:noFill/>
          <a:ln/>
        </p:spPr>
        <p:txBody>
          <a:bodyPr wrap="square" lIns="0" tIns="0" rIns="0" bIns="0" rtlCol="0" anchor="ctr"/>
          <a:lstStyle/>
          <a:p>
            <a:pPr algn="r" indent="0" marL="0">
              <a:buNone/>
            </a:pPr>
            <a:r>
              <a:rPr lang="en-US" sz="850" dirty="0">
                <a:solidFill>
                  <a:srgbClr val="5B6B84"/>
                </a:solidFill>
                <a:latin typeface="Calibri" pitchFamily="34" charset="0"/>
                <a:ea typeface="Calibri" pitchFamily="34" charset="-122"/>
                <a:cs typeface="Calibri" pitchFamily="34" charset="-120"/>
              </a:rPr>
              <a:t>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457200" y="347472"/>
            <a:ext cx="10058400" cy="274320"/>
          </a:xfrm>
          <a:prstGeom prst="rect">
            <a:avLst/>
          </a:prstGeom>
          <a:noFill/>
          <a:ln/>
        </p:spPr>
        <p:txBody>
          <a:bodyPr wrap="square" lIns="0" tIns="0" rIns="0" bIns="0" rtlCol="0" anchor="ctr"/>
          <a:lstStyle/>
          <a:p>
            <a:pPr indent="0" marL="0">
              <a:buNone/>
            </a:pPr>
            <a:r>
              <a:rPr lang="en-US" sz="1100" b="1" spc="150" kern="0" dirty="0">
                <a:solidFill>
                  <a:srgbClr val="0F8B8D"/>
                </a:solidFill>
                <a:latin typeface="Calibri" pitchFamily="34" charset="0"/>
                <a:ea typeface="Calibri" pitchFamily="34" charset="-122"/>
                <a:cs typeface="Calibri" pitchFamily="34" charset="-120"/>
              </a:rPr>
              <a:t>WORKED EXAMPLE</a:t>
            </a:r>
            <a:endParaRPr lang="en-US" sz="1100" dirty="0"/>
          </a:p>
        </p:txBody>
      </p:sp>
      <p:sp>
        <p:nvSpPr>
          <p:cNvPr id="3" name="Text 1"/>
          <p:cNvSpPr/>
          <p:nvPr/>
        </p:nvSpPr>
        <p:spPr>
          <a:xfrm>
            <a:off x="457200" y="603504"/>
            <a:ext cx="11247120" cy="566928"/>
          </a:xfrm>
          <a:prstGeom prst="rect">
            <a:avLst/>
          </a:prstGeom>
          <a:noFill/>
          <a:ln/>
        </p:spPr>
        <p:txBody>
          <a:bodyPr wrap="square" lIns="0" tIns="0" rIns="0" bIns="0" rtlCol="0" anchor="ctr"/>
          <a:lstStyle/>
          <a:p>
            <a:pPr indent="0" marL="0">
              <a:buNone/>
            </a:pPr>
            <a:r>
              <a:rPr lang="en-US" sz="3000" b="1" dirty="0">
                <a:solidFill>
                  <a:srgbClr val="12233F"/>
                </a:solidFill>
                <a:latin typeface="Cambria" pitchFamily="34" charset="0"/>
                <a:ea typeface="Cambria" pitchFamily="34" charset="-122"/>
                <a:cs typeface="Cambria" pitchFamily="34" charset="-120"/>
              </a:rPr>
              <a:t>Hallucination rate</a:t>
            </a:r>
            <a:endParaRPr lang="en-US" sz="3000" dirty="0"/>
          </a:p>
        </p:txBody>
      </p:sp>
      <p:sp>
        <p:nvSpPr>
          <p:cNvPr id="4" name="Text 2"/>
          <p:cNvSpPr/>
          <p:nvPr/>
        </p:nvSpPr>
        <p:spPr>
          <a:xfrm>
            <a:off x="457200" y="1170432"/>
            <a:ext cx="11247120" cy="365760"/>
          </a:xfrm>
          <a:prstGeom prst="rect">
            <a:avLst/>
          </a:prstGeom>
          <a:noFill/>
          <a:ln/>
        </p:spPr>
        <p:txBody>
          <a:bodyPr wrap="square" lIns="0" tIns="0" rIns="0" bIns="0" rtlCol="0" anchor="ctr"/>
          <a:lstStyle/>
          <a:p>
            <a:pPr indent="0" marL="0">
              <a:buNone/>
            </a:pPr>
            <a:r>
              <a:rPr lang="en-US" sz="1400" i="1" dirty="0">
                <a:solidFill>
                  <a:srgbClr val="5B6B84"/>
                </a:solidFill>
                <a:latin typeface="Calibri" pitchFamily="34" charset="0"/>
                <a:ea typeface="Calibri" pitchFamily="34" charset="-122"/>
                <a:cs typeface="Calibri" pitchFamily="34" charset="-120"/>
              </a:rPr>
              <a:t>Teach participants how to measure unsupported information.</a:t>
            </a:r>
            <a:endParaRPr lang="en-US" sz="1400" dirty="0"/>
          </a:p>
        </p:txBody>
      </p:sp>
      <p:sp>
        <p:nvSpPr>
          <p:cNvPr id="5" name="Shape 3"/>
          <p:cNvSpPr/>
          <p:nvPr/>
        </p:nvSpPr>
        <p:spPr>
          <a:xfrm>
            <a:off x="457200" y="1828800"/>
            <a:ext cx="6035040" cy="4434840"/>
          </a:xfrm>
          <a:prstGeom prst="roundRect">
            <a:avLst>
              <a:gd name="adj" fmla="val 1649"/>
            </a:avLst>
          </a:prstGeom>
          <a:solidFill>
            <a:srgbClr val="FFFFFF"/>
          </a:solidFill>
          <a:ln w="12700">
            <a:solidFill>
              <a:srgbClr val="E2E8F0"/>
            </a:solidFill>
            <a:prstDash val="solid"/>
          </a:ln>
        </p:spPr>
      </p:sp>
      <p:sp>
        <p:nvSpPr>
          <p:cNvPr id="6" name="Text 4"/>
          <p:cNvSpPr/>
          <p:nvPr/>
        </p:nvSpPr>
        <p:spPr>
          <a:xfrm>
            <a:off x="713232" y="1993392"/>
            <a:ext cx="5486400" cy="274320"/>
          </a:xfrm>
          <a:prstGeom prst="rect">
            <a:avLst/>
          </a:prstGeom>
          <a:noFill/>
          <a:ln/>
        </p:spPr>
        <p:txBody>
          <a:bodyPr wrap="square" lIns="0" tIns="0" rIns="0" bIns="0" rtlCol="0" anchor="ctr"/>
          <a:lstStyle/>
          <a:p>
            <a:pPr indent="0" marL="0">
              <a:buNone/>
            </a:pPr>
            <a:r>
              <a:rPr lang="en-US" sz="1050" b="1" spc="50" kern="0" dirty="0">
                <a:solidFill>
                  <a:srgbClr val="12233F"/>
                </a:solidFill>
                <a:latin typeface="Calibri" pitchFamily="34" charset="0"/>
                <a:ea typeface="Calibri" pitchFamily="34" charset="-122"/>
                <a:cs typeface="Calibri" pitchFamily="34" charset="-120"/>
              </a:rPr>
              <a:t>CANDIDATE CLAIMS</a:t>
            </a:r>
            <a:endParaRPr lang="en-US" sz="1050" dirty="0"/>
          </a:p>
        </p:txBody>
      </p:sp>
      <p:sp>
        <p:nvSpPr>
          <p:cNvPr id="7" name="Shape 5"/>
          <p:cNvSpPr/>
          <p:nvPr/>
        </p:nvSpPr>
        <p:spPr>
          <a:xfrm>
            <a:off x="713232" y="2395728"/>
            <a:ext cx="365760" cy="365760"/>
          </a:xfrm>
          <a:prstGeom prst="ellipse">
            <a:avLst/>
          </a:prstGeom>
          <a:solidFill>
            <a:srgbClr val="FBEAE8"/>
          </a:solidFill>
          <a:ln/>
        </p:spPr>
      </p:sp>
      <p:pic>
        <p:nvPicPr>
          <p:cNvPr id="8" name="Image 0" descr="/home/claude/deck/icons/x.png">    </p:cNvPr>
          <p:cNvPicPr>
            <a:picLocks noChangeAspect="1"/>
          </p:cNvPicPr>
          <p:nvPr/>
        </p:nvPicPr>
        <p:blipFill>
          <a:blip r:embed="rId1"/>
          <a:stretch>
            <a:fillRect/>
          </a:stretch>
        </p:blipFill>
        <p:spPr>
          <a:xfrm>
            <a:off x="801014" y="2483510"/>
            <a:ext cx="190195" cy="190195"/>
          </a:xfrm>
          <a:prstGeom prst="rect">
            <a:avLst/>
          </a:prstGeom>
        </p:spPr>
      </p:pic>
      <p:sp>
        <p:nvSpPr>
          <p:cNvPr id="9" name="Text 6"/>
          <p:cNvSpPr/>
          <p:nvPr/>
        </p:nvSpPr>
        <p:spPr>
          <a:xfrm>
            <a:off x="1207008" y="2377440"/>
            <a:ext cx="5120640" cy="457200"/>
          </a:xfrm>
          <a:prstGeom prst="rect">
            <a:avLst/>
          </a:prstGeom>
          <a:noFill/>
          <a:ln/>
        </p:spPr>
        <p:txBody>
          <a:bodyPr wrap="square" lIns="0" tIns="0" rIns="0" bIns="0" rtlCol="0" anchor="ctr"/>
          <a:lstStyle/>
          <a:p>
            <a:pPr indent="0" marL="0">
              <a:buNone/>
            </a:pPr>
            <a:r>
              <a:rPr lang="en-US" sz="1250" dirty="0">
                <a:solidFill>
                  <a:srgbClr val="1B2A41"/>
                </a:solidFill>
                <a:latin typeface="Calibri" pitchFamily="34" charset="0"/>
                <a:ea typeface="Calibri" pitchFamily="34" charset="-122"/>
                <a:cs typeface="Calibri" pitchFamily="34" charset="-120"/>
              </a:rPr>
              <a:t>1.  Dispute has been approved.</a:t>
            </a:r>
            <a:endParaRPr lang="en-US" sz="1250" dirty="0"/>
          </a:p>
        </p:txBody>
      </p:sp>
      <p:sp>
        <p:nvSpPr>
          <p:cNvPr id="10" name="Text 7"/>
          <p:cNvSpPr/>
          <p:nvPr/>
        </p:nvSpPr>
        <p:spPr>
          <a:xfrm>
            <a:off x="1207008" y="2779776"/>
            <a:ext cx="5120640" cy="219456"/>
          </a:xfrm>
          <a:prstGeom prst="rect">
            <a:avLst/>
          </a:prstGeom>
          <a:noFill/>
          <a:ln/>
        </p:spPr>
        <p:txBody>
          <a:bodyPr wrap="square" lIns="0" tIns="0" rIns="0" bIns="0" rtlCol="0" anchor="ctr"/>
          <a:lstStyle/>
          <a:p>
            <a:pPr indent="0" marL="0">
              <a:buNone/>
            </a:pPr>
            <a:r>
              <a:rPr lang="en-US" sz="850" b="1" spc="50" kern="0" dirty="0">
                <a:solidFill>
                  <a:srgbClr val="C0392B"/>
                </a:solidFill>
                <a:latin typeface="Calibri" pitchFamily="34" charset="0"/>
                <a:ea typeface="Calibri" pitchFamily="34" charset="-122"/>
                <a:cs typeface="Calibri" pitchFamily="34" charset="-120"/>
              </a:rPr>
              <a:t>UNSUPPORTED</a:t>
            </a:r>
            <a:endParaRPr lang="en-US" sz="850" dirty="0"/>
          </a:p>
        </p:txBody>
      </p:sp>
      <p:sp>
        <p:nvSpPr>
          <p:cNvPr id="11" name="Shape 8"/>
          <p:cNvSpPr/>
          <p:nvPr/>
        </p:nvSpPr>
        <p:spPr>
          <a:xfrm>
            <a:off x="713232" y="3108960"/>
            <a:ext cx="365760" cy="365760"/>
          </a:xfrm>
          <a:prstGeom prst="ellipse">
            <a:avLst/>
          </a:prstGeom>
          <a:solidFill>
            <a:srgbClr val="FBEAE8"/>
          </a:solidFill>
          <a:ln/>
        </p:spPr>
      </p:sp>
      <p:pic>
        <p:nvPicPr>
          <p:cNvPr id="12" name="Image 1" descr="/home/claude/deck/icons/x.png">    </p:cNvPr>
          <p:cNvPicPr>
            <a:picLocks noChangeAspect="1"/>
          </p:cNvPicPr>
          <p:nvPr/>
        </p:nvPicPr>
        <p:blipFill>
          <a:blip r:embed="rId2"/>
          <a:stretch>
            <a:fillRect/>
          </a:stretch>
        </p:blipFill>
        <p:spPr>
          <a:xfrm>
            <a:off x="801014" y="3196742"/>
            <a:ext cx="190195" cy="190195"/>
          </a:xfrm>
          <a:prstGeom prst="rect">
            <a:avLst/>
          </a:prstGeom>
        </p:spPr>
      </p:pic>
      <p:sp>
        <p:nvSpPr>
          <p:cNvPr id="13" name="Text 9"/>
          <p:cNvSpPr/>
          <p:nvPr/>
        </p:nvSpPr>
        <p:spPr>
          <a:xfrm>
            <a:off x="1207008" y="3090672"/>
            <a:ext cx="5120640" cy="457200"/>
          </a:xfrm>
          <a:prstGeom prst="rect">
            <a:avLst/>
          </a:prstGeom>
          <a:noFill/>
          <a:ln/>
        </p:spPr>
        <p:txBody>
          <a:bodyPr wrap="square" lIns="0" tIns="0" rIns="0" bIns="0" rtlCol="0" anchor="ctr"/>
          <a:lstStyle/>
          <a:p>
            <a:pPr indent="0" marL="0">
              <a:buNone/>
            </a:pPr>
            <a:r>
              <a:rPr lang="en-US" sz="1250" dirty="0">
                <a:solidFill>
                  <a:srgbClr val="1B2A41"/>
                </a:solidFill>
                <a:latin typeface="Calibri" pitchFamily="34" charset="0"/>
                <a:ea typeface="Calibri" pitchFamily="34" charset="-122"/>
                <a:cs typeface="Calibri" pitchFamily="34" charset="-120"/>
              </a:rPr>
              <a:t>2.  Temporary credit will be applied in 24 hours.</a:t>
            </a:r>
            <a:endParaRPr lang="en-US" sz="1250" dirty="0"/>
          </a:p>
        </p:txBody>
      </p:sp>
      <p:sp>
        <p:nvSpPr>
          <p:cNvPr id="14" name="Text 10"/>
          <p:cNvSpPr/>
          <p:nvPr/>
        </p:nvSpPr>
        <p:spPr>
          <a:xfrm>
            <a:off x="1207008" y="3493008"/>
            <a:ext cx="5120640" cy="219456"/>
          </a:xfrm>
          <a:prstGeom prst="rect">
            <a:avLst/>
          </a:prstGeom>
          <a:noFill/>
          <a:ln/>
        </p:spPr>
        <p:txBody>
          <a:bodyPr wrap="square" lIns="0" tIns="0" rIns="0" bIns="0" rtlCol="0" anchor="ctr"/>
          <a:lstStyle/>
          <a:p>
            <a:pPr indent="0" marL="0">
              <a:buNone/>
            </a:pPr>
            <a:r>
              <a:rPr lang="en-US" sz="850" b="1" spc="50" kern="0" dirty="0">
                <a:solidFill>
                  <a:srgbClr val="C0392B"/>
                </a:solidFill>
                <a:latin typeface="Calibri" pitchFamily="34" charset="0"/>
                <a:ea typeface="Calibri" pitchFamily="34" charset="-122"/>
                <a:cs typeface="Calibri" pitchFamily="34" charset="-120"/>
              </a:rPr>
              <a:t>UNSUPPORTED</a:t>
            </a:r>
            <a:endParaRPr lang="en-US" sz="850" dirty="0"/>
          </a:p>
        </p:txBody>
      </p:sp>
      <p:sp>
        <p:nvSpPr>
          <p:cNvPr id="15" name="Shape 11"/>
          <p:cNvSpPr/>
          <p:nvPr/>
        </p:nvSpPr>
        <p:spPr>
          <a:xfrm>
            <a:off x="713232" y="3822192"/>
            <a:ext cx="365760" cy="365760"/>
          </a:xfrm>
          <a:prstGeom prst="ellipse">
            <a:avLst/>
          </a:prstGeom>
          <a:solidFill>
            <a:srgbClr val="FBEAE8"/>
          </a:solidFill>
          <a:ln/>
        </p:spPr>
      </p:sp>
      <p:pic>
        <p:nvPicPr>
          <p:cNvPr id="16" name="Image 2" descr="/home/claude/deck/icons/x.png">    </p:cNvPr>
          <p:cNvPicPr>
            <a:picLocks noChangeAspect="1"/>
          </p:cNvPicPr>
          <p:nvPr/>
        </p:nvPicPr>
        <p:blipFill>
          <a:blip r:embed="rId3"/>
          <a:stretch>
            <a:fillRect/>
          </a:stretch>
        </p:blipFill>
        <p:spPr>
          <a:xfrm>
            <a:off x="801014" y="3909974"/>
            <a:ext cx="190195" cy="190195"/>
          </a:xfrm>
          <a:prstGeom prst="rect">
            <a:avLst/>
          </a:prstGeom>
        </p:spPr>
      </p:pic>
      <p:sp>
        <p:nvSpPr>
          <p:cNvPr id="17" name="Text 12"/>
          <p:cNvSpPr/>
          <p:nvPr/>
        </p:nvSpPr>
        <p:spPr>
          <a:xfrm>
            <a:off x="1207008" y="3803904"/>
            <a:ext cx="5120640" cy="457200"/>
          </a:xfrm>
          <a:prstGeom prst="rect">
            <a:avLst/>
          </a:prstGeom>
          <a:noFill/>
          <a:ln/>
        </p:spPr>
        <p:txBody>
          <a:bodyPr wrap="square" lIns="0" tIns="0" rIns="0" bIns="0" rtlCol="0" anchor="ctr"/>
          <a:lstStyle/>
          <a:p>
            <a:pPr indent="0" marL="0">
              <a:buNone/>
            </a:pPr>
            <a:r>
              <a:rPr lang="en-US" sz="1250" dirty="0">
                <a:solidFill>
                  <a:srgbClr val="1B2A41"/>
                </a:solidFill>
                <a:latin typeface="Calibri" pitchFamily="34" charset="0"/>
                <a:ea typeface="Calibri" pitchFamily="34" charset="-122"/>
                <a:cs typeface="Calibri" pitchFamily="34" charset="-120"/>
              </a:rPr>
              <a:t>3.  Customer does not need to pay.</a:t>
            </a:r>
            <a:endParaRPr lang="en-US" sz="1250" dirty="0"/>
          </a:p>
        </p:txBody>
      </p:sp>
      <p:sp>
        <p:nvSpPr>
          <p:cNvPr id="18" name="Text 13"/>
          <p:cNvSpPr/>
          <p:nvPr/>
        </p:nvSpPr>
        <p:spPr>
          <a:xfrm>
            <a:off x="1207008" y="4206240"/>
            <a:ext cx="5120640" cy="219456"/>
          </a:xfrm>
          <a:prstGeom prst="rect">
            <a:avLst/>
          </a:prstGeom>
          <a:noFill/>
          <a:ln/>
        </p:spPr>
        <p:txBody>
          <a:bodyPr wrap="square" lIns="0" tIns="0" rIns="0" bIns="0" rtlCol="0" anchor="ctr"/>
          <a:lstStyle/>
          <a:p>
            <a:pPr indent="0" marL="0">
              <a:buNone/>
            </a:pPr>
            <a:r>
              <a:rPr lang="en-US" sz="850" b="1" spc="50" kern="0" dirty="0">
                <a:solidFill>
                  <a:srgbClr val="C0392B"/>
                </a:solidFill>
                <a:latin typeface="Calibri" pitchFamily="34" charset="0"/>
                <a:ea typeface="Calibri" pitchFamily="34" charset="-122"/>
                <a:cs typeface="Calibri" pitchFamily="34" charset="-120"/>
              </a:rPr>
              <a:t>UNSUPPORTED</a:t>
            </a:r>
            <a:endParaRPr lang="en-US" sz="850" dirty="0"/>
          </a:p>
        </p:txBody>
      </p:sp>
      <p:sp>
        <p:nvSpPr>
          <p:cNvPr id="19" name="Shape 14"/>
          <p:cNvSpPr/>
          <p:nvPr/>
        </p:nvSpPr>
        <p:spPr>
          <a:xfrm>
            <a:off x="713232" y="4535424"/>
            <a:ext cx="365760" cy="365760"/>
          </a:xfrm>
          <a:prstGeom prst="ellipse">
            <a:avLst/>
          </a:prstGeom>
          <a:solidFill>
            <a:srgbClr val="FBEAE8"/>
          </a:solidFill>
          <a:ln/>
        </p:spPr>
      </p:sp>
      <p:pic>
        <p:nvPicPr>
          <p:cNvPr id="20" name="Image 3" descr="/home/claude/deck/icons/x.png">    </p:cNvPr>
          <p:cNvPicPr>
            <a:picLocks noChangeAspect="1"/>
          </p:cNvPicPr>
          <p:nvPr/>
        </p:nvPicPr>
        <p:blipFill>
          <a:blip r:embed="rId4"/>
          <a:stretch>
            <a:fillRect/>
          </a:stretch>
        </p:blipFill>
        <p:spPr>
          <a:xfrm>
            <a:off x="801014" y="4623206"/>
            <a:ext cx="190195" cy="190195"/>
          </a:xfrm>
          <a:prstGeom prst="rect">
            <a:avLst/>
          </a:prstGeom>
        </p:spPr>
      </p:pic>
      <p:sp>
        <p:nvSpPr>
          <p:cNvPr id="21" name="Text 15"/>
          <p:cNvSpPr/>
          <p:nvPr/>
        </p:nvSpPr>
        <p:spPr>
          <a:xfrm>
            <a:off x="1207008" y="4517136"/>
            <a:ext cx="5120640" cy="457200"/>
          </a:xfrm>
          <a:prstGeom prst="rect">
            <a:avLst/>
          </a:prstGeom>
          <a:noFill/>
          <a:ln/>
        </p:spPr>
        <p:txBody>
          <a:bodyPr wrap="square" lIns="0" tIns="0" rIns="0" bIns="0" rtlCol="0" anchor="ctr"/>
          <a:lstStyle/>
          <a:p>
            <a:pPr indent="0" marL="0">
              <a:buNone/>
            </a:pPr>
            <a:r>
              <a:rPr lang="en-US" sz="1250" dirty="0">
                <a:solidFill>
                  <a:srgbClr val="1B2A41"/>
                </a:solidFill>
                <a:latin typeface="Calibri" pitchFamily="34" charset="0"/>
                <a:ea typeface="Calibri" pitchFamily="34" charset="-122"/>
                <a:cs typeface="Calibri" pitchFamily="34" charset="-120"/>
              </a:rPr>
              <a:t>4.  Investigation will complete in five business days.</a:t>
            </a:r>
            <a:endParaRPr lang="en-US" sz="1250" dirty="0"/>
          </a:p>
        </p:txBody>
      </p:sp>
      <p:sp>
        <p:nvSpPr>
          <p:cNvPr id="22" name="Text 16"/>
          <p:cNvSpPr/>
          <p:nvPr/>
        </p:nvSpPr>
        <p:spPr>
          <a:xfrm>
            <a:off x="1207008" y="4919472"/>
            <a:ext cx="5120640" cy="219456"/>
          </a:xfrm>
          <a:prstGeom prst="rect">
            <a:avLst/>
          </a:prstGeom>
          <a:noFill/>
          <a:ln/>
        </p:spPr>
        <p:txBody>
          <a:bodyPr wrap="square" lIns="0" tIns="0" rIns="0" bIns="0" rtlCol="0" anchor="ctr"/>
          <a:lstStyle/>
          <a:p>
            <a:pPr indent="0" marL="0">
              <a:buNone/>
            </a:pPr>
            <a:r>
              <a:rPr lang="en-US" sz="850" b="1" spc="50" kern="0" dirty="0">
                <a:solidFill>
                  <a:srgbClr val="C0392B"/>
                </a:solidFill>
                <a:latin typeface="Calibri" pitchFamily="34" charset="0"/>
                <a:ea typeface="Calibri" pitchFamily="34" charset="-122"/>
                <a:cs typeface="Calibri" pitchFamily="34" charset="-120"/>
              </a:rPr>
              <a:t>UNSUPPORTED</a:t>
            </a:r>
            <a:endParaRPr lang="en-US" sz="850" dirty="0"/>
          </a:p>
        </p:txBody>
      </p:sp>
      <p:sp>
        <p:nvSpPr>
          <p:cNvPr id="23" name="Shape 17"/>
          <p:cNvSpPr/>
          <p:nvPr/>
        </p:nvSpPr>
        <p:spPr>
          <a:xfrm>
            <a:off x="713232" y="5248656"/>
            <a:ext cx="365760" cy="365760"/>
          </a:xfrm>
          <a:prstGeom prst="ellipse">
            <a:avLst/>
          </a:prstGeom>
          <a:solidFill>
            <a:srgbClr val="E7F4EE"/>
          </a:solidFill>
          <a:ln/>
        </p:spPr>
      </p:sp>
      <p:pic>
        <p:nvPicPr>
          <p:cNvPr id="24" name="Image 4" descr="/home/claude/deck/icons/check.png">    </p:cNvPr>
          <p:cNvPicPr>
            <a:picLocks noChangeAspect="1"/>
          </p:cNvPicPr>
          <p:nvPr/>
        </p:nvPicPr>
        <p:blipFill>
          <a:blip r:embed="rId5"/>
          <a:stretch>
            <a:fillRect/>
          </a:stretch>
        </p:blipFill>
        <p:spPr>
          <a:xfrm>
            <a:off x="801014" y="5336438"/>
            <a:ext cx="190195" cy="190195"/>
          </a:xfrm>
          <a:prstGeom prst="rect">
            <a:avLst/>
          </a:prstGeom>
        </p:spPr>
      </p:pic>
      <p:sp>
        <p:nvSpPr>
          <p:cNvPr id="25" name="Text 18"/>
          <p:cNvSpPr/>
          <p:nvPr/>
        </p:nvSpPr>
        <p:spPr>
          <a:xfrm>
            <a:off x="1207008" y="5230368"/>
            <a:ext cx="5120640" cy="457200"/>
          </a:xfrm>
          <a:prstGeom prst="rect">
            <a:avLst/>
          </a:prstGeom>
          <a:noFill/>
          <a:ln/>
        </p:spPr>
        <p:txBody>
          <a:bodyPr wrap="square" lIns="0" tIns="0" rIns="0" bIns="0" rtlCol="0" anchor="ctr"/>
          <a:lstStyle/>
          <a:p>
            <a:pPr indent="0" marL="0">
              <a:buNone/>
            </a:pPr>
            <a:r>
              <a:rPr lang="en-US" sz="1250" dirty="0">
                <a:solidFill>
                  <a:srgbClr val="1B2A41"/>
                </a:solidFill>
                <a:latin typeface="Calibri" pitchFamily="34" charset="0"/>
                <a:ea typeface="Calibri" pitchFamily="34" charset="-122"/>
                <a:cs typeface="Calibri" pitchFamily="34" charset="-120"/>
              </a:rPr>
              <a:t>5.  Transaction amount is $846.75.</a:t>
            </a:r>
            <a:endParaRPr lang="en-US" sz="1250" dirty="0"/>
          </a:p>
        </p:txBody>
      </p:sp>
      <p:sp>
        <p:nvSpPr>
          <p:cNvPr id="26" name="Text 19"/>
          <p:cNvSpPr/>
          <p:nvPr/>
        </p:nvSpPr>
        <p:spPr>
          <a:xfrm>
            <a:off x="1207008" y="5632704"/>
            <a:ext cx="5120640" cy="219456"/>
          </a:xfrm>
          <a:prstGeom prst="rect">
            <a:avLst/>
          </a:prstGeom>
          <a:noFill/>
          <a:ln/>
        </p:spPr>
        <p:txBody>
          <a:bodyPr wrap="square" lIns="0" tIns="0" rIns="0" bIns="0" rtlCol="0" anchor="ctr"/>
          <a:lstStyle/>
          <a:p>
            <a:pPr indent="0" marL="0">
              <a:buNone/>
            </a:pPr>
            <a:r>
              <a:rPr lang="en-US" sz="850" b="1" spc="50" kern="0" dirty="0">
                <a:solidFill>
                  <a:srgbClr val="1E8E5A"/>
                </a:solidFill>
                <a:latin typeface="Calibri" pitchFamily="34" charset="0"/>
                <a:ea typeface="Calibri" pitchFamily="34" charset="-122"/>
                <a:cs typeface="Calibri" pitchFamily="34" charset="-120"/>
              </a:rPr>
              <a:t>SUPPORTED</a:t>
            </a:r>
            <a:endParaRPr lang="en-US" sz="850" dirty="0"/>
          </a:p>
        </p:txBody>
      </p:sp>
      <p:sp>
        <p:nvSpPr>
          <p:cNvPr id="27" name="Shape 20"/>
          <p:cNvSpPr/>
          <p:nvPr/>
        </p:nvSpPr>
        <p:spPr>
          <a:xfrm>
            <a:off x="6720840" y="1828800"/>
            <a:ext cx="5010912" cy="2331720"/>
          </a:xfrm>
          <a:prstGeom prst="roundRect">
            <a:avLst>
              <a:gd name="adj" fmla="val 3137"/>
            </a:avLst>
          </a:prstGeom>
          <a:solidFill>
            <a:srgbClr val="FFFFFF"/>
          </a:solidFill>
          <a:ln w="12700">
            <a:solidFill>
              <a:srgbClr val="E2E8F0"/>
            </a:solidFill>
            <a:prstDash val="solid"/>
          </a:ln>
        </p:spPr>
      </p:sp>
      <p:sp>
        <p:nvSpPr>
          <p:cNvPr id="28" name="Text 21"/>
          <p:cNvSpPr/>
          <p:nvPr/>
        </p:nvSpPr>
        <p:spPr>
          <a:xfrm>
            <a:off x="6976872" y="1975104"/>
            <a:ext cx="4498848" cy="274320"/>
          </a:xfrm>
          <a:prstGeom prst="rect">
            <a:avLst/>
          </a:prstGeom>
          <a:noFill/>
          <a:ln/>
        </p:spPr>
        <p:txBody>
          <a:bodyPr wrap="square" lIns="0" tIns="0" rIns="0" bIns="0" rtlCol="0" anchor="ctr"/>
          <a:lstStyle/>
          <a:p>
            <a:pPr indent="0" marL="0">
              <a:buNone/>
            </a:pPr>
            <a:r>
              <a:rPr lang="en-US" sz="1050" b="1" spc="50" kern="0" dirty="0">
                <a:solidFill>
                  <a:srgbClr val="12233F"/>
                </a:solidFill>
                <a:latin typeface="Calibri" pitchFamily="34" charset="0"/>
                <a:ea typeface="Calibri" pitchFamily="34" charset="-122"/>
                <a:cs typeface="Calibri" pitchFamily="34" charset="-120"/>
              </a:rPr>
              <a:t>UNSUPPORTED SHARE OF CLAIMS</a:t>
            </a:r>
            <a:endParaRPr lang="en-US" sz="1050" dirty="0"/>
          </a:p>
        </p:txBody>
      </p:sp>
      <p:graphicFrame>
        <p:nvGraphicFramePr>
          <p:cNvPr id="29" name="Chart 0" descr=""/>
          <p:cNvGraphicFramePr/>
          <p:nvPr/>
        </p:nvGraphicFramePr>
        <p:xfrm>
          <a:off x="6903720" y="2212848"/>
          <a:ext cx="2788920" cy="1874520"/>
        </p:xfrm>
        <a:graphic xmlns:a="http://schemas.openxmlformats.org/drawingml/2006/main">
          <a:graphicData uri="http://schemas.openxmlformats.org/drawingml/2006/chart">
            <c:chart xmlns:c="http://schemas.openxmlformats.org/drawingml/2006/chart" r:id="rId6"/>
          </a:graphicData>
        </a:graphic>
      </p:graphicFrame>
      <p:sp>
        <p:nvSpPr>
          <p:cNvPr id="30" name="Text 22"/>
          <p:cNvSpPr/>
          <p:nvPr/>
        </p:nvSpPr>
        <p:spPr>
          <a:xfrm>
            <a:off x="6903720" y="2788920"/>
            <a:ext cx="2788920" cy="457200"/>
          </a:xfrm>
          <a:prstGeom prst="rect">
            <a:avLst/>
          </a:prstGeom>
          <a:noFill/>
          <a:ln/>
        </p:spPr>
        <p:txBody>
          <a:bodyPr wrap="square" lIns="0" tIns="0" rIns="0" bIns="0" rtlCol="0" anchor="ctr"/>
          <a:lstStyle/>
          <a:p>
            <a:pPr algn="ctr" indent="0" marL="0">
              <a:buNone/>
            </a:pPr>
            <a:r>
              <a:rPr lang="en-US" sz="2600" b="1" dirty="0">
                <a:solidFill>
                  <a:srgbClr val="C0392B"/>
                </a:solidFill>
                <a:latin typeface="Cambria" pitchFamily="34" charset="0"/>
                <a:ea typeface="Cambria" pitchFamily="34" charset="-122"/>
                <a:cs typeface="Cambria" pitchFamily="34" charset="-120"/>
              </a:rPr>
              <a:t>80%</a:t>
            </a:r>
            <a:endParaRPr lang="en-US" sz="2600" dirty="0"/>
          </a:p>
        </p:txBody>
      </p:sp>
      <p:sp>
        <p:nvSpPr>
          <p:cNvPr id="31" name="Text 23"/>
          <p:cNvSpPr/>
          <p:nvPr/>
        </p:nvSpPr>
        <p:spPr>
          <a:xfrm>
            <a:off x="6903720" y="3200400"/>
            <a:ext cx="2788920" cy="274320"/>
          </a:xfrm>
          <a:prstGeom prst="rect">
            <a:avLst/>
          </a:prstGeom>
          <a:noFill/>
          <a:ln/>
        </p:spPr>
        <p:txBody>
          <a:bodyPr wrap="square" lIns="0" tIns="0" rIns="0" bIns="0" rtlCol="0" anchor="ctr"/>
          <a:lstStyle/>
          <a:p>
            <a:pPr algn="ctr" indent="0" marL="0">
              <a:buNone/>
            </a:pPr>
            <a:r>
              <a:rPr lang="en-US" sz="1000" dirty="0">
                <a:solidFill>
                  <a:srgbClr val="5B6B84"/>
                </a:solidFill>
                <a:latin typeface="Calibri" pitchFamily="34" charset="0"/>
                <a:ea typeface="Calibri" pitchFamily="34" charset="-122"/>
                <a:cs typeface="Calibri" pitchFamily="34" charset="-120"/>
              </a:rPr>
              <a:t>unsupported</a:t>
            </a:r>
            <a:endParaRPr lang="en-US" sz="1000" dirty="0"/>
          </a:p>
        </p:txBody>
      </p:sp>
      <p:sp>
        <p:nvSpPr>
          <p:cNvPr id="32" name="Text 24"/>
          <p:cNvSpPr/>
          <p:nvPr/>
        </p:nvSpPr>
        <p:spPr>
          <a:xfrm>
            <a:off x="9829800" y="2331720"/>
            <a:ext cx="1764792" cy="1554480"/>
          </a:xfrm>
          <a:prstGeom prst="rect">
            <a:avLst/>
          </a:prstGeom>
          <a:noFill/>
          <a:ln/>
        </p:spPr>
        <p:txBody>
          <a:bodyPr wrap="square" lIns="0" tIns="0" rIns="0" bIns="0" rtlCol="0" anchor="t"/>
          <a:lstStyle/>
          <a:p>
            <a:pPr indent="0" marL="0">
              <a:lnSpc>
                <a:spcPct val="150000"/>
              </a:lnSpc>
              <a:buNone/>
            </a:pPr>
            <a:r>
              <a:rPr lang="en-US" sz="1200" b="1" dirty="0">
                <a:solidFill>
                  <a:srgbClr val="12233F"/>
                </a:solidFill>
                <a:latin typeface="Calibri" pitchFamily="34" charset="0"/>
                <a:ea typeface="Calibri" pitchFamily="34" charset="-122"/>
                <a:cs typeface="Calibri" pitchFamily="34" charset="-120"/>
              </a:rPr>
              <a:t>Unsupported claims:  </a:t>
            </a:r>
            <a:pPr indent="0" marL="0">
              <a:lnSpc>
                <a:spcPct val="150000"/>
              </a:lnSpc>
              <a:buNone/>
            </a:pPr>
            <a:r>
              <a:rPr lang="en-US" sz="1200" dirty="0">
                <a:solidFill>
                  <a:srgbClr val="1B2A41"/>
                </a:solidFill>
                <a:latin typeface="Calibri" pitchFamily="34" charset="0"/>
                <a:ea typeface="Calibri" pitchFamily="34" charset="-122"/>
                <a:cs typeface="Calibri" pitchFamily="34" charset="-120"/>
              </a:rPr>
              <a:t>4
</a:t>
            </a:r>
            <a:pPr indent="0" marL="0">
              <a:lnSpc>
                <a:spcPct val="150000"/>
              </a:lnSpc>
              <a:buNone/>
            </a:pPr>
            <a:r>
              <a:rPr lang="en-US" sz="1200" b="1" dirty="0">
                <a:solidFill>
                  <a:srgbClr val="12233F"/>
                </a:solidFill>
                <a:latin typeface="Calibri" pitchFamily="34" charset="0"/>
                <a:ea typeface="Calibri" pitchFamily="34" charset="-122"/>
                <a:cs typeface="Calibri" pitchFamily="34" charset="-120"/>
              </a:rPr>
              <a:t>Total factual claims:  </a:t>
            </a:r>
            <a:pPr indent="0" marL="0">
              <a:lnSpc>
                <a:spcPct val="150000"/>
              </a:lnSpc>
              <a:buNone/>
            </a:pPr>
            <a:r>
              <a:rPr lang="en-US" sz="1200" dirty="0">
                <a:solidFill>
                  <a:srgbClr val="1B2A41"/>
                </a:solidFill>
                <a:latin typeface="Calibri" pitchFamily="34" charset="0"/>
                <a:ea typeface="Calibri" pitchFamily="34" charset="-122"/>
                <a:cs typeface="Calibri" pitchFamily="34" charset="-120"/>
              </a:rPr>
              <a:t>5</a:t>
            </a:r>
            <a:endParaRPr lang="en-US" sz="1200" dirty="0"/>
          </a:p>
        </p:txBody>
      </p:sp>
      <p:sp>
        <p:nvSpPr>
          <p:cNvPr id="33" name="Shape 25"/>
          <p:cNvSpPr/>
          <p:nvPr/>
        </p:nvSpPr>
        <p:spPr>
          <a:xfrm>
            <a:off x="6720840" y="4343400"/>
            <a:ext cx="5010912" cy="777240"/>
          </a:xfrm>
          <a:prstGeom prst="roundRect">
            <a:avLst>
              <a:gd name="adj" fmla="val 9412"/>
            </a:avLst>
          </a:prstGeom>
          <a:solidFill>
            <a:srgbClr val="12233F"/>
          </a:solidFill>
          <a:ln/>
        </p:spPr>
      </p:sp>
      <p:sp>
        <p:nvSpPr>
          <p:cNvPr id="34" name="Text 26"/>
          <p:cNvSpPr/>
          <p:nvPr/>
        </p:nvSpPr>
        <p:spPr>
          <a:xfrm>
            <a:off x="6976872" y="4343400"/>
            <a:ext cx="4498848" cy="777240"/>
          </a:xfrm>
          <a:prstGeom prst="rect">
            <a:avLst/>
          </a:prstGeom>
          <a:noFill/>
          <a:ln/>
        </p:spPr>
        <p:txBody>
          <a:bodyPr wrap="square" lIns="0" tIns="0" rIns="0" bIns="0" rtlCol="0" anchor="ctr"/>
          <a:lstStyle/>
          <a:p>
            <a:pPr indent="0" marL="0">
              <a:buNone/>
            </a:pPr>
            <a:r>
              <a:rPr lang="en-US" sz="1600" dirty="0">
                <a:solidFill>
                  <a:srgbClr val="CADCFC"/>
                </a:solidFill>
                <a:latin typeface="Cambria" pitchFamily="34" charset="0"/>
                <a:ea typeface="Cambria" pitchFamily="34" charset="-122"/>
                <a:cs typeface="Cambria" pitchFamily="34" charset="-120"/>
              </a:rPr>
              <a:t>Hallucination rate  =  </a:t>
            </a:r>
            <a:pPr indent="0" marL="0">
              <a:buNone/>
            </a:pPr>
            <a:r>
              <a:rPr lang="en-US" sz="1600" b="1" dirty="0">
                <a:solidFill>
                  <a:srgbClr val="C9A227"/>
                </a:solidFill>
                <a:latin typeface="Cambria" pitchFamily="34" charset="0"/>
                <a:ea typeface="Cambria" pitchFamily="34" charset="-122"/>
                <a:cs typeface="Cambria" pitchFamily="34" charset="-120"/>
              </a:rPr>
              <a:t>4 / 5 × 100  =  80%</a:t>
            </a:r>
            <a:endParaRPr lang="en-US" sz="1600" dirty="0"/>
          </a:p>
        </p:txBody>
      </p:sp>
      <p:sp>
        <p:nvSpPr>
          <p:cNvPr id="35" name="Shape 27"/>
          <p:cNvSpPr/>
          <p:nvPr/>
        </p:nvSpPr>
        <p:spPr>
          <a:xfrm>
            <a:off x="6720840" y="5285232"/>
            <a:ext cx="5010912" cy="978408"/>
          </a:xfrm>
          <a:prstGeom prst="roundRect">
            <a:avLst>
              <a:gd name="adj" fmla="val 7477"/>
            </a:avLst>
          </a:prstGeom>
          <a:solidFill>
            <a:srgbClr val="FBEAE8"/>
          </a:solidFill>
          <a:ln w="12700">
            <a:solidFill>
              <a:srgbClr val="F0C7C1"/>
            </a:solidFill>
            <a:prstDash val="solid"/>
          </a:ln>
        </p:spPr>
      </p:sp>
      <p:sp>
        <p:nvSpPr>
          <p:cNvPr id="36" name="Shape 28"/>
          <p:cNvSpPr/>
          <p:nvPr/>
        </p:nvSpPr>
        <p:spPr>
          <a:xfrm>
            <a:off x="6940296" y="5541264"/>
            <a:ext cx="457200" cy="457200"/>
          </a:xfrm>
          <a:prstGeom prst="ellipse">
            <a:avLst/>
          </a:prstGeom>
          <a:solidFill>
            <a:srgbClr val="C0392B"/>
          </a:solidFill>
          <a:ln/>
        </p:spPr>
      </p:sp>
      <p:pic>
        <p:nvPicPr>
          <p:cNvPr id="37" name="Image 5" descr="/home/claude/deck/icons/x.png">    </p:cNvPr>
          <p:cNvPicPr>
            <a:picLocks noChangeAspect="1"/>
          </p:cNvPicPr>
          <p:nvPr/>
        </p:nvPicPr>
        <p:blipFill>
          <a:blip r:embed="rId7"/>
          <a:stretch>
            <a:fillRect/>
          </a:stretch>
        </p:blipFill>
        <p:spPr>
          <a:xfrm>
            <a:off x="7050024" y="5650992"/>
            <a:ext cx="237744" cy="237744"/>
          </a:xfrm>
          <a:prstGeom prst="rect">
            <a:avLst/>
          </a:prstGeom>
        </p:spPr>
      </p:pic>
      <p:sp>
        <p:nvSpPr>
          <p:cNvPr id="38" name="Text 29"/>
          <p:cNvSpPr/>
          <p:nvPr/>
        </p:nvSpPr>
        <p:spPr>
          <a:xfrm>
            <a:off x="7562088" y="5285232"/>
            <a:ext cx="3959352" cy="978408"/>
          </a:xfrm>
          <a:prstGeom prst="rect">
            <a:avLst/>
          </a:prstGeom>
          <a:noFill/>
          <a:ln/>
        </p:spPr>
        <p:txBody>
          <a:bodyPr wrap="square" lIns="0" tIns="0" rIns="0" bIns="0" rtlCol="0" anchor="ctr"/>
          <a:lstStyle/>
          <a:p>
            <a:pPr indent="0" marL="0">
              <a:buNone/>
            </a:pPr>
            <a:r>
              <a:rPr lang="en-US" sz="1250" b="1" dirty="0">
                <a:solidFill>
                  <a:srgbClr val="C0392B"/>
                </a:solidFill>
                <a:latin typeface="Calibri" pitchFamily="34" charset="0"/>
                <a:ea typeface="Calibri" pitchFamily="34" charset="-122"/>
                <a:cs typeface="Calibri" pitchFamily="34" charset="-120"/>
              </a:rPr>
              <a:t>Result:  Reject</a:t>
            </a:r>
            <a:pPr indent="0" marL="0">
              <a:buNone/>
            </a:pPr>
            <a:endParaRPr lang="en-US" sz="1250" dirty="0"/>
          </a:p>
          <a:p>
            <a:pPr indent="0" marL="0">
              <a:buNone/>
            </a:pPr>
            <a:r>
              <a:rPr lang="en-US" sz="1250" dirty="0">
                <a:solidFill>
                  <a:srgbClr val="1B2A41"/>
                </a:solidFill>
                <a:latin typeface="Calibri" pitchFamily="34" charset="0"/>
                <a:ea typeface="Calibri" pitchFamily="34" charset="-122"/>
                <a:cs typeface="Calibri" pitchFamily="34" charset="-120"/>
              </a:rPr>
              <a:t>Not safe for customer-facing use.</a:t>
            </a:r>
            <a:endParaRPr lang="en-US" sz="1250" dirty="0"/>
          </a:p>
        </p:txBody>
      </p:sp>
      <p:sp>
        <p:nvSpPr>
          <p:cNvPr id="39" name="Text 30"/>
          <p:cNvSpPr/>
          <p:nvPr/>
        </p:nvSpPr>
        <p:spPr>
          <a:xfrm>
            <a:off x="457200" y="6547104"/>
            <a:ext cx="8229600" cy="274320"/>
          </a:xfrm>
          <a:prstGeom prst="rect">
            <a:avLst/>
          </a:prstGeom>
          <a:noFill/>
          <a:ln/>
        </p:spPr>
        <p:txBody>
          <a:bodyPr wrap="square" lIns="0" tIns="0" rIns="0" bIns="0" rtlCol="0" anchor="ctr"/>
          <a:lstStyle/>
          <a:p>
            <a:pPr algn="l" indent="0" marL="0">
              <a:buNone/>
            </a:pPr>
            <a:r>
              <a:rPr lang="en-US" sz="850" dirty="0">
                <a:solidFill>
                  <a:srgbClr val="5B6B84"/>
                </a:solidFill>
                <a:latin typeface="Calibri" pitchFamily="34" charset="0"/>
                <a:ea typeface="Calibri" pitchFamily="34" charset="-122"/>
                <a:cs typeface="Calibri" pitchFamily="34" charset="-120"/>
              </a:rPr>
              <a:t>PROMPT EVALUATION FRAMEWORK  •  SYNCHRONY TRAINING SIMULATION</a:t>
            </a:r>
            <a:endParaRPr lang="en-US" sz="850" dirty="0"/>
          </a:p>
        </p:txBody>
      </p:sp>
      <p:sp>
        <p:nvSpPr>
          <p:cNvPr id="40" name="Text 31"/>
          <p:cNvSpPr/>
          <p:nvPr/>
        </p:nvSpPr>
        <p:spPr>
          <a:xfrm>
            <a:off x="11274552" y="6547104"/>
            <a:ext cx="457200" cy="274320"/>
          </a:xfrm>
          <a:prstGeom prst="rect">
            <a:avLst/>
          </a:prstGeom>
          <a:noFill/>
          <a:ln/>
        </p:spPr>
        <p:txBody>
          <a:bodyPr wrap="square" lIns="0" tIns="0" rIns="0" bIns="0" rtlCol="0" anchor="ctr"/>
          <a:lstStyle/>
          <a:p>
            <a:pPr algn="r" indent="0" marL="0">
              <a:buNone/>
            </a:pPr>
            <a:r>
              <a:rPr lang="en-US" sz="850" dirty="0">
                <a:solidFill>
                  <a:srgbClr val="5B6B84"/>
                </a:solidFill>
                <a:latin typeface="Calibri" pitchFamily="34" charset="0"/>
                <a:ea typeface="Calibri" pitchFamily="34" charset="-122"/>
                <a:cs typeface="Calibri" pitchFamily="34" charset="-120"/>
              </a:rPr>
              <a:t>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457200" y="347472"/>
            <a:ext cx="10058400" cy="274320"/>
          </a:xfrm>
          <a:prstGeom prst="rect">
            <a:avLst/>
          </a:prstGeom>
          <a:noFill/>
          <a:ln/>
        </p:spPr>
        <p:txBody>
          <a:bodyPr wrap="square" lIns="0" tIns="0" rIns="0" bIns="0" rtlCol="0" anchor="ctr"/>
          <a:lstStyle/>
          <a:p>
            <a:pPr indent="0" marL="0">
              <a:buNone/>
            </a:pPr>
            <a:r>
              <a:rPr lang="en-US" sz="1100" b="1" spc="150" kern="0" dirty="0">
                <a:solidFill>
                  <a:srgbClr val="0F8B8D"/>
                </a:solidFill>
                <a:latin typeface="Calibri" pitchFamily="34" charset="0"/>
                <a:ea typeface="Calibri" pitchFamily="34" charset="-122"/>
                <a:cs typeface="Calibri" pitchFamily="34" charset="-120"/>
              </a:rPr>
              <a:t>RELIABILITY</a:t>
            </a:r>
            <a:endParaRPr lang="en-US" sz="1100" dirty="0"/>
          </a:p>
        </p:txBody>
      </p:sp>
      <p:sp>
        <p:nvSpPr>
          <p:cNvPr id="3" name="Text 1"/>
          <p:cNvSpPr/>
          <p:nvPr/>
        </p:nvSpPr>
        <p:spPr>
          <a:xfrm>
            <a:off x="457200" y="603504"/>
            <a:ext cx="11247120" cy="566928"/>
          </a:xfrm>
          <a:prstGeom prst="rect">
            <a:avLst/>
          </a:prstGeom>
          <a:noFill/>
          <a:ln/>
        </p:spPr>
        <p:txBody>
          <a:bodyPr wrap="square" lIns="0" tIns="0" rIns="0" bIns="0" rtlCol="0" anchor="ctr"/>
          <a:lstStyle/>
          <a:p>
            <a:pPr indent="0" marL="0">
              <a:buNone/>
            </a:pPr>
            <a:r>
              <a:rPr lang="en-US" sz="3000" b="1" dirty="0">
                <a:solidFill>
                  <a:srgbClr val="12233F"/>
                </a:solidFill>
                <a:latin typeface="Cambria" pitchFamily="34" charset="0"/>
                <a:ea typeface="Cambria" pitchFamily="34" charset="-122"/>
                <a:cs typeface="Cambria" pitchFamily="34" charset="-120"/>
              </a:rPr>
              <a:t>Consistency testing</a:t>
            </a:r>
            <a:endParaRPr lang="en-US" sz="3000" dirty="0"/>
          </a:p>
        </p:txBody>
      </p:sp>
      <p:sp>
        <p:nvSpPr>
          <p:cNvPr id="4" name="Text 2"/>
          <p:cNvSpPr/>
          <p:nvPr/>
        </p:nvSpPr>
        <p:spPr>
          <a:xfrm>
            <a:off x="457200" y="1170432"/>
            <a:ext cx="11247120" cy="365760"/>
          </a:xfrm>
          <a:prstGeom prst="rect">
            <a:avLst/>
          </a:prstGeom>
          <a:noFill/>
          <a:ln/>
        </p:spPr>
        <p:txBody>
          <a:bodyPr wrap="square" lIns="0" tIns="0" rIns="0" bIns="0" rtlCol="0" anchor="ctr"/>
          <a:lstStyle/>
          <a:p>
            <a:pPr indent="0" marL="0">
              <a:buNone/>
            </a:pPr>
            <a:r>
              <a:rPr lang="en-US" sz="1400" i="1" dirty="0">
                <a:solidFill>
                  <a:srgbClr val="5B6B84"/>
                </a:solidFill>
                <a:latin typeface="Calibri" pitchFamily="34" charset="0"/>
                <a:ea typeface="Calibri" pitchFamily="34" charset="-122"/>
                <a:cs typeface="Calibri" pitchFamily="34" charset="-120"/>
              </a:rPr>
              <a:t>A prompt is not reliable if it behaves differently every time.</a:t>
            </a:r>
            <a:endParaRPr lang="en-US" sz="1400" dirty="0"/>
          </a:p>
        </p:txBody>
      </p:sp>
      <p:sp>
        <p:nvSpPr>
          <p:cNvPr id="5" name="Shape 3"/>
          <p:cNvSpPr/>
          <p:nvPr/>
        </p:nvSpPr>
        <p:spPr>
          <a:xfrm>
            <a:off x="457200" y="1828800"/>
            <a:ext cx="3611880" cy="1691640"/>
          </a:xfrm>
          <a:prstGeom prst="roundRect">
            <a:avLst>
              <a:gd name="adj" fmla="val 4324"/>
            </a:avLst>
          </a:prstGeom>
          <a:solidFill>
            <a:srgbClr val="FFFFFF"/>
          </a:solidFill>
          <a:ln w="12700">
            <a:solidFill>
              <a:srgbClr val="E2E8F0"/>
            </a:solidFill>
            <a:prstDash val="solid"/>
          </a:ln>
        </p:spPr>
      </p:sp>
      <p:sp>
        <p:nvSpPr>
          <p:cNvPr id="6" name="Shape 4"/>
          <p:cNvSpPr/>
          <p:nvPr/>
        </p:nvSpPr>
        <p:spPr>
          <a:xfrm>
            <a:off x="658368" y="2011680"/>
            <a:ext cx="402336" cy="402336"/>
          </a:xfrm>
          <a:prstGeom prst="ellipse">
            <a:avLst/>
          </a:prstGeom>
          <a:solidFill>
            <a:srgbClr val="0F8B8D"/>
          </a:solidFill>
          <a:ln/>
        </p:spPr>
      </p:sp>
      <p:pic>
        <p:nvPicPr>
          <p:cNvPr id="7" name="Image 0" descr="/home/claude/deck/icons/refresh.png">    </p:cNvPr>
          <p:cNvPicPr>
            <a:picLocks noChangeAspect="1"/>
          </p:cNvPicPr>
          <p:nvPr/>
        </p:nvPicPr>
        <p:blipFill>
          <a:blip r:embed="rId1"/>
          <a:stretch>
            <a:fillRect/>
          </a:stretch>
        </p:blipFill>
        <p:spPr>
          <a:xfrm>
            <a:off x="754929" y="2108241"/>
            <a:ext cx="209215" cy="209215"/>
          </a:xfrm>
          <a:prstGeom prst="rect">
            <a:avLst/>
          </a:prstGeom>
        </p:spPr>
      </p:pic>
      <p:sp>
        <p:nvSpPr>
          <p:cNvPr id="8" name="Text 5"/>
          <p:cNvSpPr/>
          <p:nvPr/>
        </p:nvSpPr>
        <p:spPr>
          <a:xfrm>
            <a:off x="1170432" y="2011680"/>
            <a:ext cx="2697480" cy="402336"/>
          </a:xfrm>
          <a:prstGeom prst="rect">
            <a:avLst/>
          </a:prstGeom>
          <a:noFill/>
          <a:ln/>
        </p:spPr>
        <p:txBody>
          <a:bodyPr wrap="square" lIns="0" tIns="0" rIns="0" bIns="0" rtlCol="0" anchor="ctr"/>
          <a:lstStyle/>
          <a:p>
            <a:pPr indent="0" marL="0">
              <a:buNone/>
            </a:pPr>
            <a:r>
              <a:rPr lang="en-US" sz="1350" b="1" dirty="0">
                <a:solidFill>
                  <a:srgbClr val="12233F"/>
                </a:solidFill>
                <a:latin typeface="Calibri" pitchFamily="34" charset="0"/>
                <a:ea typeface="Calibri" pitchFamily="34" charset="-122"/>
                <a:cs typeface="Calibri" pitchFamily="34" charset="-120"/>
              </a:rPr>
              <a:t>Run plan</a:t>
            </a:r>
            <a:endParaRPr lang="en-US" sz="1350" dirty="0"/>
          </a:p>
        </p:txBody>
      </p:sp>
      <p:sp>
        <p:nvSpPr>
          <p:cNvPr id="9" name="Text 6"/>
          <p:cNvSpPr/>
          <p:nvPr/>
        </p:nvSpPr>
        <p:spPr>
          <a:xfrm>
            <a:off x="658368" y="2542032"/>
            <a:ext cx="3209544" cy="868680"/>
          </a:xfrm>
          <a:prstGeom prst="rect">
            <a:avLst/>
          </a:prstGeom>
          <a:noFill/>
          <a:ln/>
        </p:spPr>
        <p:txBody>
          <a:bodyPr wrap="square" lIns="0" tIns="0" rIns="0" bIns="0" rtlCol="0" anchor="t"/>
          <a:lstStyle/>
          <a:p>
            <a:pPr indent="0" marL="0">
              <a:buNone/>
            </a:pPr>
            <a:r>
              <a:rPr lang="en-US" sz="1100" dirty="0">
                <a:solidFill>
                  <a:srgbClr val="5B6B84"/>
                </a:solidFill>
                <a:latin typeface="Calibri" pitchFamily="34" charset="0"/>
                <a:ea typeface="Calibri" pitchFamily="34" charset="-122"/>
                <a:cs typeface="Calibri" pitchFamily="34" charset="-120"/>
              </a:rPr>
              <a:t>Use the same input 5 times. Save every output. Compare key fields.</a:t>
            </a:r>
            <a:endParaRPr lang="en-US" sz="1100" dirty="0"/>
          </a:p>
        </p:txBody>
      </p:sp>
      <p:sp>
        <p:nvSpPr>
          <p:cNvPr id="10" name="Shape 7"/>
          <p:cNvSpPr/>
          <p:nvPr/>
        </p:nvSpPr>
        <p:spPr>
          <a:xfrm>
            <a:off x="4288536" y="1828800"/>
            <a:ext cx="3611880" cy="1691640"/>
          </a:xfrm>
          <a:prstGeom prst="roundRect">
            <a:avLst>
              <a:gd name="adj" fmla="val 4324"/>
            </a:avLst>
          </a:prstGeom>
          <a:solidFill>
            <a:srgbClr val="FFFFFF"/>
          </a:solidFill>
          <a:ln w="12700">
            <a:solidFill>
              <a:srgbClr val="E2E8F0"/>
            </a:solidFill>
            <a:prstDash val="solid"/>
          </a:ln>
        </p:spPr>
      </p:sp>
      <p:sp>
        <p:nvSpPr>
          <p:cNvPr id="11" name="Shape 8"/>
          <p:cNvSpPr/>
          <p:nvPr/>
        </p:nvSpPr>
        <p:spPr>
          <a:xfrm>
            <a:off x="4489704" y="2011680"/>
            <a:ext cx="402336" cy="402336"/>
          </a:xfrm>
          <a:prstGeom prst="ellipse">
            <a:avLst/>
          </a:prstGeom>
          <a:solidFill>
            <a:srgbClr val="0F8B8D"/>
          </a:solidFill>
          <a:ln/>
        </p:spPr>
      </p:sp>
      <p:pic>
        <p:nvPicPr>
          <p:cNvPr id="12" name="Image 1" descr="/home/claude/deck/icons/scan.png">    </p:cNvPr>
          <p:cNvPicPr>
            <a:picLocks noChangeAspect="1"/>
          </p:cNvPicPr>
          <p:nvPr/>
        </p:nvPicPr>
        <p:blipFill>
          <a:blip r:embed="rId2"/>
          <a:stretch>
            <a:fillRect/>
          </a:stretch>
        </p:blipFill>
        <p:spPr>
          <a:xfrm>
            <a:off x="4586265" y="2108241"/>
            <a:ext cx="209215" cy="209215"/>
          </a:xfrm>
          <a:prstGeom prst="rect">
            <a:avLst/>
          </a:prstGeom>
        </p:spPr>
      </p:pic>
      <p:sp>
        <p:nvSpPr>
          <p:cNvPr id="13" name="Text 9"/>
          <p:cNvSpPr/>
          <p:nvPr/>
        </p:nvSpPr>
        <p:spPr>
          <a:xfrm>
            <a:off x="5001768" y="2011680"/>
            <a:ext cx="2697480" cy="402336"/>
          </a:xfrm>
          <a:prstGeom prst="rect">
            <a:avLst/>
          </a:prstGeom>
          <a:noFill/>
          <a:ln/>
        </p:spPr>
        <p:txBody>
          <a:bodyPr wrap="square" lIns="0" tIns="0" rIns="0" bIns="0" rtlCol="0" anchor="ctr"/>
          <a:lstStyle/>
          <a:p>
            <a:pPr indent="0" marL="0">
              <a:buNone/>
            </a:pPr>
            <a:r>
              <a:rPr lang="en-US" sz="1350" b="1" dirty="0">
                <a:solidFill>
                  <a:srgbClr val="12233F"/>
                </a:solidFill>
                <a:latin typeface="Calibri" pitchFamily="34" charset="0"/>
                <a:ea typeface="Calibri" pitchFamily="34" charset="-122"/>
                <a:cs typeface="Calibri" pitchFamily="34" charset="-120"/>
              </a:rPr>
              <a:t>Fields to compare</a:t>
            </a:r>
            <a:endParaRPr lang="en-US" sz="1350" dirty="0"/>
          </a:p>
        </p:txBody>
      </p:sp>
      <p:sp>
        <p:nvSpPr>
          <p:cNvPr id="14" name="Text 10"/>
          <p:cNvSpPr/>
          <p:nvPr/>
        </p:nvSpPr>
        <p:spPr>
          <a:xfrm>
            <a:off x="4489704" y="2542032"/>
            <a:ext cx="3209544" cy="868680"/>
          </a:xfrm>
          <a:prstGeom prst="rect">
            <a:avLst/>
          </a:prstGeom>
          <a:noFill/>
          <a:ln/>
        </p:spPr>
        <p:txBody>
          <a:bodyPr wrap="square" lIns="0" tIns="0" rIns="0" bIns="0" rtlCol="0" anchor="t"/>
          <a:lstStyle/>
          <a:p>
            <a:pPr indent="0" marL="0">
              <a:buNone/>
            </a:pPr>
            <a:r>
              <a:rPr lang="en-US" sz="1100" dirty="0">
                <a:solidFill>
                  <a:srgbClr val="5B6B84"/>
                </a:solidFill>
                <a:latin typeface="Calibri" pitchFamily="34" charset="0"/>
                <a:ea typeface="Calibri" pitchFamily="34" charset="-122"/>
                <a:cs typeface="Calibri" pitchFamily="34" charset="-120"/>
              </a:rPr>
              <a:t>Primary issue, severity, missing info, route, safety controls, final customer response.</a:t>
            </a:r>
            <a:endParaRPr lang="en-US" sz="1100" dirty="0"/>
          </a:p>
        </p:txBody>
      </p:sp>
      <p:sp>
        <p:nvSpPr>
          <p:cNvPr id="15" name="Shape 11"/>
          <p:cNvSpPr/>
          <p:nvPr/>
        </p:nvSpPr>
        <p:spPr>
          <a:xfrm>
            <a:off x="8119872" y="1828800"/>
            <a:ext cx="3611880" cy="1691640"/>
          </a:xfrm>
          <a:prstGeom prst="roundRect">
            <a:avLst>
              <a:gd name="adj" fmla="val 4324"/>
            </a:avLst>
          </a:prstGeom>
          <a:solidFill>
            <a:srgbClr val="FFFFFF"/>
          </a:solidFill>
          <a:ln w="12700">
            <a:solidFill>
              <a:srgbClr val="E2E8F0"/>
            </a:solidFill>
            <a:prstDash val="solid"/>
          </a:ln>
        </p:spPr>
      </p:sp>
      <p:sp>
        <p:nvSpPr>
          <p:cNvPr id="16" name="Shape 12"/>
          <p:cNvSpPr/>
          <p:nvPr/>
        </p:nvSpPr>
        <p:spPr>
          <a:xfrm>
            <a:off x="8321040" y="2011680"/>
            <a:ext cx="402336" cy="402336"/>
          </a:xfrm>
          <a:prstGeom prst="ellipse">
            <a:avLst/>
          </a:prstGeom>
          <a:solidFill>
            <a:srgbClr val="0F8B8D"/>
          </a:solidFill>
          <a:ln/>
        </p:spPr>
      </p:sp>
      <p:pic>
        <p:nvPicPr>
          <p:cNvPr id="17" name="Image 2" descr="/home/claude/deck/icons/gavel.png">    </p:cNvPr>
          <p:cNvPicPr>
            <a:picLocks noChangeAspect="1"/>
          </p:cNvPicPr>
          <p:nvPr/>
        </p:nvPicPr>
        <p:blipFill>
          <a:blip r:embed="rId3"/>
          <a:stretch>
            <a:fillRect/>
          </a:stretch>
        </p:blipFill>
        <p:spPr>
          <a:xfrm>
            <a:off x="8417601" y="2108241"/>
            <a:ext cx="209215" cy="209215"/>
          </a:xfrm>
          <a:prstGeom prst="rect">
            <a:avLst/>
          </a:prstGeom>
        </p:spPr>
      </p:pic>
      <p:sp>
        <p:nvSpPr>
          <p:cNvPr id="18" name="Text 13"/>
          <p:cNvSpPr/>
          <p:nvPr/>
        </p:nvSpPr>
        <p:spPr>
          <a:xfrm>
            <a:off x="8833104" y="2011680"/>
            <a:ext cx="2697480" cy="402336"/>
          </a:xfrm>
          <a:prstGeom prst="rect">
            <a:avLst/>
          </a:prstGeom>
          <a:noFill/>
          <a:ln/>
        </p:spPr>
        <p:txBody>
          <a:bodyPr wrap="square" lIns="0" tIns="0" rIns="0" bIns="0" rtlCol="0" anchor="ctr"/>
          <a:lstStyle/>
          <a:p>
            <a:pPr indent="0" marL="0">
              <a:buNone/>
            </a:pPr>
            <a:r>
              <a:rPr lang="en-US" sz="1350" b="1" dirty="0">
                <a:solidFill>
                  <a:srgbClr val="12233F"/>
                </a:solidFill>
                <a:latin typeface="Calibri" pitchFamily="34" charset="0"/>
                <a:ea typeface="Calibri" pitchFamily="34" charset="-122"/>
                <a:cs typeface="Calibri" pitchFamily="34" charset="-120"/>
              </a:rPr>
              <a:t>Decision rule</a:t>
            </a:r>
            <a:endParaRPr lang="en-US" sz="1350" dirty="0"/>
          </a:p>
        </p:txBody>
      </p:sp>
      <p:sp>
        <p:nvSpPr>
          <p:cNvPr id="19" name="Text 14"/>
          <p:cNvSpPr/>
          <p:nvPr/>
        </p:nvSpPr>
        <p:spPr>
          <a:xfrm>
            <a:off x="8321040" y="2542032"/>
            <a:ext cx="3209544" cy="868680"/>
          </a:xfrm>
          <a:prstGeom prst="rect">
            <a:avLst/>
          </a:prstGeom>
          <a:noFill/>
          <a:ln/>
        </p:spPr>
        <p:txBody>
          <a:bodyPr wrap="square" lIns="0" tIns="0" rIns="0" bIns="0" rtlCol="0" anchor="t"/>
          <a:lstStyle/>
          <a:p>
            <a:pPr indent="0" marL="0">
              <a:buNone/>
            </a:pPr>
            <a:r>
              <a:rPr lang="en-US" sz="1100" dirty="0">
                <a:solidFill>
                  <a:srgbClr val="5B6B84"/>
                </a:solidFill>
                <a:latin typeface="Calibri" pitchFamily="34" charset="0"/>
                <a:ea typeface="Calibri" pitchFamily="34" charset="-122"/>
                <a:cs typeface="Calibri" pitchFamily="34" charset="-120"/>
              </a:rPr>
              <a:t>Pass if critical fields are stable. Revise the prompt if severity or controls vary.</a:t>
            </a:r>
            <a:endParaRPr lang="en-US" sz="1100" dirty="0"/>
          </a:p>
        </p:txBody>
      </p:sp>
      <p:sp>
        <p:nvSpPr>
          <p:cNvPr id="20" name="Shape 15"/>
          <p:cNvSpPr/>
          <p:nvPr/>
        </p:nvSpPr>
        <p:spPr>
          <a:xfrm>
            <a:off x="457200" y="3794760"/>
            <a:ext cx="11274552" cy="1051560"/>
          </a:xfrm>
          <a:prstGeom prst="roundRect">
            <a:avLst>
              <a:gd name="adj" fmla="val 6957"/>
            </a:avLst>
          </a:prstGeom>
          <a:solidFill>
            <a:srgbClr val="FFFFFF"/>
          </a:solidFill>
          <a:ln w="12700">
            <a:solidFill>
              <a:srgbClr val="E2E8F0"/>
            </a:solidFill>
            <a:prstDash val="solid"/>
          </a:ln>
        </p:spPr>
      </p:sp>
      <p:sp>
        <p:nvSpPr>
          <p:cNvPr id="21" name="Text 16"/>
          <p:cNvSpPr/>
          <p:nvPr/>
        </p:nvSpPr>
        <p:spPr>
          <a:xfrm>
            <a:off x="713232" y="3941064"/>
            <a:ext cx="5486400" cy="256032"/>
          </a:xfrm>
          <a:prstGeom prst="rect">
            <a:avLst/>
          </a:prstGeom>
          <a:noFill/>
          <a:ln/>
        </p:spPr>
        <p:txBody>
          <a:bodyPr wrap="square" lIns="0" tIns="0" rIns="0" bIns="0" rtlCol="0" anchor="ctr"/>
          <a:lstStyle/>
          <a:p>
            <a:pPr indent="0" marL="0">
              <a:buNone/>
            </a:pPr>
            <a:r>
              <a:rPr lang="en-US" sz="1000" b="1" spc="50" kern="0" dirty="0">
                <a:solidFill>
                  <a:srgbClr val="12233F"/>
                </a:solidFill>
                <a:latin typeface="Calibri" pitchFamily="34" charset="0"/>
                <a:ea typeface="Calibri" pitchFamily="34" charset="-122"/>
                <a:cs typeface="Calibri" pitchFamily="34" charset="-120"/>
              </a:rPr>
              <a:t>CONSISTENCY TABLE COLUMNS</a:t>
            </a:r>
            <a:endParaRPr lang="en-US" sz="1000" dirty="0"/>
          </a:p>
        </p:txBody>
      </p:sp>
      <p:sp>
        <p:nvSpPr>
          <p:cNvPr id="22" name="Shape 17"/>
          <p:cNvSpPr/>
          <p:nvPr/>
        </p:nvSpPr>
        <p:spPr>
          <a:xfrm>
            <a:off x="713232" y="4306824"/>
            <a:ext cx="548640" cy="365760"/>
          </a:xfrm>
          <a:prstGeom prst="roundRect">
            <a:avLst>
              <a:gd name="adj" fmla="val 50000"/>
            </a:avLst>
          </a:prstGeom>
          <a:solidFill>
            <a:srgbClr val="EAF1FB"/>
          </a:solidFill>
          <a:ln w="9525">
            <a:solidFill>
              <a:srgbClr val="CFE0F5"/>
            </a:solidFill>
            <a:prstDash val="solid"/>
          </a:ln>
        </p:spPr>
      </p:sp>
      <p:sp>
        <p:nvSpPr>
          <p:cNvPr id="23" name="Text 18"/>
          <p:cNvSpPr/>
          <p:nvPr/>
        </p:nvSpPr>
        <p:spPr>
          <a:xfrm>
            <a:off x="713232" y="4306824"/>
            <a:ext cx="548640" cy="365760"/>
          </a:xfrm>
          <a:prstGeom prst="rect">
            <a:avLst/>
          </a:prstGeom>
          <a:noFill/>
          <a:ln/>
        </p:spPr>
        <p:txBody>
          <a:bodyPr wrap="square" lIns="0" tIns="0" rIns="0" bIns="0" rtlCol="0" anchor="ctr"/>
          <a:lstStyle/>
          <a:p>
            <a:pPr algn="ctr" indent="0" marL="0">
              <a:buNone/>
            </a:pPr>
            <a:r>
              <a:rPr lang="en-US" sz="1050" dirty="0">
                <a:solidFill>
                  <a:srgbClr val="12233F"/>
                </a:solidFill>
                <a:latin typeface="Calibri" pitchFamily="34" charset="0"/>
                <a:ea typeface="Calibri" pitchFamily="34" charset="-122"/>
                <a:cs typeface="Calibri" pitchFamily="34" charset="-120"/>
              </a:rPr>
              <a:t>Run</a:t>
            </a:r>
            <a:endParaRPr lang="en-US" sz="1050" dirty="0"/>
          </a:p>
        </p:txBody>
      </p:sp>
      <p:sp>
        <p:nvSpPr>
          <p:cNvPr id="24" name="Shape 19"/>
          <p:cNvSpPr/>
          <p:nvPr/>
        </p:nvSpPr>
        <p:spPr>
          <a:xfrm>
            <a:off x="1408176" y="4306824"/>
            <a:ext cx="1463040" cy="365760"/>
          </a:xfrm>
          <a:prstGeom prst="roundRect">
            <a:avLst>
              <a:gd name="adj" fmla="val 50000"/>
            </a:avLst>
          </a:prstGeom>
          <a:solidFill>
            <a:srgbClr val="EAF1FB"/>
          </a:solidFill>
          <a:ln w="9525">
            <a:solidFill>
              <a:srgbClr val="CFE0F5"/>
            </a:solidFill>
            <a:prstDash val="solid"/>
          </a:ln>
        </p:spPr>
      </p:sp>
      <p:sp>
        <p:nvSpPr>
          <p:cNvPr id="25" name="Text 20"/>
          <p:cNvSpPr/>
          <p:nvPr/>
        </p:nvSpPr>
        <p:spPr>
          <a:xfrm>
            <a:off x="1408176" y="4306824"/>
            <a:ext cx="1463040" cy="365760"/>
          </a:xfrm>
          <a:prstGeom prst="rect">
            <a:avLst/>
          </a:prstGeom>
          <a:noFill/>
          <a:ln/>
        </p:spPr>
        <p:txBody>
          <a:bodyPr wrap="square" lIns="0" tIns="0" rIns="0" bIns="0" rtlCol="0" anchor="ctr"/>
          <a:lstStyle/>
          <a:p>
            <a:pPr algn="ctr" indent="0" marL="0">
              <a:buNone/>
            </a:pPr>
            <a:r>
              <a:rPr lang="en-US" sz="1050" dirty="0">
                <a:solidFill>
                  <a:srgbClr val="12233F"/>
                </a:solidFill>
                <a:latin typeface="Calibri" pitchFamily="34" charset="0"/>
                <a:ea typeface="Calibri" pitchFamily="34" charset="-122"/>
                <a:cs typeface="Calibri" pitchFamily="34" charset="-120"/>
              </a:rPr>
              <a:t>Primary issue</a:t>
            </a:r>
            <a:endParaRPr lang="en-US" sz="1050" dirty="0"/>
          </a:p>
        </p:txBody>
      </p:sp>
      <p:sp>
        <p:nvSpPr>
          <p:cNvPr id="26" name="Shape 21"/>
          <p:cNvSpPr/>
          <p:nvPr/>
        </p:nvSpPr>
        <p:spPr>
          <a:xfrm>
            <a:off x="3017520" y="4306824"/>
            <a:ext cx="1005840" cy="365760"/>
          </a:xfrm>
          <a:prstGeom prst="roundRect">
            <a:avLst>
              <a:gd name="adj" fmla="val 50000"/>
            </a:avLst>
          </a:prstGeom>
          <a:solidFill>
            <a:srgbClr val="EAF1FB"/>
          </a:solidFill>
          <a:ln w="9525">
            <a:solidFill>
              <a:srgbClr val="CFE0F5"/>
            </a:solidFill>
            <a:prstDash val="solid"/>
          </a:ln>
        </p:spPr>
      </p:sp>
      <p:sp>
        <p:nvSpPr>
          <p:cNvPr id="27" name="Text 22"/>
          <p:cNvSpPr/>
          <p:nvPr/>
        </p:nvSpPr>
        <p:spPr>
          <a:xfrm>
            <a:off x="3017520" y="4306824"/>
            <a:ext cx="1005840" cy="365760"/>
          </a:xfrm>
          <a:prstGeom prst="rect">
            <a:avLst/>
          </a:prstGeom>
          <a:noFill/>
          <a:ln/>
        </p:spPr>
        <p:txBody>
          <a:bodyPr wrap="square" lIns="0" tIns="0" rIns="0" bIns="0" rtlCol="0" anchor="ctr"/>
          <a:lstStyle/>
          <a:p>
            <a:pPr algn="ctr" indent="0" marL="0">
              <a:buNone/>
            </a:pPr>
            <a:r>
              <a:rPr lang="en-US" sz="1050" dirty="0">
                <a:solidFill>
                  <a:srgbClr val="12233F"/>
                </a:solidFill>
                <a:latin typeface="Calibri" pitchFamily="34" charset="0"/>
                <a:ea typeface="Calibri" pitchFamily="34" charset="-122"/>
                <a:cs typeface="Calibri" pitchFamily="34" charset="-120"/>
              </a:rPr>
              <a:t>Severity</a:t>
            </a:r>
            <a:endParaRPr lang="en-US" sz="1050" dirty="0"/>
          </a:p>
        </p:txBody>
      </p:sp>
      <p:sp>
        <p:nvSpPr>
          <p:cNvPr id="28" name="Shape 23"/>
          <p:cNvSpPr/>
          <p:nvPr/>
        </p:nvSpPr>
        <p:spPr>
          <a:xfrm>
            <a:off x="4169664" y="4306824"/>
            <a:ext cx="1371600" cy="365760"/>
          </a:xfrm>
          <a:prstGeom prst="roundRect">
            <a:avLst>
              <a:gd name="adj" fmla="val 50000"/>
            </a:avLst>
          </a:prstGeom>
          <a:solidFill>
            <a:srgbClr val="EAF1FB"/>
          </a:solidFill>
          <a:ln w="9525">
            <a:solidFill>
              <a:srgbClr val="CFE0F5"/>
            </a:solidFill>
            <a:prstDash val="solid"/>
          </a:ln>
        </p:spPr>
      </p:sp>
      <p:sp>
        <p:nvSpPr>
          <p:cNvPr id="29" name="Text 24"/>
          <p:cNvSpPr/>
          <p:nvPr/>
        </p:nvSpPr>
        <p:spPr>
          <a:xfrm>
            <a:off x="4169664" y="4306824"/>
            <a:ext cx="1371600" cy="365760"/>
          </a:xfrm>
          <a:prstGeom prst="rect">
            <a:avLst/>
          </a:prstGeom>
          <a:noFill/>
          <a:ln/>
        </p:spPr>
        <p:txBody>
          <a:bodyPr wrap="square" lIns="0" tIns="0" rIns="0" bIns="0" rtlCol="0" anchor="ctr"/>
          <a:lstStyle/>
          <a:p>
            <a:pPr algn="ctr" indent="0" marL="0">
              <a:buNone/>
            </a:pPr>
            <a:r>
              <a:rPr lang="en-US" sz="1050" dirty="0">
                <a:solidFill>
                  <a:srgbClr val="12233F"/>
                </a:solidFill>
                <a:latin typeface="Calibri" pitchFamily="34" charset="0"/>
                <a:ea typeface="Calibri" pitchFamily="34" charset="-122"/>
                <a:cs typeface="Calibri" pitchFamily="34" charset="-120"/>
              </a:rPr>
              <a:t>Missing info</a:t>
            </a:r>
            <a:endParaRPr lang="en-US" sz="1050" dirty="0"/>
          </a:p>
        </p:txBody>
      </p:sp>
      <p:sp>
        <p:nvSpPr>
          <p:cNvPr id="30" name="Shape 25"/>
          <p:cNvSpPr/>
          <p:nvPr/>
        </p:nvSpPr>
        <p:spPr>
          <a:xfrm>
            <a:off x="5687568" y="4306824"/>
            <a:ext cx="1737360" cy="365760"/>
          </a:xfrm>
          <a:prstGeom prst="roundRect">
            <a:avLst>
              <a:gd name="adj" fmla="val 50000"/>
            </a:avLst>
          </a:prstGeom>
          <a:solidFill>
            <a:srgbClr val="EAF1FB"/>
          </a:solidFill>
          <a:ln w="9525">
            <a:solidFill>
              <a:srgbClr val="CFE0F5"/>
            </a:solidFill>
            <a:prstDash val="solid"/>
          </a:ln>
        </p:spPr>
      </p:sp>
      <p:sp>
        <p:nvSpPr>
          <p:cNvPr id="31" name="Text 26"/>
          <p:cNvSpPr/>
          <p:nvPr/>
        </p:nvSpPr>
        <p:spPr>
          <a:xfrm>
            <a:off x="5687568" y="4306824"/>
            <a:ext cx="1737360" cy="365760"/>
          </a:xfrm>
          <a:prstGeom prst="rect">
            <a:avLst/>
          </a:prstGeom>
          <a:noFill/>
          <a:ln/>
        </p:spPr>
        <p:txBody>
          <a:bodyPr wrap="square" lIns="0" tIns="0" rIns="0" bIns="0" rtlCol="0" anchor="ctr"/>
          <a:lstStyle/>
          <a:p>
            <a:pPr algn="ctr" indent="0" marL="0">
              <a:buNone/>
            </a:pPr>
            <a:r>
              <a:rPr lang="en-US" sz="1050" dirty="0">
                <a:solidFill>
                  <a:srgbClr val="12233F"/>
                </a:solidFill>
                <a:latin typeface="Calibri" pitchFamily="34" charset="0"/>
                <a:ea typeface="Calibri" pitchFamily="34" charset="-122"/>
                <a:cs typeface="Calibri" pitchFamily="34" charset="-120"/>
              </a:rPr>
              <a:t>Controls applied</a:t>
            </a:r>
            <a:endParaRPr lang="en-US" sz="1050" dirty="0"/>
          </a:p>
        </p:txBody>
      </p:sp>
      <p:sp>
        <p:nvSpPr>
          <p:cNvPr id="32" name="Shape 27"/>
          <p:cNvSpPr/>
          <p:nvPr/>
        </p:nvSpPr>
        <p:spPr>
          <a:xfrm>
            <a:off x="7571232" y="4306824"/>
            <a:ext cx="1280160" cy="365760"/>
          </a:xfrm>
          <a:prstGeom prst="roundRect">
            <a:avLst>
              <a:gd name="adj" fmla="val 50000"/>
            </a:avLst>
          </a:prstGeom>
          <a:solidFill>
            <a:srgbClr val="EAF1FB"/>
          </a:solidFill>
          <a:ln w="9525">
            <a:solidFill>
              <a:srgbClr val="CFE0F5"/>
            </a:solidFill>
            <a:prstDash val="solid"/>
          </a:ln>
        </p:spPr>
      </p:sp>
      <p:sp>
        <p:nvSpPr>
          <p:cNvPr id="33" name="Text 28"/>
          <p:cNvSpPr/>
          <p:nvPr/>
        </p:nvSpPr>
        <p:spPr>
          <a:xfrm>
            <a:off x="7571232" y="4306824"/>
            <a:ext cx="1280160" cy="365760"/>
          </a:xfrm>
          <a:prstGeom prst="rect">
            <a:avLst/>
          </a:prstGeom>
          <a:noFill/>
          <a:ln/>
        </p:spPr>
        <p:txBody>
          <a:bodyPr wrap="square" lIns="0" tIns="0" rIns="0" bIns="0" rtlCol="0" anchor="ctr"/>
          <a:lstStyle/>
          <a:p>
            <a:pPr algn="ctr" indent="0" marL="0">
              <a:buNone/>
            </a:pPr>
            <a:r>
              <a:rPr lang="en-US" sz="1050" dirty="0">
                <a:solidFill>
                  <a:srgbClr val="12233F"/>
                </a:solidFill>
                <a:latin typeface="Calibri" pitchFamily="34" charset="0"/>
                <a:ea typeface="Calibri" pitchFamily="34" charset="-122"/>
                <a:cs typeface="Calibri" pitchFamily="34" charset="-120"/>
              </a:rPr>
              <a:t>Pass / Fail</a:t>
            </a:r>
            <a:endParaRPr lang="en-US" sz="1050" dirty="0"/>
          </a:p>
        </p:txBody>
      </p:sp>
      <p:sp>
        <p:nvSpPr>
          <p:cNvPr id="34" name="Shape 29"/>
          <p:cNvSpPr/>
          <p:nvPr/>
        </p:nvSpPr>
        <p:spPr>
          <a:xfrm>
            <a:off x="8997696" y="4306824"/>
            <a:ext cx="731520" cy="365760"/>
          </a:xfrm>
          <a:prstGeom prst="roundRect">
            <a:avLst>
              <a:gd name="adj" fmla="val 50000"/>
            </a:avLst>
          </a:prstGeom>
          <a:solidFill>
            <a:srgbClr val="EAF1FB"/>
          </a:solidFill>
          <a:ln w="9525">
            <a:solidFill>
              <a:srgbClr val="CFE0F5"/>
            </a:solidFill>
            <a:prstDash val="solid"/>
          </a:ln>
        </p:spPr>
      </p:sp>
      <p:sp>
        <p:nvSpPr>
          <p:cNvPr id="35" name="Text 30"/>
          <p:cNvSpPr/>
          <p:nvPr/>
        </p:nvSpPr>
        <p:spPr>
          <a:xfrm>
            <a:off x="8997696" y="4306824"/>
            <a:ext cx="731520" cy="365760"/>
          </a:xfrm>
          <a:prstGeom prst="rect">
            <a:avLst/>
          </a:prstGeom>
          <a:noFill/>
          <a:ln/>
        </p:spPr>
        <p:txBody>
          <a:bodyPr wrap="square" lIns="0" tIns="0" rIns="0" bIns="0" rtlCol="0" anchor="ctr"/>
          <a:lstStyle/>
          <a:p>
            <a:pPr algn="ctr" indent="0" marL="0">
              <a:buNone/>
            </a:pPr>
            <a:r>
              <a:rPr lang="en-US" sz="1050" dirty="0">
                <a:solidFill>
                  <a:srgbClr val="12233F"/>
                </a:solidFill>
                <a:latin typeface="Calibri" pitchFamily="34" charset="0"/>
                <a:ea typeface="Calibri" pitchFamily="34" charset="-122"/>
                <a:cs typeface="Calibri" pitchFamily="34" charset="-120"/>
              </a:rPr>
              <a:t>Notes</a:t>
            </a:r>
            <a:endParaRPr lang="en-US" sz="1050" dirty="0"/>
          </a:p>
        </p:txBody>
      </p:sp>
      <p:sp>
        <p:nvSpPr>
          <p:cNvPr id="36" name="Shape 31"/>
          <p:cNvSpPr/>
          <p:nvPr/>
        </p:nvSpPr>
        <p:spPr>
          <a:xfrm>
            <a:off x="457200" y="5074920"/>
            <a:ext cx="11274552" cy="868680"/>
          </a:xfrm>
          <a:prstGeom prst="roundRect">
            <a:avLst>
              <a:gd name="adj" fmla="val 8421"/>
            </a:avLst>
          </a:prstGeom>
          <a:solidFill>
            <a:srgbClr val="FBF1E0"/>
          </a:solidFill>
          <a:ln w="12700">
            <a:solidFill>
              <a:srgbClr val="EBD8A8"/>
            </a:solidFill>
            <a:prstDash val="solid"/>
          </a:ln>
        </p:spPr>
      </p:sp>
      <p:sp>
        <p:nvSpPr>
          <p:cNvPr id="37" name="Shape 32"/>
          <p:cNvSpPr/>
          <p:nvPr/>
        </p:nvSpPr>
        <p:spPr>
          <a:xfrm>
            <a:off x="676656" y="5276088"/>
            <a:ext cx="457200" cy="457200"/>
          </a:xfrm>
          <a:prstGeom prst="ellipse">
            <a:avLst/>
          </a:prstGeom>
          <a:solidFill>
            <a:srgbClr val="B9770E"/>
          </a:solidFill>
          <a:ln/>
        </p:spPr>
      </p:sp>
      <p:pic>
        <p:nvPicPr>
          <p:cNvPr id="38" name="Image 3" descr="/home/claude/deck/icons/lightbulb.png">    </p:cNvPr>
          <p:cNvPicPr>
            <a:picLocks noChangeAspect="1"/>
          </p:cNvPicPr>
          <p:nvPr/>
        </p:nvPicPr>
        <p:blipFill>
          <a:blip r:embed="rId4"/>
          <a:stretch>
            <a:fillRect/>
          </a:stretch>
        </p:blipFill>
        <p:spPr>
          <a:xfrm>
            <a:off x="786384" y="5385816"/>
            <a:ext cx="237744" cy="237744"/>
          </a:xfrm>
          <a:prstGeom prst="rect">
            <a:avLst/>
          </a:prstGeom>
        </p:spPr>
      </p:pic>
      <p:sp>
        <p:nvSpPr>
          <p:cNvPr id="39" name="Text 33"/>
          <p:cNvSpPr/>
          <p:nvPr/>
        </p:nvSpPr>
        <p:spPr>
          <a:xfrm>
            <a:off x="1243584" y="5074920"/>
            <a:ext cx="10241280" cy="868680"/>
          </a:xfrm>
          <a:prstGeom prst="rect">
            <a:avLst/>
          </a:prstGeom>
          <a:noFill/>
          <a:ln/>
        </p:spPr>
        <p:txBody>
          <a:bodyPr wrap="square" lIns="0" tIns="0" rIns="0" bIns="0" rtlCol="0" anchor="ctr"/>
          <a:lstStyle/>
          <a:p>
            <a:pPr indent="0" marL="0">
              <a:buNone/>
            </a:pPr>
            <a:r>
              <a:rPr lang="en-US" sz="1250" b="1" dirty="0">
                <a:solidFill>
                  <a:srgbClr val="B9770E"/>
                </a:solidFill>
                <a:latin typeface="Calibri" pitchFamily="34" charset="0"/>
                <a:ea typeface="Calibri" pitchFamily="34" charset="-122"/>
                <a:cs typeface="Calibri" pitchFamily="34" charset="-120"/>
              </a:rPr>
              <a:t>Participant instruction:  </a:t>
            </a:r>
            <a:pPr indent="0" marL="0">
              <a:buNone/>
            </a:pPr>
            <a:r>
              <a:rPr lang="en-US" sz="1250" dirty="0">
                <a:solidFill>
                  <a:srgbClr val="1B2A41"/>
                </a:solidFill>
                <a:latin typeface="Calibri" pitchFamily="34" charset="0"/>
                <a:ea typeface="Calibri" pitchFamily="34" charset="-122"/>
                <a:cs typeface="Calibri" pitchFamily="34" charset="-120"/>
              </a:rPr>
              <a:t>Change the wording of the prompt, not the input, until the result becomes stable and auditable.</a:t>
            </a:r>
            <a:endParaRPr lang="en-US" sz="1250" dirty="0"/>
          </a:p>
        </p:txBody>
      </p:sp>
      <p:sp>
        <p:nvSpPr>
          <p:cNvPr id="40" name="Text 34"/>
          <p:cNvSpPr/>
          <p:nvPr/>
        </p:nvSpPr>
        <p:spPr>
          <a:xfrm>
            <a:off x="457200" y="6547104"/>
            <a:ext cx="8229600" cy="274320"/>
          </a:xfrm>
          <a:prstGeom prst="rect">
            <a:avLst/>
          </a:prstGeom>
          <a:noFill/>
          <a:ln/>
        </p:spPr>
        <p:txBody>
          <a:bodyPr wrap="square" lIns="0" tIns="0" rIns="0" bIns="0" rtlCol="0" anchor="ctr"/>
          <a:lstStyle/>
          <a:p>
            <a:pPr algn="l" indent="0" marL="0">
              <a:buNone/>
            </a:pPr>
            <a:r>
              <a:rPr lang="en-US" sz="850" dirty="0">
                <a:solidFill>
                  <a:srgbClr val="5B6B84"/>
                </a:solidFill>
                <a:latin typeface="Calibri" pitchFamily="34" charset="0"/>
                <a:ea typeface="Calibri" pitchFamily="34" charset="-122"/>
                <a:cs typeface="Calibri" pitchFamily="34" charset="-120"/>
              </a:rPr>
              <a:t>PROMPT EVALUATION FRAMEWORK  •  SYNCHRONY TRAINING SIMULATION</a:t>
            </a:r>
            <a:endParaRPr lang="en-US" sz="850" dirty="0"/>
          </a:p>
        </p:txBody>
      </p:sp>
      <p:sp>
        <p:nvSpPr>
          <p:cNvPr id="41" name="Text 35"/>
          <p:cNvSpPr/>
          <p:nvPr/>
        </p:nvSpPr>
        <p:spPr>
          <a:xfrm>
            <a:off x="11274552" y="6547104"/>
            <a:ext cx="457200" cy="274320"/>
          </a:xfrm>
          <a:prstGeom prst="rect">
            <a:avLst/>
          </a:prstGeom>
          <a:noFill/>
          <a:ln/>
        </p:spPr>
        <p:txBody>
          <a:bodyPr wrap="square" lIns="0" tIns="0" rIns="0" bIns="0" rtlCol="0" anchor="ctr"/>
          <a:lstStyle/>
          <a:p>
            <a:pPr algn="r" indent="0" marL="0">
              <a:buNone/>
            </a:pPr>
            <a:r>
              <a:rPr lang="en-US" sz="850" dirty="0">
                <a:solidFill>
                  <a:srgbClr val="5B6B84"/>
                </a:solidFill>
                <a:latin typeface="Calibri" pitchFamily="34" charset="0"/>
                <a:ea typeface="Calibri" pitchFamily="34" charset="-122"/>
                <a:cs typeface="Calibri" pitchFamily="34" charset="-120"/>
              </a:rPr>
              <a:t>11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457200" y="347472"/>
            <a:ext cx="10058400" cy="274320"/>
          </a:xfrm>
          <a:prstGeom prst="rect">
            <a:avLst/>
          </a:prstGeom>
          <a:noFill/>
          <a:ln/>
        </p:spPr>
        <p:txBody>
          <a:bodyPr wrap="square" lIns="0" tIns="0" rIns="0" bIns="0" rtlCol="0" anchor="ctr"/>
          <a:lstStyle/>
          <a:p>
            <a:pPr indent="0" marL="0">
              <a:buNone/>
            </a:pPr>
            <a:r>
              <a:rPr lang="en-US" sz="1100" b="1" spc="150" kern="0" dirty="0">
                <a:solidFill>
                  <a:srgbClr val="0F8B8D"/>
                </a:solidFill>
                <a:latin typeface="Calibri" pitchFamily="34" charset="0"/>
                <a:ea typeface="Calibri" pitchFamily="34" charset="-122"/>
                <a:cs typeface="Calibri" pitchFamily="34" charset="-120"/>
              </a:rPr>
              <a:t>AUTOMATION</a:t>
            </a:r>
            <a:endParaRPr lang="en-US" sz="1100" dirty="0"/>
          </a:p>
        </p:txBody>
      </p:sp>
      <p:sp>
        <p:nvSpPr>
          <p:cNvPr id="3" name="Text 1"/>
          <p:cNvSpPr/>
          <p:nvPr/>
        </p:nvSpPr>
        <p:spPr>
          <a:xfrm>
            <a:off x="457200" y="603504"/>
            <a:ext cx="11247120" cy="566928"/>
          </a:xfrm>
          <a:prstGeom prst="rect">
            <a:avLst/>
          </a:prstGeom>
          <a:noFill/>
          <a:ln/>
        </p:spPr>
        <p:txBody>
          <a:bodyPr wrap="square" lIns="0" tIns="0" rIns="0" bIns="0" rtlCol="0" anchor="ctr"/>
          <a:lstStyle/>
          <a:p>
            <a:pPr indent="0" marL="0">
              <a:buNone/>
            </a:pPr>
            <a:r>
              <a:rPr lang="en-US" sz="3000" b="1" dirty="0">
                <a:solidFill>
                  <a:srgbClr val="12233F"/>
                </a:solidFill>
                <a:latin typeface="Cambria" pitchFamily="34" charset="0"/>
                <a:ea typeface="Cambria" pitchFamily="34" charset="-122"/>
                <a:cs typeface="Cambria" pitchFamily="34" charset="-120"/>
              </a:rPr>
              <a:t>LLM-as-a-judge prompt</a:t>
            </a:r>
            <a:endParaRPr lang="en-US" sz="3000" dirty="0"/>
          </a:p>
        </p:txBody>
      </p:sp>
      <p:sp>
        <p:nvSpPr>
          <p:cNvPr id="4" name="Text 2"/>
          <p:cNvSpPr/>
          <p:nvPr/>
        </p:nvSpPr>
        <p:spPr>
          <a:xfrm>
            <a:off x="457200" y="1170432"/>
            <a:ext cx="11247120" cy="365760"/>
          </a:xfrm>
          <a:prstGeom prst="rect">
            <a:avLst/>
          </a:prstGeom>
          <a:noFill/>
          <a:ln/>
        </p:spPr>
        <p:txBody>
          <a:bodyPr wrap="square" lIns="0" tIns="0" rIns="0" bIns="0" rtlCol="0" anchor="ctr"/>
          <a:lstStyle/>
          <a:p>
            <a:pPr indent="0" marL="0">
              <a:buNone/>
            </a:pPr>
            <a:r>
              <a:rPr lang="en-US" sz="1400" i="1" dirty="0">
                <a:solidFill>
                  <a:srgbClr val="5B6B84"/>
                </a:solidFill>
                <a:latin typeface="Calibri" pitchFamily="34" charset="0"/>
                <a:ea typeface="Calibri" pitchFamily="34" charset="-122"/>
                <a:cs typeface="Calibri" pitchFamily="34" charset="-120"/>
              </a:rPr>
              <a:t>Use carefully: the evaluator is helpful, but not a replacement for authorized review.</a:t>
            </a:r>
            <a:endParaRPr lang="en-US" sz="1400" dirty="0"/>
          </a:p>
        </p:txBody>
      </p:sp>
      <p:sp>
        <p:nvSpPr>
          <p:cNvPr id="5" name="Shape 3"/>
          <p:cNvSpPr/>
          <p:nvPr/>
        </p:nvSpPr>
        <p:spPr>
          <a:xfrm>
            <a:off x="457200" y="1828800"/>
            <a:ext cx="11274552" cy="2606040"/>
          </a:xfrm>
          <a:prstGeom prst="roundRect">
            <a:avLst>
              <a:gd name="adj" fmla="val 2807"/>
            </a:avLst>
          </a:prstGeom>
          <a:solidFill>
            <a:srgbClr val="12233F"/>
          </a:solidFill>
          <a:ln/>
        </p:spPr>
      </p:sp>
      <p:sp>
        <p:nvSpPr>
          <p:cNvPr id="6" name="Shape 4"/>
          <p:cNvSpPr/>
          <p:nvPr/>
        </p:nvSpPr>
        <p:spPr>
          <a:xfrm>
            <a:off x="713232" y="2066544"/>
            <a:ext cx="438912" cy="438912"/>
          </a:xfrm>
          <a:prstGeom prst="ellipse">
            <a:avLst/>
          </a:prstGeom>
          <a:solidFill>
            <a:srgbClr val="0F8B8D"/>
          </a:solidFill>
          <a:ln/>
        </p:spPr>
      </p:sp>
      <p:pic>
        <p:nvPicPr>
          <p:cNvPr id="7" name="Image 0" descr="/home/claude/deck/icons/gavel.png">    </p:cNvPr>
          <p:cNvPicPr>
            <a:picLocks noChangeAspect="1"/>
          </p:cNvPicPr>
          <p:nvPr/>
        </p:nvPicPr>
        <p:blipFill>
          <a:blip r:embed="rId1"/>
          <a:stretch>
            <a:fillRect/>
          </a:stretch>
        </p:blipFill>
        <p:spPr>
          <a:xfrm>
            <a:off x="818571" y="2171883"/>
            <a:ext cx="228234" cy="228234"/>
          </a:xfrm>
          <a:prstGeom prst="rect">
            <a:avLst/>
          </a:prstGeom>
        </p:spPr>
      </p:pic>
      <p:sp>
        <p:nvSpPr>
          <p:cNvPr id="8" name="Text 5"/>
          <p:cNvSpPr/>
          <p:nvPr/>
        </p:nvSpPr>
        <p:spPr>
          <a:xfrm>
            <a:off x="1280160" y="2048256"/>
            <a:ext cx="5486400" cy="42062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Judge prompt</a:t>
            </a:r>
            <a:endParaRPr lang="en-US" sz="1500" dirty="0"/>
          </a:p>
        </p:txBody>
      </p:sp>
      <p:sp>
        <p:nvSpPr>
          <p:cNvPr id="9" name="Text 6"/>
          <p:cNvSpPr/>
          <p:nvPr/>
        </p:nvSpPr>
        <p:spPr>
          <a:xfrm>
            <a:off x="713232" y="2615184"/>
            <a:ext cx="10789920" cy="1691640"/>
          </a:xfrm>
          <a:prstGeom prst="rect">
            <a:avLst/>
          </a:prstGeom>
          <a:noFill/>
          <a:ln/>
        </p:spPr>
        <p:txBody>
          <a:bodyPr wrap="square" lIns="0" tIns="0" rIns="0" bIns="0" rtlCol="0" anchor="t"/>
          <a:lstStyle/>
          <a:p>
            <a:pPr indent="0" marL="0">
              <a:lnSpc>
                <a:spcPct val="125000"/>
              </a:lnSpc>
              <a:buNone/>
            </a:pPr>
            <a:r>
              <a:rPr lang="en-US" sz="1350" i="1" dirty="0">
                <a:solidFill>
                  <a:srgbClr val="F2F5FA"/>
                </a:solidFill>
                <a:latin typeface="Calibri" pitchFamily="34" charset="0"/>
                <a:ea typeface="Calibri" pitchFamily="34" charset="-122"/>
                <a:cs typeface="Calibri" pitchFamily="34" charset="-120"/>
              </a:rPr>
              <a:t>You are an impartial evaluator. Compare Response A and Response B against the verified facts. Score each response from 1–5 for accuracy, relevance, completeness, groundedness, tone, safety, and format compliance. Identify unsupported claims. Choose the safer response and explain why. Do not reward longer answers unless they are more accurate and complete.</a:t>
            </a:r>
            <a:endParaRPr lang="en-US" sz="1350" dirty="0"/>
          </a:p>
        </p:txBody>
      </p:sp>
      <p:sp>
        <p:nvSpPr>
          <p:cNvPr id="10" name="Shape 7"/>
          <p:cNvSpPr/>
          <p:nvPr/>
        </p:nvSpPr>
        <p:spPr>
          <a:xfrm>
            <a:off x="457200" y="4663440"/>
            <a:ext cx="5468112" cy="1600200"/>
          </a:xfrm>
          <a:prstGeom prst="roundRect">
            <a:avLst>
              <a:gd name="adj" fmla="val 4571"/>
            </a:avLst>
          </a:prstGeom>
          <a:solidFill>
            <a:srgbClr val="E7F4EE"/>
          </a:solidFill>
          <a:ln w="12700">
            <a:solidFill>
              <a:srgbClr val="BBE0CC"/>
            </a:solidFill>
            <a:prstDash val="solid"/>
          </a:ln>
        </p:spPr>
      </p:sp>
      <p:sp>
        <p:nvSpPr>
          <p:cNvPr id="11" name="Shape 8"/>
          <p:cNvSpPr/>
          <p:nvPr/>
        </p:nvSpPr>
        <p:spPr>
          <a:xfrm>
            <a:off x="676656" y="4864608"/>
            <a:ext cx="402336" cy="402336"/>
          </a:xfrm>
          <a:prstGeom prst="ellipse">
            <a:avLst/>
          </a:prstGeom>
          <a:solidFill>
            <a:srgbClr val="1E8E5A"/>
          </a:solidFill>
          <a:ln/>
        </p:spPr>
      </p:sp>
      <p:pic>
        <p:nvPicPr>
          <p:cNvPr id="12" name="Image 1" descr="/home/claude/deck/icons/checkcircle.png">    </p:cNvPr>
          <p:cNvPicPr>
            <a:picLocks noChangeAspect="1"/>
          </p:cNvPicPr>
          <p:nvPr/>
        </p:nvPicPr>
        <p:blipFill>
          <a:blip r:embed="rId2"/>
          <a:stretch>
            <a:fillRect/>
          </a:stretch>
        </p:blipFill>
        <p:spPr>
          <a:xfrm>
            <a:off x="773217" y="4961169"/>
            <a:ext cx="209215" cy="209215"/>
          </a:xfrm>
          <a:prstGeom prst="rect">
            <a:avLst/>
          </a:prstGeom>
        </p:spPr>
      </p:pic>
      <p:sp>
        <p:nvSpPr>
          <p:cNvPr id="13" name="Text 9"/>
          <p:cNvSpPr/>
          <p:nvPr/>
        </p:nvSpPr>
        <p:spPr>
          <a:xfrm>
            <a:off x="1188720" y="4864608"/>
            <a:ext cx="4096512" cy="402336"/>
          </a:xfrm>
          <a:prstGeom prst="rect">
            <a:avLst/>
          </a:prstGeom>
          <a:noFill/>
          <a:ln/>
        </p:spPr>
        <p:txBody>
          <a:bodyPr wrap="square" lIns="0" tIns="0" rIns="0" bIns="0" rtlCol="0" anchor="ctr"/>
          <a:lstStyle/>
          <a:p>
            <a:pPr indent="0" marL="0">
              <a:buNone/>
            </a:pPr>
            <a:r>
              <a:rPr lang="en-US" sz="1400" b="1" dirty="0">
                <a:solidFill>
                  <a:srgbClr val="1E8E5A"/>
                </a:solidFill>
                <a:latin typeface="Calibri" pitchFamily="34" charset="0"/>
                <a:ea typeface="Calibri" pitchFamily="34" charset="-122"/>
                <a:cs typeface="Calibri" pitchFamily="34" charset="-120"/>
              </a:rPr>
              <a:t>Controls</a:t>
            </a:r>
            <a:endParaRPr lang="en-US" sz="1400" dirty="0"/>
          </a:p>
        </p:txBody>
      </p:sp>
      <p:sp>
        <p:nvSpPr>
          <p:cNvPr id="14" name="Text 10"/>
          <p:cNvSpPr/>
          <p:nvPr/>
        </p:nvSpPr>
        <p:spPr>
          <a:xfrm>
            <a:off x="676656" y="5376672"/>
            <a:ext cx="5010912" cy="822960"/>
          </a:xfrm>
          <a:prstGeom prst="rect">
            <a:avLst/>
          </a:prstGeom>
          <a:noFill/>
          <a:ln/>
        </p:spPr>
        <p:txBody>
          <a:bodyPr wrap="square" lIns="0" tIns="0" rIns="0" bIns="0" rtlCol="0" anchor="t"/>
          <a:lstStyle/>
          <a:p>
            <a:pPr indent="0" marL="0">
              <a:buNone/>
            </a:pPr>
            <a:r>
              <a:rPr lang="en-US" sz="1150" dirty="0">
                <a:solidFill>
                  <a:srgbClr val="1B2A41"/>
                </a:solidFill>
                <a:latin typeface="Calibri" pitchFamily="34" charset="0"/>
                <a:ea typeface="Calibri" pitchFamily="34" charset="-122"/>
                <a:cs typeface="Calibri" pitchFamily="34" charset="-120"/>
              </a:rPr>
              <a:t>Use verified facts only. Require citations to evidence. Penalize unsupported promises. Penalize policy assumptions. Human review remains mandatory.</a:t>
            </a:r>
            <a:endParaRPr lang="en-US" sz="1150" dirty="0"/>
          </a:p>
        </p:txBody>
      </p:sp>
      <p:sp>
        <p:nvSpPr>
          <p:cNvPr id="15" name="Shape 11"/>
          <p:cNvSpPr/>
          <p:nvPr/>
        </p:nvSpPr>
        <p:spPr>
          <a:xfrm>
            <a:off x="6263640" y="4663440"/>
            <a:ext cx="5468112" cy="1600200"/>
          </a:xfrm>
          <a:prstGeom prst="roundRect">
            <a:avLst>
              <a:gd name="adj" fmla="val 4571"/>
            </a:avLst>
          </a:prstGeom>
          <a:solidFill>
            <a:srgbClr val="FBF1E0"/>
          </a:solidFill>
          <a:ln w="12700">
            <a:solidFill>
              <a:srgbClr val="EBD8A8"/>
            </a:solidFill>
            <a:prstDash val="solid"/>
          </a:ln>
        </p:spPr>
      </p:sp>
      <p:sp>
        <p:nvSpPr>
          <p:cNvPr id="16" name="Shape 12"/>
          <p:cNvSpPr/>
          <p:nvPr/>
        </p:nvSpPr>
        <p:spPr>
          <a:xfrm>
            <a:off x="6483096" y="4864608"/>
            <a:ext cx="402336" cy="402336"/>
          </a:xfrm>
          <a:prstGeom prst="ellipse">
            <a:avLst/>
          </a:prstGeom>
          <a:solidFill>
            <a:srgbClr val="B9770E"/>
          </a:solidFill>
          <a:ln/>
        </p:spPr>
      </p:sp>
      <p:pic>
        <p:nvPicPr>
          <p:cNvPr id="17" name="Image 2" descr="/home/claude/deck/icons/alertcircle.png">    </p:cNvPr>
          <p:cNvPicPr>
            <a:picLocks noChangeAspect="1"/>
          </p:cNvPicPr>
          <p:nvPr/>
        </p:nvPicPr>
        <p:blipFill>
          <a:blip r:embed="rId3"/>
          <a:stretch>
            <a:fillRect/>
          </a:stretch>
        </p:blipFill>
        <p:spPr>
          <a:xfrm>
            <a:off x="6579657" y="4961169"/>
            <a:ext cx="209215" cy="209215"/>
          </a:xfrm>
          <a:prstGeom prst="rect">
            <a:avLst/>
          </a:prstGeom>
        </p:spPr>
      </p:pic>
      <p:sp>
        <p:nvSpPr>
          <p:cNvPr id="18" name="Text 13"/>
          <p:cNvSpPr/>
          <p:nvPr/>
        </p:nvSpPr>
        <p:spPr>
          <a:xfrm>
            <a:off x="6995160" y="4864608"/>
            <a:ext cx="4553712" cy="402336"/>
          </a:xfrm>
          <a:prstGeom prst="rect">
            <a:avLst/>
          </a:prstGeom>
          <a:noFill/>
          <a:ln/>
        </p:spPr>
        <p:txBody>
          <a:bodyPr wrap="square" lIns="0" tIns="0" rIns="0" bIns="0" rtlCol="0" anchor="ctr"/>
          <a:lstStyle/>
          <a:p>
            <a:pPr indent="0" marL="0">
              <a:buNone/>
            </a:pPr>
            <a:r>
              <a:rPr lang="en-US" sz="1400" b="1" dirty="0">
                <a:solidFill>
                  <a:srgbClr val="B9770E"/>
                </a:solidFill>
                <a:latin typeface="Calibri" pitchFamily="34" charset="0"/>
                <a:ea typeface="Calibri" pitchFamily="34" charset="-122"/>
                <a:cs typeface="Calibri" pitchFamily="34" charset="-120"/>
              </a:rPr>
              <a:t>Limitation</a:t>
            </a:r>
            <a:endParaRPr lang="en-US" sz="1400" dirty="0"/>
          </a:p>
        </p:txBody>
      </p:sp>
      <p:sp>
        <p:nvSpPr>
          <p:cNvPr id="19" name="Text 14"/>
          <p:cNvSpPr/>
          <p:nvPr/>
        </p:nvSpPr>
        <p:spPr>
          <a:xfrm>
            <a:off x="6483096" y="5376672"/>
            <a:ext cx="5010912" cy="822960"/>
          </a:xfrm>
          <a:prstGeom prst="rect">
            <a:avLst/>
          </a:prstGeom>
          <a:noFill/>
          <a:ln/>
        </p:spPr>
        <p:txBody>
          <a:bodyPr wrap="square" lIns="0" tIns="0" rIns="0" bIns="0" rtlCol="0" anchor="t"/>
          <a:lstStyle/>
          <a:p>
            <a:pPr indent="0" marL="0">
              <a:buNone/>
            </a:pPr>
            <a:r>
              <a:rPr lang="en-US" sz="1150" dirty="0">
                <a:solidFill>
                  <a:srgbClr val="1B2A41"/>
                </a:solidFill>
                <a:latin typeface="Calibri" pitchFamily="34" charset="0"/>
                <a:ea typeface="Calibri" pitchFamily="34" charset="-122"/>
                <a:cs typeface="Calibri" pitchFamily="34" charset="-120"/>
              </a:rPr>
              <a:t>The judge can also be wrong. Use it to speed up review, not to remove accountability.</a:t>
            </a:r>
            <a:endParaRPr lang="en-US" sz="1150" dirty="0"/>
          </a:p>
        </p:txBody>
      </p:sp>
      <p:sp>
        <p:nvSpPr>
          <p:cNvPr id="20" name="Text 15"/>
          <p:cNvSpPr/>
          <p:nvPr/>
        </p:nvSpPr>
        <p:spPr>
          <a:xfrm>
            <a:off x="457200" y="6547104"/>
            <a:ext cx="8229600" cy="274320"/>
          </a:xfrm>
          <a:prstGeom prst="rect">
            <a:avLst/>
          </a:prstGeom>
          <a:noFill/>
          <a:ln/>
        </p:spPr>
        <p:txBody>
          <a:bodyPr wrap="square" lIns="0" tIns="0" rIns="0" bIns="0" rtlCol="0" anchor="ctr"/>
          <a:lstStyle/>
          <a:p>
            <a:pPr algn="l" indent="0" marL="0">
              <a:buNone/>
            </a:pPr>
            <a:r>
              <a:rPr lang="en-US" sz="850" dirty="0">
                <a:solidFill>
                  <a:srgbClr val="5B6B84"/>
                </a:solidFill>
                <a:latin typeface="Calibri" pitchFamily="34" charset="0"/>
                <a:ea typeface="Calibri" pitchFamily="34" charset="-122"/>
                <a:cs typeface="Calibri" pitchFamily="34" charset="-120"/>
              </a:rPr>
              <a:t>PROMPT EVALUATION FRAMEWORK  •  SYNCHRONY TRAINING SIMULATION</a:t>
            </a:r>
            <a:endParaRPr lang="en-US" sz="850" dirty="0"/>
          </a:p>
        </p:txBody>
      </p:sp>
      <p:sp>
        <p:nvSpPr>
          <p:cNvPr id="21" name="Text 16"/>
          <p:cNvSpPr/>
          <p:nvPr/>
        </p:nvSpPr>
        <p:spPr>
          <a:xfrm>
            <a:off x="11274552" y="6547104"/>
            <a:ext cx="457200" cy="274320"/>
          </a:xfrm>
          <a:prstGeom prst="rect">
            <a:avLst/>
          </a:prstGeom>
          <a:noFill/>
          <a:ln/>
        </p:spPr>
        <p:txBody>
          <a:bodyPr wrap="square" lIns="0" tIns="0" rIns="0" bIns="0" rtlCol="0" anchor="ctr"/>
          <a:lstStyle/>
          <a:p>
            <a:pPr algn="r" indent="0" marL="0">
              <a:buNone/>
            </a:pPr>
            <a:r>
              <a:rPr lang="en-US" sz="850" dirty="0">
                <a:solidFill>
                  <a:srgbClr val="5B6B84"/>
                </a:solidFill>
                <a:latin typeface="Calibri" pitchFamily="34" charset="0"/>
                <a:ea typeface="Calibri" pitchFamily="34" charset="-122"/>
                <a:cs typeface="Calibri" pitchFamily="34" charset="-120"/>
              </a:rPr>
              <a:t>12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457200" y="347472"/>
            <a:ext cx="10058400" cy="274320"/>
          </a:xfrm>
          <a:prstGeom prst="rect">
            <a:avLst/>
          </a:prstGeom>
          <a:noFill/>
          <a:ln/>
        </p:spPr>
        <p:txBody>
          <a:bodyPr wrap="square" lIns="0" tIns="0" rIns="0" bIns="0" rtlCol="0" anchor="ctr"/>
          <a:lstStyle/>
          <a:p>
            <a:pPr indent="0" marL="0">
              <a:buNone/>
            </a:pPr>
            <a:r>
              <a:rPr lang="en-US" sz="1100" b="1" spc="150" kern="0" dirty="0">
                <a:solidFill>
                  <a:srgbClr val="0F8B8D"/>
                </a:solidFill>
                <a:latin typeface="Calibri" pitchFamily="34" charset="0"/>
                <a:ea typeface="Calibri" pitchFamily="34" charset="-122"/>
                <a:cs typeface="Calibri" pitchFamily="34" charset="-120"/>
              </a:rPr>
              <a:t>HANDS-ON LAB</a:t>
            </a:r>
            <a:endParaRPr lang="en-US" sz="1100" dirty="0"/>
          </a:p>
        </p:txBody>
      </p:sp>
      <p:sp>
        <p:nvSpPr>
          <p:cNvPr id="3" name="Text 1"/>
          <p:cNvSpPr/>
          <p:nvPr/>
        </p:nvSpPr>
        <p:spPr>
          <a:xfrm>
            <a:off x="457200" y="603504"/>
            <a:ext cx="11247120" cy="566928"/>
          </a:xfrm>
          <a:prstGeom prst="rect">
            <a:avLst/>
          </a:prstGeom>
          <a:noFill/>
          <a:ln/>
        </p:spPr>
        <p:txBody>
          <a:bodyPr wrap="square" lIns="0" tIns="0" rIns="0" bIns="0" rtlCol="0" anchor="ctr"/>
          <a:lstStyle/>
          <a:p>
            <a:pPr indent="0" marL="0">
              <a:buNone/>
            </a:pPr>
            <a:r>
              <a:rPr lang="en-US" sz="3000" b="1" dirty="0">
                <a:solidFill>
                  <a:srgbClr val="12233F"/>
                </a:solidFill>
                <a:latin typeface="Cambria" pitchFamily="34" charset="0"/>
                <a:ea typeface="Cambria" pitchFamily="34" charset="-122"/>
                <a:cs typeface="Cambria" pitchFamily="34" charset="-120"/>
              </a:rPr>
              <a:t>Participant lab: make the framework work</a:t>
            </a:r>
            <a:endParaRPr lang="en-US" sz="3000" dirty="0"/>
          </a:p>
        </p:txBody>
      </p:sp>
      <p:sp>
        <p:nvSpPr>
          <p:cNvPr id="4" name="Text 2"/>
          <p:cNvSpPr/>
          <p:nvPr/>
        </p:nvSpPr>
        <p:spPr>
          <a:xfrm>
            <a:off x="457200" y="1170432"/>
            <a:ext cx="11247120" cy="365760"/>
          </a:xfrm>
          <a:prstGeom prst="rect">
            <a:avLst/>
          </a:prstGeom>
          <a:noFill/>
          <a:ln/>
        </p:spPr>
        <p:txBody>
          <a:bodyPr wrap="square" lIns="0" tIns="0" rIns="0" bIns="0" rtlCol="0" anchor="ctr"/>
          <a:lstStyle/>
          <a:p>
            <a:pPr indent="0" marL="0">
              <a:buNone/>
            </a:pPr>
            <a:r>
              <a:rPr lang="en-US" sz="1400" i="1" dirty="0">
                <a:solidFill>
                  <a:srgbClr val="5B6B84"/>
                </a:solidFill>
                <a:latin typeface="Calibri" pitchFamily="34" charset="0"/>
                <a:ea typeface="Calibri" pitchFamily="34" charset="-122"/>
                <a:cs typeface="Calibri" pitchFamily="34" charset="-120"/>
              </a:rPr>
              <a:t>Experienced professionals should build a measurable test, not just a better prompt.</a:t>
            </a:r>
            <a:endParaRPr lang="en-US" sz="1400" dirty="0"/>
          </a:p>
        </p:txBody>
      </p:sp>
      <p:sp>
        <p:nvSpPr>
          <p:cNvPr id="5" name="Shape 3"/>
          <p:cNvSpPr/>
          <p:nvPr/>
        </p:nvSpPr>
        <p:spPr>
          <a:xfrm>
            <a:off x="457200" y="1828800"/>
            <a:ext cx="3605784" cy="1371600"/>
          </a:xfrm>
          <a:prstGeom prst="roundRect">
            <a:avLst>
              <a:gd name="adj" fmla="val 5333"/>
            </a:avLst>
          </a:prstGeom>
          <a:solidFill>
            <a:srgbClr val="FFFFFF"/>
          </a:solidFill>
          <a:ln w="12700">
            <a:solidFill>
              <a:srgbClr val="E2E8F0"/>
            </a:solidFill>
            <a:prstDash val="solid"/>
          </a:ln>
        </p:spPr>
      </p:sp>
      <p:sp>
        <p:nvSpPr>
          <p:cNvPr id="6" name="Shape 4"/>
          <p:cNvSpPr/>
          <p:nvPr/>
        </p:nvSpPr>
        <p:spPr>
          <a:xfrm>
            <a:off x="640080" y="2011680"/>
            <a:ext cx="365760" cy="365760"/>
          </a:xfrm>
          <a:prstGeom prst="ellipse">
            <a:avLst/>
          </a:prstGeom>
          <a:solidFill>
            <a:srgbClr val="0F8B8D"/>
          </a:solidFill>
          <a:ln/>
        </p:spPr>
      </p:sp>
      <p:sp>
        <p:nvSpPr>
          <p:cNvPr id="7" name="Text 5"/>
          <p:cNvSpPr/>
          <p:nvPr/>
        </p:nvSpPr>
        <p:spPr>
          <a:xfrm>
            <a:off x="640080" y="2011680"/>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T1</a:t>
            </a:r>
            <a:endParaRPr lang="en-US" sz="1150" dirty="0"/>
          </a:p>
        </p:txBody>
      </p:sp>
      <p:sp>
        <p:nvSpPr>
          <p:cNvPr id="8" name="Text 6"/>
          <p:cNvSpPr/>
          <p:nvPr/>
        </p:nvSpPr>
        <p:spPr>
          <a:xfrm>
            <a:off x="640080" y="2468880"/>
            <a:ext cx="3240024" cy="594360"/>
          </a:xfrm>
          <a:prstGeom prst="rect">
            <a:avLst/>
          </a:prstGeom>
          <a:noFill/>
          <a:ln/>
        </p:spPr>
        <p:txBody>
          <a:bodyPr wrap="square" lIns="0" tIns="0" rIns="0" bIns="0" rtlCol="0" anchor="t"/>
          <a:lstStyle/>
          <a:p>
            <a:pPr indent="0" marL="0">
              <a:buNone/>
            </a:pPr>
            <a:r>
              <a:rPr lang="en-US" sz="1130" dirty="0">
                <a:solidFill>
                  <a:srgbClr val="1B2A41"/>
                </a:solidFill>
                <a:latin typeface="Calibri" pitchFamily="34" charset="0"/>
                <a:ea typeface="Calibri" pitchFamily="34" charset="-122"/>
                <a:cs typeface="Calibri" pitchFamily="34" charset="-120"/>
              </a:rPr>
              <a:t>Create a full evaluation prompt with embedded complaint input and candidate response.</a:t>
            </a:r>
            <a:endParaRPr lang="en-US" sz="1130" dirty="0"/>
          </a:p>
        </p:txBody>
      </p:sp>
      <p:sp>
        <p:nvSpPr>
          <p:cNvPr id="9" name="Shape 7"/>
          <p:cNvSpPr/>
          <p:nvPr/>
        </p:nvSpPr>
        <p:spPr>
          <a:xfrm>
            <a:off x="4291584" y="1828800"/>
            <a:ext cx="3605784" cy="1371600"/>
          </a:xfrm>
          <a:prstGeom prst="roundRect">
            <a:avLst>
              <a:gd name="adj" fmla="val 5333"/>
            </a:avLst>
          </a:prstGeom>
          <a:solidFill>
            <a:srgbClr val="FFFFFF"/>
          </a:solidFill>
          <a:ln w="12700">
            <a:solidFill>
              <a:srgbClr val="E2E8F0"/>
            </a:solidFill>
            <a:prstDash val="solid"/>
          </a:ln>
        </p:spPr>
      </p:sp>
      <p:sp>
        <p:nvSpPr>
          <p:cNvPr id="10" name="Shape 8"/>
          <p:cNvSpPr/>
          <p:nvPr/>
        </p:nvSpPr>
        <p:spPr>
          <a:xfrm>
            <a:off x="4474464" y="2011680"/>
            <a:ext cx="365760" cy="365760"/>
          </a:xfrm>
          <a:prstGeom prst="ellipse">
            <a:avLst/>
          </a:prstGeom>
          <a:solidFill>
            <a:srgbClr val="0F8B8D"/>
          </a:solidFill>
          <a:ln/>
        </p:spPr>
      </p:sp>
      <p:sp>
        <p:nvSpPr>
          <p:cNvPr id="11" name="Text 9"/>
          <p:cNvSpPr/>
          <p:nvPr/>
        </p:nvSpPr>
        <p:spPr>
          <a:xfrm>
            <a:off x="4474464" y="2011680"/>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T2</a:t>
            </a:r>
            <a:endParaRPr lang="en-US" sz="1150" dirty="0"/>
          </a:p>
        </p:txBody>
      </p:sp>
      <p:sp>
        <p:nvSpPr>
          <p:cNvPr id="12" name="Text 10"/>
          <p:cNvSpPr/>
          <p:nvPr/>
        </p:nvSpPr>
        <p:spPr>
          <a:xfrm>
            <a:off x="4474464" y="2468880"/>
            <a:ext cx="3240024" cy="594360"/>
          </a:xfrm>
          <a:prstGeom prst="rect">
            <a:avLst/>
          </a:prstGeom>
          <a:noFill/>
          <a:ln/>
        </p:spPr>
        <p:txBody>
          <a:bodyPr wrap="square" lIns="0" tIns="0" rIns="0" bIns="0" rtlCol="0" anchor="t"/>
          <a:lstStyle/>
          <a:p>
            <a:pPr indent="0" marL="0">
              <a:buNone/>
            </a:pPr>
            <a:r>
              <a:rPr lang="en-US" sz="1130" dirty="0">
                <a:solidFill>
                  <a:srgbClr val="1B2A41"/>
                </a:solidFill>
                <a:latin typeface="Calibri" pitchFamily="34" charset="0"/>
                <a:ea typeface="Calibri" pitchFamily="34" charset="-122"/>
                <a:cs typeface="Calibri" pitchFamily="34" charset="-120"/>
              </a:rPr>
              <a:t>Score the candidate output using the 10 metrics and a pass gate.</a:t>
            </a:r>
            <a:endParaRPr lang="en-US" sz="1130" dirty="0"/>
          </a:p>
        </p:txBody>
      </p:sp>
      <p:sp>
        <p:nvSpPr>
          <p:cNvPr id="13" name="Shape 11"/>
          <p:cNvSpPr/>
          <p:nvPr/>
        </p:nvSpPr>
        <p:spPr>
          <a:xfrm>
            <a:off x="8125968" y="1828800"/>
            <a:ext cx="3605784" cy="1371600"/>
          </a:xfrm>
          <a:prstGeom prst="roundRect">
            <a:avLst>
              <a:gd name="adj" fmla="val 5333"/>
            </a:avLst>
          </a:prstGeom>
          <a:solidFill>
            <a:srgbClr val="FFFFFF"/>
          </a:solidFill>
          <a:ln w="12700">
            <a:solidFill>
              <a:srgbClr val="E2E8F0"/>
            </a:solidFill>
            <a:prstDash val="solid"/>
          </a:ln>
        </p:spPr>
      </p:sp>
      <p:sp>
        <p:nvSpPr>
          <p:cNvPr id="14" name="Shape 12"/>
          <p:cNvSpPr/>
          <p:nvPr/>
        </p:nvSpPr>
        <p:spPr>
          <a:xfrm>
            <a:off x="8308848" y="2011680"/>
            <a:ext cx="365760" cy="365760"/>
          </a:xfrm>
          <a:prstGeom prst="ellipse">
            <a:avLst/>
          </a:prstGeom>
          <a:solidFill>
            <a:srgbClr val="0F8B8D"/>
          </a:solidFill>
          <a:ln/>
        </p:spPr>
      </p:sp>
      <p:sp>
        <p:nvSpPr>
          <p:cNvPr id="15" name="Text 13"/>
          <p:cNvSpPr/>
          <p:nvPr/>
        </p:nvSpPr>
        <p:spPr>
          <a:xfrm>
            <a:off x="8308848" y="2011680"/>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T3</a:t>
            </a:r>
            <a:endParaRPr lang="en-US" sz="1150" dirty="0"/>
          </a:p>
        </p:txBody>
      </p:sp>
      <p:sp>
        <p:nvSpPr>
          <p:cNvPr id="16" name="Text 14"/>
          <p:cNvSpPr/>
          <p:nvPr/>
        </p:nvSpPr>
        <p:spPr>
          <a:xfrm>
            <a:off x="8308848" y="2468880"/>
            <a:ext cx="3240024" cy="594360"/>
          </a:xfrm>
          <a:prstGeom prst="rect">
            <a:avLst/>
          </a:prstGeom>
          <a:noFill/>
          <a:ln/>
        </p:spPr>
        <p:txBody>
          <a:bodyPr wrap="square" lIns="0" tIns="0" rIns="0" bIns="0" rtlCol="0" anchor="t"/>
          <a:lstStyle/>
          <a:p>
            <a:pPr indent="0" marL="0">
              <a:buNone/>
            </a:pPr>
            <a:r>
              <a:rPr lang="en-US" sz="1130" dirty="0">
                <a:solidFill>
                  <a:srgbClr val="1B2A41"/>
                </a:solidFill>
                <a:latin typeface="Calibri" pitchFamily="34" charset="0"/>
                <a:ea typeface="Calibri" pitchFamily="34" charset="-122"/>
                <a:cs typeface="Calibri" pitchFamily="34" charset="-120"/>
              </a:rPr>
              <a:t>Calculate hallucination rate and list unsupported claims.</a:t>
            </a:r>
            <a:endParaRPr lang="en-US" sz="1130" dirty="0"/>
          </a:p>
        </p:txBody>
      </p:sp>
      <p:sp>
        <p:nvSpPr>
          <p:cNvPr id="17" name="Shape 15"/>
          <p:cNvSpPr/>
          <p:nvPr/>
        </p:nvSpPr>
        <p:spPr>
          <a:xfrm>
            <a:off x="457200" y="3429000"/>
            <a:ext cx="3605784" cy="1371600"/>
          </a:xfrm>
          <a:prstGeom prst="roundRect">
            <a:avLst>
              <a:gd name="adj" fmla="val 5333"/>
            </a:avLst>
          </a:prstGeom>
          <a:solidFill>
            <a:srgbClr val="FFFFFF"/>
          </a:solidFill>
          <a:ln w="12700">
            <a:solidFill>
              <a:srgbClr val="E2E8F0"/>
            </a:solidFill>
            <a:prstDash val="solid"/>
          </a:ln>
        </p:spPr>
      </p:sp>
      <p:sp>
        <p:nvSpPr>
          <p:cNvPr id="18" name="Shape 16"/>
          <p:cNvSpPr/>
          <p:nvPr/>
        </p:nvSpPr>
        <p:spPr>
          <a:xfrm>
            <a:off x="640080" y="3611880"/>
            <a:ext cx="365760" cy="365760"/>
          </a:xfrm>
          <a:prstGeom prst="ellipse">
            <a:avLst/>
          </a:prstGeom>
          <a:solidFill>
            <a:srgbClr val="0F8B8D"/>
          </a:solidFill>
          <a:ln/>
        </p:spPr>
      </p:sp>
      <p:sp>
        <p:nvSpPr>
          <p:cNvPr id="19" name="Text 17"/>
          <p:cNvSpPr/>
          <p:nvPr/>
        </p:nvSpPr>
        <p:spPr>
          <a:xfrm>
            <a:off x="640080" y="3611880"/>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T4</a:t>
            </a:r>
            <a:endParaRPr lang="en-US" sz="1150" dirty="0"/>
          </a:p>
        </p:txBody>
      </p:sp>
      <p:sp>
        <p:nvSpPr>
          <p:cNvPr id="20" name="Text 18"/>
          <p:cNvSpPr/>
          <p:nvPr/>
        </p:nvSpPr>
        <p:spPr>
          <a:xfrm>
            <a:off x="640080" y="4069080"/>
            <a:ext cx="3240024" cy="594360"/>
          </a:xfrm>
          <a:prstGeom prst="rect">
            <a:avLst/>
          </a:prstGeom>
          <a:noFill/>
          <a:ln/>
        </p:spPr>
        <p:txBody>
          <a:bodyPr wrap="square" lIns="0" tIns="0" rIns="0" bIns="0" rtlCol="0" anchor="t"/>
          <a:lstStyle/>
          <a:p>
            <a:pPr indent="0" marL="0">
              <a:buNone/>
            </a:pPr>
            <a:r>
              <a:rPr lang="en-US" sz="1130" dirty="0">
                <a:solidFill>
                  <a:srgbClr val="1B2A41"/>
                </a:solidFill>
                <a:latin typeface="Calibri" pitchFamily="34" charset="0"/>
                <a:ea typeface="Calibri" pitchFamily="34" charset="-122"/>
                <a:cs typeface="Calibri" pitchFamily="34" charset="-120"/>
              </a:rPr>
              <a:t>Run the prompt 3 times and record consistency differences.</a:t>
            </a:r>
            <a:endParaRPr lang="en-US" sz="1130" dirty="0"/>
          </a:p>
        </p:txBody>
      </p:sp>
      <p:sp>
        <p:nvSpPr>
          <p:cNvPr id="21" name="Shape 19"/>
          <p:cNvSpPr/>
          <p:nvPr/>
        </p:nvSpPr>
        <p:spPr>
          <a:xfrm>
            <a:off x="4291584" y="3429000"/>
            <a:ext cx="3605784" cy="1371600"/>
          </a:xfrm>
          <a:prstGeom prst="roundRect">
            <a:avLst>
              <a:gd name="adj" fmla="val 5333"/>
            </a:avLst>
          </a:prstGeom>
          <a:solidFill>
            <a:srgbClr val="FFFFFF"/>
          </a:solidFill>
          <a:ln w="12700">
            <a:solidFill>
              <a:srgbClr val="E2E8F0"/>
            </a:solidFill>
            <a:prstDash val="solid"/>
          </a:ln>
        </p:spPr>
      </p:sp>
      <p:sp>
        <p:nvSpPr>
          <p:cNvPr id="22" name="Shape 20"/>
          <p:cNvSpPr/>
          <p:nvPr/>
        </p:nvSpPr>
        <p:spPr>
          <a:xfrm>
            <a:off x="4474464" y="3611880"/>
            <a:ext cx="365760" cy="365760"/>
          </a:xfrm>
          <a:prstGeom prst="ellipse">
            <a:avLst/>
          </a:prstGeom>
          <a:solidFill>
            <a:srgbClr val="0F8B8D"/>
          </a:solidFill>
          <a:ln/>
        </p:spPr>
      </p:sp>
      <p:sp>
        <p:nvSpPr>
          <p:cNvPr id="23" name="Text 21"/>
          <p:cNvSpPr/>
          <p:nvPr/>
        </p:nvSpPr>
        <p:spPr>
          <a:xfrm>
            <a:off x="4474464" y="3611880"/>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T5</a:t>
            </a:r>
            <a:endParaRPr lang="en-US" sz="1150" dirty="0"/>
          </a:p>
        </p:txBody>
      </p:sp>
      <p:sp>
        <p:nvSpPr>
          <p:cNvPr id="24" name="Text 22"/>
          <p:cNvSpPr/>
          <p:nvPr/>
        </p:nvSpPr>
        <p:spPr>
          <a:xfrm>
            <a:off x="4474464" y="4069080"/>
            <a:ext cx="3240024" cy="594360"/>
          </a:xfrm>
          <a:prstGeom prst="rect">
            <a:avLst/>
          </a:prstGeom>
          <a:noFill/>
          <a:ln/>
        </p:spPr>
        <p:txBody>
          <a:bodyPr wrap="square" lIns="0" tIns="0" rIns="0" bIns="0" rtlCol="0" anchor="t"/>
          <a:lstStyle/>
          <a:p>
            <a:pPr indent="0" marL="0">
              <a:buNone/>
            </a:pPr>
            <a:r>
              <a:rPr lang="en-US" sz="1130" dirty="0">
                <a:solidFill>
                  <a:srgbClr val="1B2A41"/>
                </a:solidFill>
                <a:latin typeface="Calibri" pitchFamily="34" charset="0"/>
                <a:ea typeface="Calibri" pitchFamily="34" charset="-122"/>
                <a:cs typeface="Calibri" pitchFamily="34" charset="-120"/>
              </a:rPr>
              <a:t>Revise the prompt to improve safety, grounding, and format compliance.</a:t>
            </a:r>
            <a:endParaRPr lang="en-US" sz="1130" dirty="0"/>
          </a:p>
        </p:txBody>
      </p:sp>
      <p:sp>
        <p:nvSpPr>
          <p:cNvPr id="25" name="Shape 23"/>
          <p:cNvSpPr/>
          <p:nvPr/>
        </p:nvSpPr>
        <p:spPr>
          <a:xfrm>
            <a:off x="8125968" y="3429000"/>
            <a:ext cx="3605784" cy="1371600"/>
          </a:xfrm>
          <a:prstGeom prst="roundRect">
            <a:avLst>
              <a:gd name="adj" fmla="val 5333"/>
            </a:avLst>
          </a:prstGeom>
          <a:solidFill>
            <a:srgbClr val="FFFFFF"/>
          </a:solidFill>
          <a:ln w="12700">
            <a:solidFill>
              <a:srgbClr val="E2E8F0"/>
            </a:solidFill>
            <a:prstDash val="solid"/>
          </a:ln>
        </p:spPr>
      </p:sp>
      <p:sp>
        <p:nvSpPr>
          <p:cNvPr id="26" name="Shape 24"/>
          <p:cNvSpPr/>
          <p:nvPr/>
        </p:nvSpPr>
        <p:spPr>
          <a:xfrm>
            <a:off x="8308848" y="3611880"/>
            <a:ext cx="365760" cy="365760"/>
          </a:xfrm>
          <a:prstGeom prst="ellipse">
            <a:avLst/>
          </a:prstGeom>
          <a:solidFill>
            <a:srgbClr val="0F8B8D"/>
          </a:solidFill>
          <a:ln/>
        </p:spPr>
      </p:sp>
      <p:sp>
        <p:nvSpPr>
          <p:cNvPr id="27" name="Text 25"/>
          <p:cNvSpPr/>
          <p:nvPr/>
        </p:nvSpPr>
        <p:spPr>
          <a:xfrm>
            <a:off x="8308848" y="3611880"/>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T6</a:t>
            </a:r>
            <a:endParaRPr lang="en-US" sz="1150" dirty="0"/>
          </a:p>
        </p:txBody>
      </p:sp>
      <p:sp>
        <p:nvSpPr>
          <p:cNvPr id="28" name="Text 26"/>
          <p:cNvSpPr/>
          <p:nvPr/>
        </p:nvSpPr>
        <p:spPr>
          <a:xfrm>
            <a:off x="8308848" y="4069080"/>
            <a:ext cx="3240024" cy="594360"/>
          </a:xfrm>
          <a:prstGeom prst="rect">
            <a:avLst/>
          </a:prstGeom>
          <a:noFill/>
          <a:ln/>
        </p:spPr>
        <p:txBody>
          <a:bodyPr wrap="square" lIns="0" tIns="0" rIns="0" bIns="0" rtlCol="0" anchor="t"/>
          <a:lstStyle/>
          <a:p>
            <a:pPr indent="0" marL="0">
              <a:buNone/>
            </a:pPr>
            <a:r>
              <a:rPr lang="en-US" sz="1130" dirty="0">
                <a:solidFill>
                  <a:srgbClr val="1B2A41"/>
                </a:solidFill>
                <a:latin typeface="Calibri" pitchFamily="34" charset="0"/>
                <a:ea typeface="Calibri" pitchFamily="34" charset="-122"/>
                <a:cs typeface="Calibri" pitchFamily="34" charset="-120"/>
              </a:rPr>
              <a:t>Compare Prompt V1 vs V2 using scorecard and recommendation.</a:t>
            </a:r>
            <a:endParaRPr lang="en-US" sz="1130" dirty="0"/>
          </a:p>
        </p:txBody>
      </p:sp>
      <p:sp>
        <p:nvSpPr>
          <p:cNvPr id="29" name="Shape 27"/>
          <p:cNvSpPr/>
          <p:nvPr/>
        </p:nvSpPr>
        <p:spPr>
          <a:xfrm>
            <a:off x="457200" y="5074920"/>
            <a:ext cx="11274552" cy="685800"/>
          </a:xfrm>
          <a:prstGeom prst="roundRect">
            <a:avLst>
              <a:gd name="adj" fmla="val 10667"/>
            </a:avLst>
          </a:prstGeom>
          <a:solidFill>
            <a:srgbClr val="12233F"/>
          </a:solidFill>
          <a:ln/>
        </p:spPr>
      </p:sp>
      <p:sp>
        <p:nvSpPr>
          <p:cNvPr id="30" name="Shape 28"/>
          <p:cNvSpPr/>
          <p:nvPr/>
        </p:nvSpPr>
        <p:spPr>
          <a:xfrm>
            <a:off x="658368" y="5193792"/>
            <a:ext cx="438912" cy="438912"/>
          </a:xfrm>
          <a:prstGeom prst="ellipse">
            <a:avLst/>
          </a:prstGeom>
          <a:solidFill>
            <a:srgbClr val="0F8B8D"/>
          </a:solidFill>
          <a:ln/>
        </p:spPr>
      </p:sp>
      <p:pic>
        <p:nvPicPr>
          <p:cNvPr id="31" name="Image 0" descr="/home/claude/deck/icons/trending.png">    </p:cNvPr>
          <p:cNvPicPr>
            <a:picLocks noChangeAspect="1"/>
          </p:cNvPicPr>
          <p:nvPr/>
        </p:nvPicPr>
        <p:blipFill>
          <a:blip r:embed="rId1"/>
          <a:stretch>
            <a:fillRect/>
          </a:stretch>
        </p:blipFill>
        <p:spPr>
          <a:xfrm>
            <a:off x="763707" y="5299131"/>
            <a:ext cx="228234" cy="228234"/>
          </a:xfrm>
          <a:prstGeom prst="rect">
            <a:avLst/>
          </a:prstGeom>
        </p:spPr>
      </p:pic>
      <p:sp>
        <p:nvSpPr>
          <p:cNvPr id="32" name="Text 29"/>
          <p:cNvSpPr/>
          <p:nvPr/>
        </p:nvSpPr>
        <p:spPr>
          <a:xfrm>
            <a:off x="1225296" y="5074920"/>
            <a:ext cx="10241280" cy="685800"/>
          </a:xfrm>
          <a:prstGeom prst="rect">
            <a:avLst/>
          </a:prstGeom>
          <a:noFill/>
          <a:ln/>
        </p:spPr>
        <p:txBody>
          <a:bodyPr wrap="square" lIns="0" tIns="0" rIns="0" bIns="0" rtlCol="0" anchor="ctr"/>
          <a:lstStyle/>
          <a:p>
            <a:pPr indent="0" marL="0">
              <a:buNone/>
            </a:pPr>
            <a:r>
              <a:rPr lang="en-US" sz="1250" b="1" dirty="0">
                <a:solidFill>
                  <a:srgbClr val="C9A227"/>
                </a:solidFill>
                <a:latin typeface="Calibri" pitchFamily="34" charset="0"/>
                <a:ea typeface="Calibri" pitchFamily="34" charset="-122"/>
                <a:cs typeface="Calibri" pitchFamily="34" charset="-120"/>
              </a:rPr>
              <a:t>Final deliverable:  </a:t>
            </a:r>
            <a:pPr indent="0" marL="0">
              <a:buNone/>
            </a:pPr>
            <a:r>
              <a:rPr lang="en-US" sz="1250" dirty="0">
                <a:solidFill>
                  <a:srgbClr val="F2F5FA"/>
                </a:solidFill>
                <a:latin typeface="Calibri" pitchFamily="34" charset="0"/>
                <a:ea typeface="Calibri" pitchFamily="34" charset="-122"/>
                <a:cs typeface="Calibri" pitchFamily="34" charset="-120"/>
              </a:rPr>
              <a:t>Evaluation rubric + test input + candidate output + scorecard + revised, safer prompt.</a:t>
            </a:r>
            <a:endParaRPr lang="en-US" sz="1250" dirty="0"/>
          </a:p>
        </p:txBody>
      </p:sp>
      <p:sp>
        <p:nvSpPr>
          <p:cNvPr id="33" name="Text 30"/>
          <p:cNvSpPr/>
          <p:nvPr/>
        </p:nvSpPr>
        <p:spPr>
          <a:xfrm>
            <a:off x="457200" y="6547104"/>
            <a:ext cx="8229600" cy="274320"/>
          </a:xfrm>
          <a:prstGeom prst="rect">
            <a:avLst/>
          </a:prstGeom>
          <a:noFill/>
          <a:ln/>
        </p:spPr>
        <p:txBody>
          <a:bodyPr wrap="square" lIns="0" tIns="0" rIns="0" bIns="0" rtlCol="0" anchor="ctr"/>
          <a:lstStyle/>
          <a:p>
            <a:pPr algn="l" indent="0" marL="0">
              <a:buNone/>
            </a:pPr>
            <a:r>
              <a:rPr lang="en-US" sz="850" dirty="0">
                <a:solidFill>
                  <a:srgbClr val="5B6B84"/>
                </a:solidFill>
                <a:latin typeface="Calibri" pitchFamily="34" charset="0"/>
                <a:ea typeface="Calibri" pitchFamily="34" charset="-122"/>
                <a:cs typeface="Calibri" pitchFamily="34" charset="-120"/>
              </a:rPr>
              <a:t>PROMPT EVALUATION FRAMEWORK  •  SYNCHRONY TRAINING SIMULATION</a:t>
            </a:r>
            <a:endParaRPr lang="en-US" sz="850" dirty="0"/>
          </a:p>
        </p:txBody>
      </p:sp>
      <p:sp>
        <p:nvSpPr>
          <p:cNvPr id="34" name="Text 31"/>
          <p:cNvSpPr/>
          <p:nvPr/>
        </p:nvSpPr>
        <p:spPr>
          <a:xfrm>
            <a:off x="11274552" y="6547104"/>
            <a:ext cx="457200" cy="274320"/>
          </a:xfrm>
          <a:prstGeom prst="rect">
            <a:avLst/>
          </a:prstGeom>
          <a:noFill/>
          <a:ln/>
        </p:spPr>
        <p:txBody>
          <a:bodyPr wrap="square" lIns="0" tIns="0" rIns="0" bIns="0" rtlCol="0" anchor="ctr"/>
          <a:lstStyle/>
          <a:p>
            <a:pPr algn="r" indent="0" marL="0">
              <a:buNone/>
            </a:pPr>
            <a:r>
              <a:rPr lang="en-US" sz="850" dirty="0">
                <a:solidFill>
                  <a:srgbClr val="5B6B84"/>
                </a:solidFill>
                <a:latin typeface="Calibri" pitchFamily="34" charset="0"/>
                <a:ea typeface="Calibri" pitchFamily="34" charset="-122"/>
                <a:cs typeface="Calibri" pitchFamily="34" charset="-120"/>
              </a:rPr>
              <a:t>13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2233F"/>
        </a:solidFill>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lIns="0" tIns="0" rIns="0" bIns="0" rtlCol="0" anchor="ctr"/>
          <a:lstStyle/>
          <a:p>
            <a:pPr indent="0" marL="0">
              <a:buNone/>
            </a:pPr>
            <a:r>
              <a:rPr lang="en-US" sz="1100" b="1" spc="150" kern="0" dirty="0">
                <a:solidFill>
                  <a:srgbClr val="0F8B8D"/>
                </a:solidFill>
                <a:latin typeface="Calibri" pitchFamily="34" charset="0"/>
                <a:ea typeface="Calibri" pitchFamily="34" charset="-122"/>
                <a:cs typeface="Calibri" pitchFamily="34" charset="-120"/>
              </a:rPr>
              <a:t>APPENDIX</a:t>
            </a:r>
            <a:endParaRPr lang="en-US" sz="1100" dirty="0"/>
          </a:p>
        </p:txBody>
      </p:sp>
      <p:sp>
        <p:nvSpPr>
          <p:cNvPr id="3" name="Text 1"/>
          <p:cNvSpPr/>
          <p:nvPr/>
        </p:nvSpPr>
        <p:spPr>
          <a:xfrm>
            <a:off x="640080" y="731520"/>
            <a:ext cx="1088136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Complete copy-paste evaluation prompt</a:t>
            </a:r>
            <a:endParaRPr lang="en-US" sz="2800" dirty="0"/>
          </a:p>
        </p:txBody>
      </p:sp>
      <p:sp>
        <p:nvSpPr>
          <p:cNvPr id="4" name="Text 2"/>
          <p:cNvSpPr/>
          <p:nvPr/>
        </p:nvSpPr>
        <p:spPr>
          <a:xfrm>
            <a:off x="640080" y="1280160"/>
            <a:ext cx="10881360" cy="365760"/>
          </a:xfrm>
          <a:prstGeom prst="rect">
            <a:avLst/>
          </a:prstGeom>
          <a:noFill/>
          <a:ln/>
        </p:spPr>
        <p:txBody>
          <a:bodyPr wrap="square" lIns="0" tIns="0" rIns="0" bIns="0" rtlCol="0" anchor="ctr"/>
          <a:lstStyle/>
          <a:p>
            <a:pPr indent="0" marL="0">
              <a:buNone/>
            </a:pPr>
            <a:r>
              <a:rPr lang="en-US" sz="1400" i="1" dirty="0">
                <a:solidFill>
                  <a:srgbClr val="CADCFC"/>
                </a:solidFill>
                <a:latin typeface="Calibri" pitchFamily="34" charset="0"/>
                <a:ea typeface="Calibri" pitchFamily="34" charset="-122"/>
                <a:cs typeface="Calibri" pitchFamily="34" charset="-120"/>
              </a:rPr>
              <a:t>The PDF workbook contains the full prompt with full input and full candidate output.</a:t>
            </a:r>
            <a:endParaRPr lang="en-US" sz="1400" dirty="0"/>
          </a:p>
        </p:txBody>
      </p:sp>
      <p:sp>
        <p:nvSpPr>
          <p:cNvPr id="5" name="Shape 3"/>
          <p:cNvSpPr/>
          <p:nvPr/>
        </p:nvSpPr>
        <p:spPr>
          <a:xfrm>
            <a:off x="640080" y="1874520"/>
            <a:ext cx="10881360" cy="548640"/>
          </a:xfrm>
          <a:prstGeom prst="roundRect">
            <a:avLst>
              <a:gd name="adj" fmla="val 11667"/>
            </a:avLst>
          </a:prstGeom>
          <a:solidFill>
            <a:srgbClr val="18305A"/>
          </a:solidFill>
          <a:ln w="9525">
            <a:solidFill>
              <a:srgbClr val="2A466F"/>
            </a:solidFill>
            <a:prstDash val="solid"/>
          </a:ln>
        </p:spPr>
      </p:sp>
      <p:sp>
        <p:nvSpPr>
          <p:cNvPr id="6" name="Shape 4"/>
          <p:cNvSpPr/>
          <p:nvPr/>
        </p:nvSpPr>
        <p:spPr>
          <a:xfrm>
            <a:off x="841248" y="1975104"/>
            <a:ext cx="347472" cy="347472"/>
          </a:xfrm>
          <a:prstGeom prst="ellipse">
            <a:avLst/>
          </a:prstGeom>
          <a:solidFill>
            <a:srgbClr val="0F8B8D"/>
          </a:solidFill>
          <a:ln/>
        </p:spPr>
      </p:sp>
      <p:sp>
        <p:nvSpPr>
          <p:cNvPr id="7" name="Text 5"/>
          <p:cNvSpPr/>
          <p:nvPr/>
        </p:nvSpPr>
        <p:spPr>
          <a:xfrm>
            <a:off x="841248" y="197510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371600" y="1874520"/>
            <a:ext cx="1965960" cy="548640"/>
          </a:xfrm>
          <a:prstGeom prst="rect">
            <a:avLst/>
          </a:prstGeom>
          <a:noFill/>
          <a:ln/>
        </p:spPr>
        <p:txBody>
          <a:bodyPr wrap="square" lIns="0" tIns="0" rIns="0" bIns="0" rtlCol="0" anchor="ctr"/>
          <a:lstStyle/>
          <a:p>
            <a:pPr indent="0" marL="0">
              <a:buNone/>
            </a:pPr>
            <a:r>
              <a:rPr lang="en-US" sz="1300" b="1" dirty="0">
                <a:solidFill>
                  <a:srgbClr val="C9A227"/>
                </a:solidFill>
                <a:latin typeface="Calibri" pitchFamily="34" charset="0"/>
                <a:ea typeface="Calibri" pitchFamily="34" charset="-122"/>
                <a:cs typeface="Calibri" pitchFamily="34" charset="-120"/>
              </a:rPr>
              <a:t>Role:</a:t>
            </a:r>
            <a:endParaRPr lang="en-US" sz="1300" dirty="0"/>
          </a:p>
        </p:txBody>
      </p:sp>
      <p:sp>
        <p:nvSpPr>
          <p:cNvPr id="9" name="Text 7"/>
          <p:cNvSpPr/>
          <p:nvPr/>
        </p:nvSpPr>
        <p:spPr>
          <a:xfrm>
            <a:off x="3337560" y="1874520"/>
            <a:ext cx="8001000" cy="548640"/>
          </a:xfrm>
          <a:prstGeom prst="rect">
            <a:avLst/>
          </a:prstGeom>
          <a:noFill/>
          <a:ln/>
        </p:spPr>
        <p:txBody>
          <a:bodyPr wrap="square" lIns="0" tIns="0" rIns="0" bIns="0" rtlCol="0" anchor="ctr"/>
          <a:lstStyle/>
          <a:p>
            <a:pPr indent="0" marL="0">
              <a:buNone/>
            </a:pPr>
            <a:r>
              <a:rPr lang="en-US" sz="1250" dirty="0">
                <a:solidFill>
                  <a:srgbClr val="F2F5FA"/>
                </a:solidFill>
                <a:latin typeface="Calibri" pitchFamily="34" charset="0"/>
                <a:ea typeface="Calibri" pitchFamily="34" charset="-122"/>
                <a:cs typeface="Calibri" pitchFamily="34" charset="-120"/>
              </a:rPr>
              <a:t>Strict quality reviewer</a:t>
            </a:r>
            <a:endParaRPr lang="en-US" sz="1250" dirty="0"/>
          </a:p>
        </p:txBody>
      </p:sp>
      <p:sp>
        <p:nvSpPr>
          <p:cNvPr id="10" name="Shape 8"/>
          <p:cNvSpPr/>
          <p:nvPr/>
        </p:nvSpPr>
        <p:spPr>
          <a:xfrm>
            <a:off x="640080" y="2569464"/>
            <a:ext cx="10881360" cy="548640"/>
          </a:xfrm>
          <a:prstGeom prst="roundRect">
            <a:avLst>
              <a:gd name="adj" fmla="val 11667"/>
            </a:avLst>
          </a:prstGeom>
          <a:solidFill>
            <a:srgbClr val="18305A"/>
          </a:solidFill>
          <a:ln w="9525">
            <a:solidFill>
              <a:srgbClr val="2A466F"/>
            </a:solidFill>
            <a:prstDash val="solid"/>
          </a:ln>
        </p:spPr>
      </p:sp>
      <p:sp>
        <p:nvSpPr>
          <p:cNvPr id="11" name="Shape 9"/>
          <p:cNvSpPr/>
          <p:nvPr/>
        </p:nvSpPr>
        <p:spPr>
          <a:xfrm>
            <a:off x="841248" y="2670048"/>
            <a:ext cx="347472" cy="347472"/>
          </a:xfrm>
          <a:prstGeom prst="ellipse">
            <a:avLst/>
          </a:prstGeom>
          <a:solidFill>
            <a:srgbClr val="0F8B8D"/>
          </a:solidFill>
          <a:ln/>
        </p:spPr>
      </p:sp>
      <p:sp>
        <p:nvSpPr>
          <p:cNvPr id="12" name="Text 10"/>
          <p:cNvSpPr/>
          <p:nvPr/>
        </p:nvSpPr>
        <p:spPr>
          <a:xfrm>
            <a:off x="841248" y="267004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1371600" y="2569464"/>
            <a:ext cx="1965960" cy="548640"/>
          </a:xfrm>
          <a:prstGeom prst="rect">
            <a:avLst/>
          </a:prstGeom>
          <a:noFill/>
          <a:ln/>
        </p:spPr>
        <p:txBody>
          <a:bodyPr wrap="square" lIns="0" tIns="0" rIns="0" bIns="0" rtlCol="0" anchor="ctr"/>
          <a:lstStyle/>
          <a:p>
            <a:pPr indent="0" marL="0">
              <a:buNone/>
            </a:pPr>
            <a:r>
              <a:rPr lang="en-US" sz="1300" b="1" dirty="0">
                <a:solidFill>
                  <a:srgbClr val="C9A227"/>
                </a:solidFill>
                <a:latin typeface="Calibri" pitchFamily="34" charset="0"/>
                <a:ea typeface="Calibri" pitchFamily="34" charset="-122"/>
                <a:cs typeface="Calibri" pitchFamily="34" charset="-120"/>
              </a:rPr>
              <a:t>Evidence:</a:t>
            </a:r>
            <a:endParaRPr lang="en-US" sz="1300" dirty="0"/>
          </a:p>
        </p:txBody>
      </p:sp>
      <p:sp>
        <p:nvSpPr>
          <p:cNvPr id="14" name="Text 12"/>
          <p:cNvSpPr/>
          <p:nvPr/>
        </p:nvSpPr>
        <p:spPr>
          <a:xfrm>
            <a:off x="3337560" y="2569464"/>
            <a:ext cx="8001000" cy="548640"/>
          </a:xfrm>
          <a:prstGeom prst="rect">
            <a:avLst/>
          </a:prstGeom>
          <a:noFill/>
          <a:ln/>
        </p:spPr>
        <p:txBody>
          <a:bodyPr wrap="square" lIns="0" tIns="0" rIns="0" bIns="0" rtlCol="0" anchor="ctr"/>
          <a:lstStyle/>
          <a:p>
            <a:pPr indent="0" marL="0">
              <a:buNone/>
            </a:pPr>
            <a:r>
              <a:rPr lang="en-US" sz="1250" dirty="0">
                <a:solidFill>
                  <a:srgbClr val="F2F5FA"/>
                </a:solidFill>
                <a:latin typeface="Calibri" pitchFamily="34" charset="0"/>
                <a:ea typeface="Calibri" pitchFamily="34" charset="-122"/>
                <a:cs typeface="Calibri" pitchFamily="34" charset="-120"/>
              </a:rPr>
              <a:t>Verified complaint facts and case notes</a:t>
            </a:r>
            <a:endParaRPr lang="en-US" sz="1250" dirty="0"/>
          </a:p>
        </p:txBody>
      </p:sp>
      <p:sp>
        <p:nvSpPr>
          <p:cNvPr id="15" name="Shape 13"/>
          <p:cNvSpPr/>
          <p:nvPr/>
        </p:nvSpPr>
        <p:spPr>
          <a:xfrm>
            <a:off x="640080" y="3264408"/>
            <a:ext cx="10881360" cy="548640"/>
          </a:xfrm>
          <a:prstGeom prst="roundRect">
            <a:avLst>
              <a:gd name="adj" fmla="val 11667"/>
            </a:avLst>
          </a:prstGeom>
          <a:solidFill>
            <a:srgbClr val="18305A"/>
          </a:solidFill>
          <a:ln w="9525">
            <a:solidFill>
              <a:srgbClr val="2A466F"/>
            </a:solidFill>
            <a:prstDash val="solid"/>
          </a:ln>
        </p:spPr>
      </p:sp>
      <p:sp>
        <p:nvSpPr>
          <p:cNvPr id="16" name="Shape 14"/>
          <p:cNvSpPr/>
          <p:nvPr/>
        </p:nvSpPr>
        <p:spPr>
          <a:xfrm>
            <a:off x="841248" y="3364992"/>
            <a:ext cx="347472" cy="347472"/>
          </a:xfrm>
          <a:prstGeom prst="ellipse">
            <a:avLst/>
          </a:prstGeom>
          <a:solidFill>
            <a:srgbClr val="0F8B8D"/>
          </a:solidFill>
          <a:ln/>
        </p:spPr>
      </p:sp>
      <p:sp>
        <p:nvSpPr>
          <p:cNvPr id="17" name="Text 15"/>
          <p:cNvSpPr/>
          <p:nvPr/>
        </p:nvSpPr>
        <p:spPr>
          <a:xfrm>
            <a:off x="841248" y="336499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1371600" y="3264408"/>
            <a:ext cx="1965960" cy="548640"/>
          </a:xfrm>
          <a:prstGeom prst="rect">
            <a:avLst/>
          </a:prstGeom>
          <a:noFill/>
          <a:ln/>
        </p:spPr>
        <p:txBody>
          <a:bodyPr wrap="square" lIns="0" tIns="0" rIns="0" bIns="0" rtlCol="0" anchor="ctr"/>
          <a:lstStyle/>
          <a:p>
            <a:pPr indent="0" marL="0">
              <a:buNone/>
            </a:pPr>
            <a:r>
              <a:rPr lang="en-US" sz="1300" b="1" dirty="0">
                <a:solidFill>
                  <a:srgbClr val="C9A227"/>
                </a:solidFill>
                <a:latin typeface="Calibri" pitchFamily="34" charset="0"/>
                <a:ea typeface="Calibri" pitchFamily="34" charset="-122"/>
                <a:cs typeface="Calibri" pitchFamily="34" charset="-120"/>
              </a:rPr>
              <a:t>Candidate output:</a:t>
            </a:r>
            <a:endParaRPr lang="en-US" sz="1300" dirty="0"/>
          </a:p>
        </p:txBody>
      </p:sp>
      <p:sp>
        <p:nvSpPr>
          <p:cNvPr id="19" name="Text 17"/>
          <p:cNvSpPr/>
          <p:nvPr/>
        </p:nvSpPr>
        <p:spPr>
          <a:xfrm>
            <a:off x="3337560" y="3264408"/>
            <a:ext cx="8001000" cy="548640"/>
          </a:xfrm>
          <a:prstGeom prst="rect">
            <a:avLst/>
          </a:prstGeom>
          <a:noFill/>
          <a:ln/>
        </p:spPr>
        <p:txBody>
          <a:bodyPr wrap="square" lIns="0" tIns="0" rIns="0" bIns="0" rtlCol="0" anchor="ctr"/>
          <a:lstStyle/>
          <a:p>
            <a:pPr indent="0" marL="0">
              <a:buNone/>
            </a:pPr>
            <a:r>
              <a:rPr lang="en-US" sz="1250" dirty="0">
                <a:solidFill>
                  <a:srgbClr val="F2F5FA"/>
                </a:solidFill>
                <a:latin typeface="Calibri" pitchFamily="34" charset="0"/>
                <a:ea typeface="Calibri" pitchFamily="34" charset="-122"/>
                <a:cs typeface="Calibri" pitchFamily="34" charset="-120"/>
              </a:rPr>
              <a:t>Response to evaluate</a:t>
            </a:r>
            <a:endParaRPr lang="en-US" sz="1250" dirty="0"/>
          </a:p>
        </p:txBody>
      </p:sp>
      <p:sp>
        <p:nvSpPr>
          <p:cNvPr id="20" name="Shape 18"/>
          <p:cNvSpPr/>
          <p:nvPr/>
        </p:nvSpPr>
        <p:spPr>
          <a:xfrm>
            <a:off x="640080" y="3959352"/>
            <a:ext cx="10881360" cy="658368"/>
          </a:xfrm>
          <a:prstGeom prst="roundRect">
            <a:avLst>
              <a:gd name="adj" fmla="val 9722"/>
            </a:avLst>
          </a:prstGeom>
          <a:solidFill>
            <a:srgbClr val="18305A"/>
          </a:solidFill>
          <a:ln w="9525">
            <a:solidFill>
              <a:srgbClr val="2A466F"/>
            </a:solidFill>
            <a:prstDash val="solid"/>
          </a:ln>
        </p:spPr>
      </p:sp>
      <p:sp>
        <p:nvSpPr>
          <p:cNvPr id="21" name="Shape 19"/>
          <p:cNvSpPr/>
          <p:nvPr/>
        </p:nvSpPr>
        <p:spPr>
          <a:xfrm>
            <a:off x="841248" y="4114800"/>
            <a:ext cx="347472" cy="347472"/>
          </a:xfrm>
          <a:prstGeom prst="ellipse">
            <a:avLst/>
          </a:prstGeom>
          <a:solidFill>
            <a:srgbClr val="0F8B8D"/>
          </a:solidFill>
          <a:ln/>
        </p:spPr>
      </p:sp>
      <p:sp>
        <p:nvSpPr>
          <p:cNvPr id="22" name="Text 20"/>
          <p:cNvSpPr/>
          <p:nvPr/>
        </p:nvSpPr>
        <p:spPr>
          <a:xfrm>
            <a:off x="841248" y="41148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p:nvPr/>
        </p:nvSpPr>
        <p:spPr>
          <a:xfrm>
            <a:off x="1371600" y="3959352"/>
            <a:ext cx="1965960" cy="658368"/>
          </a:xfrm>
          <a:prstGeom prst="rect">
            <a:avLst/>
          </a:prstGeom>
          <a:noFill/>
          <a:ln/>
        </p:spPr>
        <p:txBody>
          <a:bodyPr wrap="square" lIns="0" tIns="0" rIns="0" bIns="0" rtlCol="0" anchor="ctr"/>
          <a:lstStyle/>
          <a:p>
            <a:pPr indent="0" marL="0">
              <a:buNone/>
            </a:pPr>
            <a:r>
              <a:rPr lang="en-US" sz="1300" b="1" dirty="0">
                <a:solidFill>
                  <a:srgbClr val="C9A227"/>
                </a:solidFill>
                <a:latin typeface="Calibri" pitchFamily="34" charset="0"/>
                <a:ea typeface="Calibri" pitchFamily="34" charset="-122"/>
                <a:cs typeface="Calibri" pitchFamily="34" charset="-120"/>
              </a:rPr>
              <a:t>Metrics:</a:t>
            </a:r>
            <a:endParaRPr lang="en-US" sz="1300" dirty="0"/>
          </a:p>
        </p:txBody>
      </p:sp>
      <p:sp>
        <p:nvSpPr>
          <p:cNvPr id="24" name="Text 22"/>
          <p:cNvSpPr/>
          <p:nvPr/>
        </p:nvSpPr>
        <p:spPr>
          <a:xfrm>
            <a:off x="3337560" y="3959352"/>
            <a:ext cx="8001000" cy="658368"/>
          </a:xfrm>
          <a:prstGeom prst="rect">
            <a:avLst/>
          </a:prstGeom>
          <a:noFill/>
          <a:ln/>
        </p:spPr>
        <p:txBody>
          <a:bodyPr wrap="square" lIns="0" tIns="0" rIns="0" bIns="0" rtlCol="0" anchor="ctr"/>
          <a:lstStyle/>
          <a:p>
            <a:pPr indent="0" marL="0">
              <a:buNone/>
            </a:pPr>
            <a:r>
              <a:rPr lang="en-US" sz="1250" dirty="0">
                <a:solidFill>
                  <a:srgbClr val="F2F5FA"/>
                </a:solidFill>
                <a:latin typeface="Calibri" pitchFamily="34" charset="0"/>
                <a:ea typeface="Calibri" pitchFamily="34" charset="-122"/>
                <a:cs typeface="Calibri" pitchFamily="34" charset="-120"/>
              </a:rPr>
              <a:t>Accuracy, relevance, completeness, groundedness, consistency, format, conciseness, tone, safety, hallucination rate</a:t>
            </a:r>
            <a:endParaRPr lang="en-US" sz="1250" dirty="0"/>
          </a:p>
        </p:txBody>
      </p:sp>
      <p:sp>
        <p:nvSpPr>
          <p:cNvPr id="25" name="Shape 23"/>
          <p:cNvSpPr/>
          <p:nvPr/>
        </p:nvSpPr>
        <p:spPr>
          <a:xfrm>
            <a:off x="640080" y="4764024"/>
            <a:ext cx="10881360" cy="548640"/>
          </a:xfrm>
          <a:prstGeom prst="roundRect">
            <a:avLst>
              <a:gd name="adj" fmla="val 11667"/>
            </a:avLst>
          </a:prstGeom>
          <a:solidFill>
            <a:srgbClr val="18305A"/>
          </a:solidFill>
          <a:ln w="9525">
            <a:solidFill>
              <a:srgbClr val="2A466F"/>
            </a:solidFill>
            <a:prstDash val="solid"/>
          </a:ln>
        </p:spPr>
      </p:sp>
      <p:sp>
        <p:nvSpPr>
          <p:cNvPr id="26" name="Shape 24"/>
          <p:cNvSpPr/>
          <p:nvPr/>
        </p:nvSpPr>
        <p:spPr>
          <a:xfrm>
            <a:off x="841248" y="4864608"/>
            <a:ext cx="347472" cy="347472"/>
          </a:xfrm>
          <a:prstGeom prst="ellipse">
            <a:avLst/>
          </a:prstGeom>
          <a:solidFill>
            <a:srgbClr val="0F8B8D"/>
          </a:solidFill>
          <a:ln/>
        </p:spPr>
      </p:sp>
      <p:sp>
        <p:nvSpPr>
          <p:cNvPr id="27" name="Text 25"/>
          <p:cNvSpPr/>
          <p:nvPr/>
        </p:nvSpPr>
        <p:spPr>
          <a:xfrm>
            <a:off x="841248" y="486460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6"/>
          <p:cNvSpPr/>
          <p:nvPr/>
        </p:nvSpPr>
        <p:spPr>
          <a:xfrm>
            <a:off x="1371600" y="4764024"/>
            <a:ext cx="1965960" cy="548640"/>
          </a:xfrm>
          <a:prstGeom prst="rect">
            <a:avLst/>
          </a:prstGeom>
          <a:noFill/>
          <a:ln/>
        </p:spPr>
        <p:txBody>
          <a:bodyPr wrap="square" lIns="0" tIns="0" rIns="0" bIns="0" rtlCol="0" anchor="ctr"/>
          <a:lstStyle/>
          <a:p>
            <a:pPr indent="0" marL="0">
              <a:buNone/>
            </a:pPr>
            <a:r>
              <a:rPr lang="en-US" sz="1300" b="1" dirty="0">
                <a:solidFill>
                  <a:srgbClr val="C9A227"/>
                </a:solidFill>
                <a:latin typeface="Calibri" pitchFamily="34" charset="0"/>
                <a:ea typeface="Calibri" pitchFamily="34" charset="-122"/>
                <a:cs typeface="Calibri" pitchFamily="34" charset="-120"/>
              </a:rPr>
              <a:t>Return:</a:t>
            </a:r>
            <a:endParaRPr lang="en-US" sz="1300" dirty="0"/>
          </a:p>
        </p:txBody>
      </p:sp>
      <p:sp>
        <p:nvSpPr>
          <p:cNvPr id="29" name="Text 27"/>
          <p:cNvSpPr/>
          <p:nvPr/>
        </p:nvSpPr>
        <p:spPr>
          <a:xfrm>
            <a:off x="3337560" y="4764024"/>
            <a:ext cx="8001000" cy="548640"/>
          </a:xfrm>
          <a:prstGeom prst="rect">
            <a:avLst/>
          </a:prstGeom>
          <a:noFill/>
          <a:ln/>
        </p:spPr>
        <p:txBody>
          <a:bodyPr wrap="square" lIns="0" tIns="0" rIns="0" bIns="0" rtlCol="0" anchor="ctr"/>
          <a:lstStyle/>
          <a:p>
            <a:pPr indent="0" marL="0">
              <a:buNone/>
            </a:pPr>
            <a:r>
              <a:rPr lang="en-US" sz="1250" dirty="0">
                <a:solidFill>
                  <a:srgbClr val="F2F5FA"/>
                </a:solidFill>
                <a:latin typeface="Calibri" pitchFamily="34" charset="0"/>
                <a:ea typeface="Calibri" pitchFamily="34" charset="-122"/>
                <a:cs typeface="Calibri" pitchFamily="34" charset="-120"/>
              </a:rPr>
              <a:t>Scores, issues, hallucination calculation, pass / revise / reject, improved response</a:t>
            </a:r>
            <a:endParaRPr lang="en-US" sz="1250" dirty="0"/>
          </a:p>
        </p:txBody>
      </p:sp>
      <p:sp>
        <p:nvSpPr>
          <p:cNvPr id="30" name="Shape 28"/>
          <p:cNvSpPr/>
          <p:nvPr/>
        </p:nvSpPr>
        <p:spPr>
          <a:xfrm>
            <a:off x="640080" y="5596128"/>
            <a:ext cx="10881360" cy="777240"/>
          </a:xfrm>
          <a:prstGeom prst="roundRect">
            <a:avLst>
              <a:gd name="adj" fmla="val 9412"/>
            </a:avLst>
          </a:prstGeom>
          <a:solidFill>
            <a:srgbClr val="0E1D36"/>
          </a:solidFill>
          <a:ln w="12700">
            <a:solidFill>
              <a:srgbClr val="C9A227"/>
            </a:solidFill>
            <a:prstDash val="solid"/>
          </a:ln>
        </p:spPr>
      </p:sp>
      <p:sp>
        <p:nvSpPr>
          <p:cNvPr id="31" name="Shape 29"/>
          <p:cNvSpPr/>
          <p:nvPr/>
        </p:nvSpPr>
        <p:spPr>
          <a:xfrm>
            <a:off x="859536" y="5760720"/>
            <a:ext cx="438912" cy="438912"/>
          </a:xfrm>
          <a:prstGeom prst="ellipse">
            <a:avLst/>
          </a:prstGeom>
          <a:solidFill>
            <a:srgbClr val="C9A227"/>
          </a:solidFill>
          <a:ln/>
        </p:spPr>
      </p:sp>
      <p:pic>
        <p:nvPicPr>
          <p:cNvPr id="32" name="Image 0" descr="/home/claude/deck/icons/filetext.png">    </p:cNvPr>
          <p:cNvPicPr>
            <a:picLocks noChangeAspect="1"/>
          </p:cNvPicPr>
          <p:nvPr/>
        </p:nvPicPr>
        <p:blipFill>
          <a:blip r:embed="rId1"/>
          <a:stretch>
            <a:fillRect/>
          </a:stretch>
        </p:blipFill>
        <p:spPr>
          <a:xfrm>
            <a:off x="964875" y="5866059"/>
            <a:ext cx="228234" cy="228234"/>
          </a:xfrm>
          <a:prstGeom prst="rect">
            <a:avLst/>
          </a:prstGeom>
        </p:spPr>
      </p:pic>
      <p:sp>
        <p:nvSpPr>
          <p:cNvPr id="33" name="Text 30"/>
          <p:cNvSpPr/>
          <p:nvPr/>
        </p:nvSpPr>
        <p:spPr>
          <a:xfrm>
            <a:off x="1444752" y="5596128"/>
            <a:ext cx="9784080" cy="7772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Copy the full ready-to-run prompt from the PDF workbook appendix.</a:t>
            </a:r>
            <a:endParaRPr lang="en-US" sz="1350" dirty="0"/>
          </a:p>
        </p:txBody>
      </p:sp>
      <p:sp>
        <p:nvSpPr>
          <p:cNvPr id="34" name="Text 31"/>
          <p:cNvSpPr/>
          <p:nvPr/>
        </p:nvSpPr>
        <p:spPr>
          <a:xfrm>
            <a:off x="640080" y="6547104"/>
            <a:ext cx="8229600" cy="274320"/>
          </a:xfrm>
          <a:prstGeom prst="rect">
            <a:avLst/>
          </a:prstGeom>
          <a:noFill/>
          <a:ln/>
        </p:spPr>
        <p:txBody>
          <a:bodyPr wrap="square" lIns="0" tIns="0" rIns="0" bIns="0" rtlCol="0" anchor="ctr"/>
          <a:lstStyle/>
          <a:p>
            <a:pPr algn="l" indent="0" marL="0">
              <a:buNone/>
            </a:pPr>
            <a:r>
              <a:rPr lang="en-US" sz="850" dirty="0">
                <a:solidFill>
                  <a:srgbClr val="6E86AC"/>
                </a:solidFill>
                <a:latin typeface="Calibri" pitchFamily="34" charset="0"/>
                <a:ea typeface="Calibri" pitchFamily="34" charset="-122"/>
                <a:cs typeface="Calibri" pitchFamily="34" charset="-120"/>
              </a:rPr>
              <a:t>PROMPT EVALUATION FRAMEWORK  •  SYNCHRONY TRAINING SIMULATION</a:t>
            </a:r>
            <a:endParaRPr lang="en-US" sz="850" dirty="0"/>
          </a:p>
        </p:txBody>
      </p:sp>
      <p:sp>
        <p:nvSpPr>
          <p:cNvPr id="35" name="Text 32"/>
          <p:cNvSpPr/>
          <p:nvPr/>
        </p:nvSpPr>
        <p:spPr>
          <a:xfrm>
            <a:off x="11274552" y="6547104"/>
            <a:ext cx="457200" cy="274320"/>
          </a:xfrm>
          <a:prstGeom prst="rect">
            <a:avLst/>
          </a:prstGeom>
          <a:noFill/>
          <a:ln/>
        </p:spPr>
        <p:txBody>
          <a:bodyPr wrap="square" lIns="0" tIns="0" rIns="0" bIns="0" rtlCol="0" anchor="ctr"/>
          <a:lstStyle/>
          <a:p>
            <a:pPr algn="r" indent="0" marL="0">
              <a:buNone/>
            </a:pPr>
            <a:r>
              <a:rPr lang="en-US" sz="850" dirty="0">
                <a:solidFill>
                  <a:srgbClr val="6E86AC"/>
                </a:solidFill>
                <a:latin typeface="Calibri" pitchFamily="34" charset="0"/>
                <a:ea typeface="Calibri" pitchFamily="34" charset="-122"/>
                <a:cs typeface="Calibri" pitchFamily="34" charset="-120"/>
              </a:rPr>
              <a:t>14</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2026-07-14T12:22:54Z</dcterms:created>
  <dcterms:modified xsi:type="dcterms:W3CDTF">2026-07-14T12:22:54Z</dcterms:modified>
</cp:coreProperties>
</file>