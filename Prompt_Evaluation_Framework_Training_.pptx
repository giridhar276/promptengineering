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621792"/>
            <a:ext cx="6583680" cy="594360"/>
          </a:xfrm>
          <a:prstGeom prst="rect">
            <a:avLst/>
          </a:prstGeom>
          <a:noFill/>
          <a:ln/>
        </p:spPr>
        <p:txBody>
          <a:bodyPr wrap="square" lIns="0" tIns="0" rIns="0" bIns="0" rtlCol="0" anchor="ctr">
            <a:normAutofit/>
          </a:bodyPr>
          <a:lstStyle/>
          <a:p>
            <a:pPr indent="0" marL="0">
              <a:buNone/>
            </a:pPr>
            <a:r>
              <a:rPr lang="en-US" sz="3200" b="1" dirty="0">
                <a:solidFill>
                  <a:srgbClr val="17324D"/>
                </a:solidFill>
              </a:rPr>
              <a:t>Prompt Evaluation Framework</a:t>
            </a:r>
            <a:endParaRPr lang="en-US" sz="3200" dirty="0"/>
          </a:p>
        </p:txBody>
      </p:sp>
      <p:sp>
        <p:nvSpPr>
          <p:cNvPr id="3" name="Text 1"/>
          <p:cNvSpPr/>
          <p:nvPr/>
        </p:nvSpPr>
        <p:spPr>
          <a:xfrm>
            <a:off x="713232" y="1298448"/>
            <a:ext cx="6400800" cy="274320"/>
          </a:xfrm>
          <a:prstGeom prst="rect">
            <a:avLst/>
          </a:prstGeom>
          <a:noFill/>
          <a:ln/>
        </p:spPr>
        <p:txBody>
          <a:bodyPr wrap="square" lIns="0" tIns="0" rIns="0" bIns="0" rtlCol="0" anchor="ctr">
            <a:normAutofit/>
          </a:bodyPr>
          <a:lstStyle/>
          <a:p>
            <a:pPr indent="0" marL="0">
              <a:buNone/>
            </a:pPr>
            <a:r>
              <a:rPr lang="en-US" sz="1400" dirty="0">
                <a:solidFill>
                  <a:srgbClr val="5B6770"/>
                </a:solidFill>
              </a:rPr>
              <a:t>Advanced prompt engineering for financial-services professionals</a:t>
            </a:r>
            <a:endParaRPr lang="en-US" sz="1400" dirty="0"/>
          </a:p>
        </p:txBody>
      </p:sp>
      <p:sp>
        <p:nvSpPr>
          <p:cNvPr id="4" name="Text 2"/>
          <p:cNvSpPr/>
          <p:nvPr/>
        </p:nvSpPr>
        <p:spPr>
          <a:xfrm>
            <a:off x="713232" y="1965960"/>
            <a:ext cx="6035040" cy="566928"/>
          </a:xfrm>
          <a:prstGeom prst="rect">
            <a:avLst/>
          </a:prstGeom>
          <a:noFill/>
          <a:ln/>
        </p:spPr>
        <p:txBody>
          <a:bodyPr wrap="square" lIns="381" tIns="381" rIns="381" bIns="381" rtlCol="0" anchor="ctr">
            <a:normAutofit/>
          </a:bodyPr>
          <a:lstStyle/>
          <a:p>
            <a:pPr indent="0" marL="0">
              <a:buNone/>
            </a:pPr>
            <a:r>
              <a:rPr lang="en-US" sz="1700" b="1" dirty="0">
                <a:solidFill>
                  <a:srgbClr val="0B1420"/>
                </a:solidFill>
              </a:rPr>
              <a:t>Goal: stop judging outputs by "looks good" and start measuring quality with repeatable tests.</a:t>
            </a:r>
            <a:endParaRPr lang="en-US" sz="1700" dirty="0"/>
          </a:p>
        </p:txBody>
      </p:sp>
      <p:sp>
        <p:nvSpPr>
          <p:cNvPr id="5" name="Shape 3"/>
          <p:cNvSpPr/>
          <p:nvPr/>
        </p:nvSpPr>
        <p:spPr>
          <a:xfrm>
            <a:off x="713232" y="2788920"/>
            <a:ext cx="4892040" cy="1234440"/>
          </a:xfrm>
          <a:prstGeom prst="roundRect">
            <a:avLst>
              <a:gd name="adj" fmla="val 5926"/>
            </a:avLst>
          </a:prstGeom>
          <a:solidFill>
            <a:srgbClr val="F7F9FB"/>
          </a:solidFill>
          <a:ln w="12700">
            <a:solidFill>
              <a:srgbClr val="D9E2EC"/>
            </a:solidFill>
            <a:prstDash val="solid"/>
          </a:ln>
        </p:spPr>
      </p:sp>
      <p:sp>
        <p:nvSpPr>
          <p:cNvPr id="6" name="Text 4"/>
          <p:cNvSpPr/>
          <p:nvPr/>
        </p:nvSpPr>
        <p:spPr>
          <a:xfrm>
            <a:off x="877824" y="2935224"/>
            <a:ext cx="456285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Training scenario</a:t>
            </a:r>
            <a:endParaRPr lang="en-US" sz="1200" dirty="0"/>
          </a:p>
        </p:txBody>
      </p:sp>
      <p:sp>
        <p:nvSpPr>
          <p:cNvPr id="7" name="Text 5"/>
          <p:cNvSpPr/>
          <p:nvPr/>
        </p:nvSpPr>
        <p:spPr>
          <a:xfrm>
            <a:off x="877824" y="3246120"/>
            <a:ext cx="456285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Customer complaint analysis, draft response quality review, and risk-safe output validation using fictional data.</a:t>
            </a:r>
            <a:endParaRPr lang="en-US" sz="960" dirty="0"/>
          </a:p>
        </p:txBody>
      </p:sp>
      <p:sp>
        <p:nvSpPr>
          <p:cNvPr id="8" name="Shape 6"/>
          <p:cNvSpPr/>
          <p:nvPr/>
        </p:nvSpPr>
        <p:spPr>
          <a:xfrm>
            <a:off x="5897880" y="2788920"/>
            <a:ext cx="5074920" cy="1234440"/>
          </a:xfrm>
          <a:prstGeom prst="roundRect">
            <a:avLst>
              <a:gd name="adj" fmla="val 5926"/>
            </a:avLst>
          </a:prstGeom>
          <a:solidFill>
            <a:srgbClr val="E7F6F7"/>
          </a:solidFill>
          <a:ln w="12700">
            <a:solidFill>
              <a:srgbClr val="D9E2EC"/>
            </a:solidFill>
            <a:prstDash val="solid"/>
          </a:ln>
        </p:spPr>
      </p:sp>
      <p:sp>
        <p:nvSpPr>
          <p:cNvPr id="9" name="Text 7"/>
          <p:cNvSpPr/>
          <p:nvPr/>
        </p:nvSpPr>
        <p:spPr>
          <a:xfrm>
            <a:off x="6062472" y="2935224"/>
            <a:ext cx="47457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Deliverables</a:t>
            </a:r>
            <a:endParaRPr lang="en-US" sz="1200" dirty="0"/>
          </a:p>
        </p:txBody>
      </p:sp>
      <p:sp>
        <p:nvSpPr>
          <p:cNvPr id="10" name="Text 8"/>
          <p:cNvSpPr/>
          <p:nvPr/>
        </p:nvSpPr>
        <p:spPr>
          <a:xfrm>
            <a:off x="6062472" y="3246120"/>
            <a:ext cx="474573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Rubric, scoring table, hallucination rate calculation, consistency test, LLM-as-judge prompt, and participant tasks.</a:t>
            </a:r>
            <a:endParaRPr lang="en-US" sz="960" dirty="0"/>
          </a:p>
        </p:txBody>
      </p:sp>
      <p:sp>
        <p:nvSpPr>
          <p:cNvPr id="11" name="Shape 9"/>
          <p:cNvSpPr/>
          <p:nvPr/>
        </p:nvSpPr>
        <p:spPr>
          <a:xfrm>
            <a:off x="749808" y="4617720"/>
            <a:ext cx="1051560" cy="310896"/>
          </a:xfrm>
          <a:prstGeom prst="roundRect">
            <a:avLst>
              <a:gd name="adj" fmla="val 23529"/>
            </a:avLst>
          </a:prstGeom>
          <a:solidFill>
            <a:srgbClr val="127C89"/>
          </a:solidFill>
          <a:ln w="12700">
            <a:solidFill>
              <a:srgbClr val="127C89"/>
            </a:solidFill>
            <a:prstDash val="solid"/>
          </a:ln>
        </p:spPr>
      </p:sp>
      <p:sp>
        <p:nvSpPr>
          <p:cNvPr id="12" name="Text 10"/>
          <p:cNvSpPr/>
          <p:nvPr/>
        </p:nvSpPr>
        <p:spPr>
          <a:xfrm>
            <a:off x="822960" y="4690872"/>
            <a:ext cx="905256" cy="1463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Accuracy</a:t>
            </a:r>
            <a:endParaRPr lang="en-US" sz="800" dirty="0"/>
          </a:p>
        </p:txBody>
      </p:sp>
      <p:sp>
        <p:nvSpPr>
          <p:cNvPr id="13" name="Shape 11"/>
          <p:cNvSpPr/>
          <p:nvPr/>
        </p:nvSpPr>
        <p:spPr>
          <a:xfrm>
            <a:off x="1920240" y="4617720"/>
            <a:ext cx="1143000" cy="310896"/>
          </a:xfrm>
          <a:prstGeom prst="roundRect">
            <a:avLst>
              <a:gd name="adj" fmla="val 23529"/>
            </a:avLst>
          </a:prstGeom>
          <a:solidFill>
            <a:srgbClr val="127C89"/>
          </a:solidFill>
          <a:ln w="12700">
            <a:solidFill>
              <a:srgbClr val="127C89"/>
            </a:solidFill>
            <a:prstDash val="solid"/>
          </a:ln>
        </p:spPr>
      </p:sp>
      <p:sp>
        <p:nvSpPr>
          <p:cNvPr id="14" name="Text 12"/>
          <p:cNvSpPr/>
          <p:nvPr/>
        </p:nvSpPr>
        <p:spPr>
          <a:xfrm>
            <a:off x="1993392" y="4690872"/>
            <a:ext cx="996696" cy="1463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Grounding</a:t>
            </a:r>
            <a:endParaRPr lang="en-US" sz="800" dirty="0"/>
          </a:p>
        </p:txBody>
      </p:sp>
      <p:sp>
        <p:nvSpPr>
          <p:cNvPr id="15" name="Shape 13"/>
          <p:cNvSpPr/>
          <p:nvPr/>
        </p:nvSpPr>
        <p:spPr>
          <a:xfrm>
            <a:off x="3200400" y="4617720"/>
            <a:ext cx="914400" cy="310896"/>
          </a:xfrm>
          <a:prstGeom prst="roundRect">
            <a:avLst>
              <a:gd name="adj" fmla="val 23529"/>
            </a:avLst>
          </a:prstGeom>
          <a:solidFill>
            <a:srgbClr val="B84545"/>
          </a:solidFill>
          <a:ln w="12700">
            <a:solidFill>
              <a:srgbClr val="B84545"/>
            </a:solidFill>
            <a:prstDash val="solid"/>
          </a:ln>
        </p:spPr>
      </p:sp>
      <p:sp>
        <p:nvSpPr>
          <p:cNvPr id="16" name="Text 14"/>
          <p:cNvSpPr/>
          <p:nvPr/>
        </p:nvSpPr>
        <p:spPr>
          <a:xfrm>
            <a:off x="3273552" y="4690872"/>
            <a:ext cx="768096" cy="1463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Safety</a:t>
            </a:r>
            <a:endParaRPr lang="en-US" sz="800" dirty="0"/>
          </a:p>
        </p:txBody>
      </p:sp>
      <p:sp>
        <p:nvSpPr>
          <p:cNvPr id="17" name="Shape 15"/>
          <p:cNvSpPr/>
          <p:nvPr/>
        </p:nvSpPr>
        <p:spPr>
          <a:xfrm>
            <a:off x="4251960" y="4617720"/>
            <a:ext cx="1234440" cy="310896"/>
          </a:xfrm>
          <a:prstGeom prst="roundRect">
            <a:avLst>
              <a:gd name="adj" fmla="val 23529"/>
            </a:avLst>
          </a:prstGeom>
          <a:solidFill>
            <a:srgbClr val="C8932B"/>
          </a:solidFill>
          <a:ln w="12700">
            <a:solidFill>
              <a:srgbClr val="C8932B"/>
            </a:solidFill>
            <a:prstDash val="solid"/>
          </a:ln>
        </p:spPr>
      </p:sp>
      <p:sp>
        <p:nvSpPr>
          <p:cNvPr id="18" name="Text 16"/>
          <p:cNvSpPr/>
          <p:nvPr/>
        </p:nvSpPr>
        <p:spPr>
          <a:xfrm>
            <a:off x="4325112" y="4690872"/>
            <a:ext cx="1088136" cy="14630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Consistency</a:t>
            </a:r>
            <a:endParaRPr lang="en-US" sz="800" dirty="0"/>
          </a:p>
        </p:txBody>
      </p:sp>
      <p:sp>
        <p:nvSpPr>
          <p:cNvPr id="19" name="Text 17"/>
          <p:cNvSpPr/>
          <p:nvPr/>
        </p:nvSpPr>
        <p:spPr>
          <a:xfrm>
            <a:off x="713232" y="5779008"/>
            <a:ext cx="5943600" cy="237744"/>
          </a:xfrm>
          <a:prstGeom prst="rect">
            <a:avLst/>
          </a:prstGeom>
          <a:noFill/>
          <a:ln/>
        </p:spPr>
        <p:txBody>
          <a:bodyPr wrap="square" lIns="0" tIns="0" rIns="0" bIns="0" rtlCol="0" anchor="ctr">
            <a:normAutofit/>
          </a:bodyPr>
          <a:lstStyle/>
          <a:p>
            <a:pPr indent="0" marL="0">
              <a:buNone/>
            </a:pPr>
            <a:r>
              <a:rPr lang="en-US" sz="950" dirty="0">
                <a:solidFill>
                  <a:srgbClr val="5B6770"/>
                </a:solidFill>
              </a:rPr>
              <a:t>White-background version - no dense pages, no overlap</a:t>
            </a:r>
            <a:endParaRPr lang="en-US" sz="950" dirty="0"/>
          </a:p>
        </p:txBody>
      </p:sp>
      <p:sp>
        <p:nvSpPr>
          <p:cNvPr id="20" name="Text 18"/>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Why prompt evaluation matters</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Advanced teams need measurable evidence, not subjective approval.</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417320"/>
            <a:ext cx="3154680" cy="4160520"/>
          </a:xfrm>
          <a:prstGeom prst="roundRect">
            <a:avLst>
              <a:gd name="adj" fmla="val 2319"/>
            </a:avLst>
          </a:prstGeom>
          <a:solidFill>
            <a:srgbClr val="FFF8EA"/>
          </a:solidFill>
          <a:ln w="12700">
            <a:solidFill>
              <a:srgbClr val="D9E2EC"/>
            </a:solidFill>
            <a:prstDash val="solid"/>
          </a:ln>
        </p:spPr>
      </p:sp>
      <p:sp>
        <p:nvSpPr>
          <p:cNvPr id="6" name="Text 4"/>
          <p:cNvSpPr/>
          <p:nvPr/>
        </p:nvSpPr>
        <p:spPr>
          <a:xfrm>
            <a:off x="804672" y="156362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Weak review habit</a:t>
            </a:r>
            <a:endParaRPr lang="en-US" sz="1200" dirty="0"/>
          </a:p>
        </p:txBody>
      </p:sp>
      <p:sp>
        <p:nvSpPr>
          <p:cNvPr id="7" name="Text 5"/>
          <p:cNvSpPr/>
          <p:nvPr/>
        </p:nvSpPr>
        <p:spPr>
          <a:xfrm>
            <a:off x="804672" y="1874520"/>
            <a:ext cx="2825496" cy="35661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"This output looks good."</a:t>
            </a:r>
            <a:endParaRPr lang="en-US" sz="960" dirty="0"/>
          </a:p>
          <a:p>
            <a:pPr indent="0" marL="0">
              <a:buNone/>
            </a:pPr>
            <a:endParaRPr lang="en-US" sz="960" dirty="0"/>
          </a:p>
          <a:p>
            <a:pPr indent="0" marL="0">
              <a:buNone/>
            </a:pPr>
            <a:r>
              <a:rPr lang="en-US" sz="960" dirty="0">
                <a:solidFill>
                  <a:srgbClr val="0B1420"/>
                </a:solidFill>
              </a:rPr>
              <a:t>Problem: no repeatability, no audit trail, no measurable threshold, no way to compare prompt versions.</a:t>
            </a:r>
            <a:endParaRPr lang="en-US" sz="960" dirty="0"/>
          </a:p>
        </p:txBody>
      </p:sp>
      <p:sp>
        <p:nvSpPr>
          <p:cNvPr id="8" name="Shape 6"/>
          <p:cNvSpPr/>
          <p:nvPr/>
        </p:nvSpPr>
        <p:spPr>
          <a:xfrm>
            <a:off x="4343400" y="1417320"/>
            <a:ext cx="3291840" cy="4160520"/>
          </a:xfrm>
          <a:prstGeom prst="roundRect">
            <a:avLst>
              <a:gd name="adj" fmla="val 2222"/>
            </a:avLst>
          </a:prstGeom>
          <a:solidFill>
            <a:srgbClr val="EAF7F7"/>
          </a:solidFill>
          <a:ln w="12700">
            <a:solidFill>
              <a:srgbClr val="D9E2EC"/>
            </a:solidFill>
            <a:prstDash val="solid"/>
          </a:ln>
        </p:spPr>
      </p:sp>
      <p:sp>
        <p:nvSpPr>
          <p:cNvPr id="9" name="Text 7"/>
          <p:cNvSpPr/>
          <p:nvPr/>
        </p:nvSpPr>
        <p:spPr>
          <a:xfrm>
            <a:off x="4507992" y="1563624"/>
            <a:ext cx="296265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Better review habit</a:t>
            </a:r>
            <a:endParaRPr lang="en-US" sz="1200" dirty="0"/>
          </a:p>
        </p:txBody>
      </p:sp>
      <p:sp>
        <p:nvSpPr>
          <p:cNvPr id="10" name="Text 8"/>
          <p:cNvSpPr/>
          <p:nvPr/>
        </p:nvSpPr>
        <p:spPr>
          <a:xfrm>
            <a:off x="4507992" y="1874520"/>
            <a:ext cx="2962656" cy="35661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"This output scored 88/100. Accuracy passed, grounding passed, safety passed, but conciseness needs improvement."</a:t>
            </a:r>
            <a:endParaRPr lang="en-US" sz="960" dirty="0"/>
          </a:p>
        </p:txBody>
      </p:sp>
      <p:sp>
        <p:nvSpPr>
          <p:cNvPr id="11" name="Shape 9"/>
          <p:cNvSpPr/>
          <p:nvPr/>
        </p:nvSpPr>
        <p:spPr>
          <a:xfrm>
            <a:off x="8183880" y="1417320"/>
            <a:ext cx="3154680" cy="4160520"/>
          </a:xfrm>
          <a:prstGeom prst="roundRect">
            <a:avLst>
              <a:gd name="adj" fmla="val 2319"/>
            </a:avLst>
          </a:prstGeom>
          <a:solidFill>
            <a:srgbClr val="F7F9FB"/>
          </a:solidFill>
          <a:ln w="12700">
            <a:solidFill>
              <a:srgbClr val="D9E2EC"/>
            </a:solidFill>
            <a:prstDash val="solid"/>
          </a:ln>
        </p:spPr>
      </p:sp>
      <p:sp>
        <p:nvSpPr>
          <p:cNvPr id="12" name="Text 10"/>
          <p:cNvSpPr/>
          <p:nvPr/>
        </p:nvSpPr>
        <p:spPr>
          <a:xfrm>
            <a:off x="8348472" y="156362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Professional standard</a:t>
            </a:r>
            <a:endParaRPr lang="en-US" sz="1200" dirty="0"/>
          </a:p>
        </p:txBody>
      </p:sp>
      <p:sp>
        <p:nvSpPr>
          <p:cNvPr id="13" name="Text 11"/>
          <p:cNvSpPr/>
          <p:nvPr/>
        </p:nvSpPr>
        <p:spPr>
          <a:xfrm>
            <a:off x="8348472" y="1874520"/>
            <a:ext cx="2825496" cy="35661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Define metrics, test inputs, scoring rules, pass gates, failure examples, and human-review triggers.</a:t>
            </a:r>
            <a:endParaRPr lang="en-US" sz="960" dirty="0"/>
          </a:p>
        </p:txBody>
      </p:sp>
      <p:sp>
        <p:nvSpPr>
          <p:cNvPr id="14" name="Text 12"/>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Evaluation framework at a glance</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Use different metrics for truth, usefulness, format, behavior, and risk.</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594360" y="1298448"/>
            <a:ext cx="11018520" cy="444731"/>
          </a:xfrm>
          <a:prstGeom prst="rect">
            <a:avLst/>
          </a:prstGeom>
          <a:solidFill>
            <a:srgbClr val="17324D"/>
          </a:solidFill>
          <a:ln w="5080">
            <a:solidFill>
              <a:srgbClr val="D9E2EC"/>
            </a:solidFill>
            <a:prstDash val="solid"/>
          </a:ln>
        </p:spPr>
      </p:sp>
      <p:sp>
        <p:nvSpPr>
          <p:cNvPr id="6" name="Shape 4"/>
          <p:cNvSpPr/>
          <p:nvPr/>
        </p:nvSpPr>
        <p:spPr>
          <a:xfrm>
            <a:off x="594360" y="1298448"/>
            <a:ext cx="0" cy="444731"/>
          </a:xfrm>
          <a:prstGeom prst="line">
            <a:avLst/>
          </a:prstGeom>
          <a:noFill/>
          <a:ln w="5080">
            <a:solidFill>
              <a:srgbClr val="D9E2EC"/>
            </a:solidFill>
            <a:prstDash val="solid"/>
          </a:ln>
        </p:spPr>
      </p:sp>
      <p:sp>
        <p:nvSpPr>
          <p:cNvPr id="7" name="Text 5"/>
          <p:cNvSpPr/>
          <p:nvPr/>
        </p:nvSpPr>
        <p:spPr>
          <a:xfrm>
            <a:off x="640080" y="1325880"/>
            <a:ext cx="2993746" cy="389867"/>
          </a:xfrm>
          <a:prstGeom prst="rect">
            <a:avLst/>
          </a:prstGeom>
          <a:noFill/>
          <a:ln/>
        </p:spPr>
        <p:txBody>
          <a:bodyPr wrap="square" lIns="127" tIns="127" rIns="127" bIns="127" rtlCol="0" anchor="ctr">
            <a:normAutofit/>
          </a:bodyPr>
          <a:lstStyle/>
          <a:p>
            <a:pPr indent="0" marL="0">
              <a:buNone/>
            </a:pPr>
            <a:r>
              <a:rPr lang="en-US" sz="820" b="1" dirty="0">
                <a:solidFill>
                  <a:srgbClr val="FFFFFF"/>
                </a:solidFill>
              </a:rPr>
              <a:t>Metric</a:t>
            </a:r>
            <a:endParaRPr lang="en-US" sz="820" dirty="0"/>
          </a:p>
        </p:txBody>
      </p:sp>
      <p:sp>
        <p:nvSpPr>
          <p:cNvPr id="8" name="Shape 6"/>
          <p:cNvSpPr/>
          <p:nvPr/>
        </p:nvSpPr>
        <p:spPr>
          <a:xfrm>
            <a:off x="3679546" y="1298448"/>
            <a:ext cx="0" cy="444731"/>
          </a:xfrm>
          <a:prstGeom prst="line">
            <a:avLst/>
          </a:prstGeom>
          <a:noFill/>
          <a:ln w="5080">
            <a:solidFill>
              <a:srgbClr val="D9E2EC"/>
            </a:solidFill>
            <a:prstDash val="solid"/>
          </a:ln>
        </p:spPr>
      </p:sp>
      <p:sp>
        <p:nvSpPr>
          <p:cNvPr id="9" name="Text 7"/>
          <p:cNvSpPr/>
          <p:nvPr/>
        </p:nvSpPr>
        <p:spPr>
          <a:xfrm>
            <a:off x="3725266" y="1325880"/>
            <a:ext cx="4756709" cy="389867"/>
          </a:xfrm>
          <a:prstGeom prst="rect">
            <a:avLst/>
          </a:prstGeom>
          <a:noFill/>
          <a:ln/>
        </p:spPr>
        <p:txBody>
          <a:bodyPr wrap="square" lIns="127" tIns="127" rIns="127" bIns="127" rtlCol="0" anchor="ctr">
            <a:normAutofit/>
          </a:bodyPr>
          <a:lstStyle/>
          <a:p>
            <a:pPr indent="0" marL="0">
              <a:buNone/>
            </a:pPr>
            <a:r>
              <a:rPr lang="en-US" sz="820" b="1" dirty="0">
                <a:solidFill>
                  <a:srgbClr val="FFFFFF"/>
                </a:solidFill>
              </a:rPr>
              <a:t>What it checks</a:t>
            </a:r>
            <a:endParaRPr lang="en-US" sz="820" dirty="0"/>
          </a:p>
        </p:txBody>
      </p:sp>
      <p:sp>
        <p:nvSpPr>
          <p:cNvPr id="10" name="Shape 8"/>
          <p:cNvSpPr/>
          <p:nvPr/>
        </p:nvSpPr>
        <p:spPr>
          <a:xfrm>
            <a:off x="8527694" y="1298448"/>
            <a:ext cx="0" cy="444731"/>
          </a:xfrm>
          <a:prstGeom prst="line">
            <a:avLst/>
          </a:prstGeom>
          <a:noFill/>
          <a:ln w="5080">
            <a:solidFill>
              <a:srgbClr val="D9E2EC"/>
            </a:solidFill>
            <a:prstDash val="solid"/>
          </a:ln>
        </p:spPr>
      </p:sp>
      <p:sp>
        <p:nvSpPr>
          <p:cNvPr id="11" name="Text 9"/>
          <p:cNvSpPr/>
          <p:nvPr/>
        </p:nvSpPr>
        <p:spPr>
          <a:xfrm>
            <a:off x="8573414" y="1325880"/>
            <a:ext cx="2993746" cy="389867"/>
          </a:xfrm>
          <a:prstGeom prst="rect">
            <a:avLst/>
          </a:prstGeom>
          <a:noFill/>
          <a:ln/>
        </p:spPr>
        <p:txBody>
          <a:bodyPr wrap="square" lIns="127" tIns="127" rIns="127" bIns="127" rtlCol="0" anchor="ctr">
            <a:normAutofit/>
          </a:bodyPr>
          <a:lstStyle/>
          <a:p>
            <a:pPr indent="0" marL="0">
              <a:buNone/>
            </a:pPr>
            <a:r>
              <a:rPr lang="en-US" sz="820" b="1" dirty="0">
                <a:solidFill>
                  <a:srgbClr val="FFFFFF"/>
                </a:solidFill>
              </a:rPr>
              <a:t>Typical test</a:t>
            </a:r>
            <a:endParaRPr lang="en-US" sz="820" dirty="0"/>
          </a:p>
        </p:txBody>
      </p:sp>
      <p:sp>
        <p:nvSpPr>
          <p:cNvPr id="12" name="Shape 10"/>
          <p:cNvSpPr/>
          <p:nvPr/>
        </p:nvSpPr>
        <p:spPr>
          <a:xfrm>
            <a:off x="11612880" y="1298448"/>
            <a:ext cx="0" cy="444731"/>
          </a:xfrm>
          <a:prstGeom prst="line">
            <a:avLst/>
          </a:prstGeom>
          <a:noFill/>
          <a:ln w="5080">
            <a:solidFill>
              <a:srgbClr val="D9E2EC"/>
            </a:solidFill>
            <a:prstDash val="solid"/>
          </a:ln>
        </p:spPr>
      </p:sp>
      <p:sp>
        <p:nvSpPr>
          <p:cNvPr id="13" name="Shape 11"/>
          <p:cNvSpPr/>
          <p:nvPr/>
        </p:nvSpPr>
        <p:spPr>
          <a:xfrm>
            <a:off x="594360" y="1743179"/>
            <a:ext cx="11018520" cy="444731"/>
          </a:xfrm>
          <a:prstGeom prst="rect">
            <a:avLst/>
          </a:prstGeom>
          <a:solidFill>
            <a:srgbClr val="F7F9FB"/>
          </a:solidFill>
          <a:ln w="5080">
            <a:solidFill>
              <a:srgbClr val="D9E2EC"/>
            </a:solidFill>
            <a:prstDash val="solid"/>
          </a:ln>
        </p:spPr>
      </p:sp>
      <p:sp>
        <p:nvSpPr>
          <p:cNvPr id="14" name="Shape 12"/>
          <p:cNvSpPr/>
          <p:nvPr/>
        </p:nvSpPr>
        <p:spPr>
          <a:xfrm>
            <a:off x="594360" y="1743179"/>
            <a:ext cx="0" cy="444731"/>
          </a:xfrm>
          <a:prstGeom prst="line">
            <a:avLst/>
          </a:prstGeom>
          <a:noFill/>
          <a:ln w="5080">
            <a:solidFill>
              <a:srgbClr val="D9E2EC"/>
            </a:solidFill>
            <a:prstDash val="solid"/>
          </a:ln>
        </p:spPr>
      </p:sp>
      <p:sp>
        <p:nvSpPr>
          <p:cNvPr id="15" name="Text 13"/>
          <p:cNvSpPr/>
          <p:nvPr/>
        </p:nvSpPr>
        <p:spPr>
          <a:xfrm>
            <a:off x="640080" y="1770611"/>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Accuracy</a:t>
            </a:r>
            <a:endParaRPr lang="en-US" sz="820" dirty="0"/>
          </a:p>
        </p:txBody>
      </p:sp>
      <p:sp>
        <p:nvSpPr>
          <p:cNvPr id="16" name="Shape 14"/>
          <p:cNvSpPr/>
          <p:nvPr/>
        </p:nvSpPr>
        <p:spPr>
          <a:xfrm>
            <a:off x="3679546" y="1743179"/>
            <a:ext cx="0" cy="444731"/>
          </a:xfrm>
          <a:prstGeom prst="line">
            <a:avLst/>
          </a:prstGeom>
          <a:noFill/>
          <a:ln w="5080">
            <a:solidFill>
              <a:srgbClr val="D9E2EC"/>
            </a:solidFill>
            <a:prstDash val="solid"/>
          </a:ln>
        </p:spPr>
      </p:sp>
      <p:sp>
        <p:nvSpPr>
          <p:cNvPr id="17" name="Text 15"/>
          <p:cNvSpPr/>
          <p:nvPr/>
        </p:nvSpPr>
        <p:spPr>
          <a:xfrm>
            <a:off x="3725266" y="1770611"/>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Is the information correct?</a:t>
            </a:r>
            <a:endParaRPr lang="en-US" sz="820" dirty="0"/>
          </a:p>
        </p:txBody>
      </p:sp>
      <p:sp>
        <p:nvSpPr>
          <p:cNvPr id="18" name="Shape 16"/>
          <p:cNvSpPr/>
          <p:nvPr/>
        </p:nvSpPr>
        <p:spPr>
          <a:xfrm>
            <a:off x="8527694" y="1743179"/>
            <a:ext cx="0" cy="444731"/>
          </a:xfrm>
          <a:prstGeom prst="line">
            <a:avLst/>
          </a:prstGeom>
          <a:noFill/>
          <a:ln w="5080">
            <a:solidFill>
              <a:srgbClr val="D9E2EC"/>
            </a:solidFill>
            <a:prstDash val="solid"/>
          </a:ln>
        </p:spPr>
      </p:sp>
      <p:sp>
        <p:nvSpPr>
          <p:cNvPr id="19" name="Text 17"/>
          <p:cNvSpPr/>
          <p:nvPr/>
        </p:nvSpPr>
        <p:spPr>
          <a:xfrm>
            <a:off x="8573414" y="1770611"/>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Compare with verified facts</a:t>
            </a:r>
            <a:endParaRPr lang="en-US" sz="820" dirty="0"/>
          </a:p>
        </p:txBody>
      </p:sp>
      <p:sp>
        <p:nvSpPr>
          <p:cNvPr id="20" name="Shape 18"/>
          <p:cNvSpPr/>
          <p:nvPr/>
        </p:nvSpPr>
        <p:spPr>
          <a:xfrm>
            <a:off x="11612880" y="1743179"/>
            <a:ext cx="0" cy="444731"/>
          </a:xfrm>
          <a:prstGeom prst="line">
            <a:avLst/>
          </a:prstGeom>
          <a:noFill/>
          <a:ln w="5080">
            <a:solidFill>
              <a:srgbClr val="D9E2EC"/>
            </a:solidFill>
            <a:prstDash val="solid"/>
          </a:ln>
        </p:spPr>
      </p:sp>
      <p:sp>
        <p:nvSpPr>
          <p:cNvPr id="21" name="Shape 19"/>
          <p:cNvSpPr/>
          <p:nvPr/>
        </p:nvSpPr>
        <p:spPr>
          <a:xfrm>
            <a:off x="594360" y="2187910"/>
            <a:ext cx="11018520" cy="444731"/>
          </a:xfrm>
          <a:prstGeom prst="rect">
            <a:avLst/>
          </a:prstGeom>
          <a:solidFill>
            <a:srgbClr val="FFFFFF"/>
          </a:solidFill>
          <a:ln w="5080">
            <a:solidFill>
              <a:srgbClr val="D9E2EC"/>
            </a:solidFill>
            <a:prstDash val="solid"/>
          </a:ln>
        </p:spPr>
      </p:sp>
      <p:sp>
        <p:nvSpPr>
          <p:cNvPr id="22" name="Shape 20"/>
          <p:cNvSpPr/>
          <p:nvPr/>
        </p:nvSpPr>
        <p:spPr>
          <a:xfrm>
            <a:off x="594360" y="2187910"/>
            <a:ext cx="0" cy="444731"/>
          </a:xfrm>
          <a:prstGeom prst="line">
            <a:avLst/>
          </a:prstGeom>
          <a:noFill/>
          <a:ln w="5080">
            <a:solidFill>
              <a:srgbClr val="D9E2EC"/>
            </a:solidFill>
            <a:prstDash val="solid"/>
          </a:ln>
        </p:spPr>
      </p:sp>
      <p:sp>
        <p:nvSpPr>
          <p:cNvPr id="23" name="Text 21"/>
          <p:cNvSpPr/>
          <p:nvPr/>
        </p:nvSpPr>
        <p:spPr>
          <a:xfrm>
            <a:off x="640080" y="2215342"/>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Relevance</a:t>
            </a:r>
            <a:endParaRPr lang="en-US" sz="820" dirty="0"/>
          </a:p>
        </p:txBody>
      </p:sp>
      <p:sp>
        <p:nvSpPr>
          <p:cNvPr id="24" name="Shape 22"/>
          <p:cNvSpPr/>
          <p:nvPr/>
        </p:nvSpPr>
        <p:spPr>
          <a:xfrm>
            <a:off x="3679546" y="2187910"/>
            <a:ext cx="0" cy="444731"/>
          </a:xfrm>
          <a:prstGeom prst="line">
            <a:avLst/>
          </a:prstGeom>
          <a:noFill/>
          <a:ln w="5080">
            <a:solidFill>
              <a:srgbClr val="D9E2EC"/>
            </a:solidFill>
            <a:prstDash val="solid"/>
          </a:ln>
        </p:spPr>
      </p:sp>
      <p:sp>
        <p:nvSpPr>
          <p:cNvPr id="25" name="Text 23"/>
          <p:cNvSpPr/>
          <p:nvPr/>
        </p:nvSpPr>
        <p:spPr>
          <a:xfrm>
            <a:off x="3725266" y="2215342"/>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Does it answer the actual request?</a:t>
            </a:r>
            <a:endParaRPr lang="en-US" sz="820" dirty="0"/>
          </a:p>
        </p:txBody>
      </p:sp>
      <p:sp>
        <p:nvSpPr>
          <p:cNvPr id="26" name="Shape 24"/>
          <p:cNvSpPr/>
          <p:nvPr/>
        </p:nvSpPr>
        <p:spPr>
          <a:xfrm>
            <a:off x="8527694" y="2187910"/>
            <a:ext cx="0" cy="444731"/>
          </a:xfrm>
          <a:prstGeom prst="line">
            <a:avLst/>
          </a:prstGeom>
          <a:noFill/>
          <a:ln w="5080">
            <a:solidFill>
              <a:srgbClr val="D9E2EC"/>
            </a:solidFill>
            <a:prstDash val="solid"/>
          </a:ln>
        </p:spPr>
      </p:sp>
      <p:sp>
        <p:nvSpPr>
          <p:cNvPr id="27" name="Text 25"/>
          <p:cNvSpPr/>
          <p:nvPr/>
        </p:nvSpPr>
        <p:spPr>
          <a:xfrm>
            <a:off x="8573414" y="2215342"/>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Check request coverage</a:t>
            </a:r>
            <a:endParaRPr lang="en-US" sz="820" dirty="0"/>
          </a:p>
        </p:txBody>
      </p:sp>
      <p:sp>
        <p:nvSpPr>
          <p:cNvPr id="28" name="Shape 26"/>
          <p:cNvSpPr/>
          <p:nvPr/>
        </p:nvSpPr>
        <p:spPr>
          <a:xfrm>
            <a:off x="11612880" y="2187910"/>
            <a:ext cx="0" cy="444731"/>
          </a:xfrm>
          <a:prstGeom prst="line">
            <a:avLst/>
          </a:prstGeom>
          <a:noFill/>
          <a:ln w="5080">
            <a:solidFill>
              <a:srgbClr val="D9E2EC"/>
            </a:solidFill>
            <a:prstDash val="solid"/>
          </a:ln>
        </p:spPr>
      </p:sp>
      <p:sp>
        <p:nvSpPr>
          <p:cNvPr id="29" name="Shape 27"/>
          <p:cNvSpPr/>
          <p:nvPr/>
        </p:nvSpPr>
        <p:spPr>
          <a:xfrm>
            <a:off x="594360" y="2632641"/>
            <a:ext cx="11018520" cy="444731"/>
          </a:xfrm>
          <a:prstGeom prst="rect">
            <a:avLst/>
          </a:prstGeom>
          <a:solidFill>
            <a:srgbClr val="F7F9FB"/>
          </a:solidFill>
          <a:ln w="5080">
            <a:solidFill>
              <a:srgbClr val="D9E2EC"/>
            </a:solidFill>
            <a:prstDash val="solid"/>
          </a:ln>
        </p:spPr>
      </p:sp>
      <p:sp>
        <p:nvSpPr>
          <p:cNvPr id="30" name="Shape 28"/>
          <p:cNvSpPr/>
          <p:nvPr/>
        </p:nvSpPr>
        <p:spPr>
          <a:xfrm>
            <a:off x="594360" y="2632641"/>
            <a:ext cx="0" cy="444731"/>
          </a:xfrm>
          <a:prstGeom prst="line">
            <a:avLst/>
          </a:prstGeom>
          <a:noFill/>
          <a:ln w="5080">
            <a:solidFill>
              <a:srgbClr val="D9E2EC"/>
            </a:solidFill>
            <a:prstDash val="solid"/>
          </a:ln>
        </p:spPr>
      </p:sp>
      <p:sp>
        <p:nvSpPr>
          <p:cNvPr id="31" name="Text 29"/>
          <p:cNvSpPr/>
          <p:nvPr/>
        </p:nvSpPr>
        <p:spPr>
          <a:xfrm>
            <a:off x="640080" y="2660073"/>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Completeness</a:t>
            </a:r>
            <a:endParaRPr lang="en-US" sz="820" dirty="0"/>
          </a:p>
        </p:txBody>
      </p:sp>
      <p:sp>
        <p:nvSpPr>
          <p:cNvPr id="32" name="Shape 30"/>
          <p:cNvSpPr/>
          <p:nvPr/>
        </p:nvSpPr>
        <p:spPr>
          <a:xfrm>
            <a:off x="3679546" y="2632641"/>
            <a:ext cx="0" cy="444731"/>
          </a:xfrm>
          <a:prstGeom prst="line">
            <a:avLst/>
          </a:prstGeom>
          <a:noFill/>
          <a:ln w="5080">
            <a:solidFill>
              <a:srgbClr val="D9E2EC"/>
            </a:solidFill>
            <a:prstDash val="solid"/>
          </a:ln>
        </p:spPr>
      </p:sp>
      <p:sp>
        <p:nvSpPr>
          <p:cNvPr id="33" name="Text 31"/>
          <p:cNvSpPr/>
          <p:nvPr/>
        </p:nvSpPr>
        <p:spPr>
          <a:xfrm>
            <a:off x="3725266" y="2660073"/>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Are all required points covered?</a:t>
            </a:r>
            <a:endParaRPr lang="en-US" sz="820" dirty="0"/>
          </a:p>
        </p:txBody>
      </p:sp>
      <p:sp>
        <p:nvSpPr>
          <p:cNvPr id="34" name="Shape 32"/>
          <p:cNvSpPr/>
          <p:nvPr/>
        </p:nvSpPr>
        <p:spPr>
          <a:xfrm>
            <a:off x="8527694" y="2632641"/>
            <a:ext cx="0" cy="444731"/>
          </a:xfrm>
          <a:prstGeom prst="line">
            <a:avLst/>
          </a:prstGeom>
          <a:noFill/>
          <a:ln w="5080">
            <a:solidFill>
              <a:srgbClr val="D9E2EC"/>
            </a:solidFill>
            <a:prstDash val="solid"/>
          </a:ln>
        </p:spPr>
      </p:sp>
      <p:sp>
        <p:nvSpPr>
          <p:cNvPr id="35" name="Text 33"/>
          <p:cNvSpPr/>
          <p:nvPr/>
        </p:nvSpPr>
        <p:spPr>
          <a:xfrm>
            <a:off x="8573414" y="2660073"/>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Checklist scoring</a:t>
            </a:r>
            <a:endParaRPr lang="en-US" sz="820" dirty="0"/>
          </a:p>
        </p:txBody>
      </p:sp>
      <p:sp>
        <p:nvSpPr>
          <p:cNvPr id="36" name="Shape 34"/>
          <p:cNvSpPr/>
          <p:nvPr/>
        </p:nvSpPr>
        <p:spPr>
          <a:xfrm>
            <a:off x="11612880" y="2632641"/>
            <a:ext cx="0" cy="444731"/>
          </a:xfrm>
          <a:prstGeom prst="line">
            <a:avLst/>
          </a:prstGeom>
          <a:noFill/>
          <a:ln w="5080">
            <a:solidFill>
              <a:srgbClr val="D9E2EC"/>
            </a:solidFill>
            <a:prstDash val="solid"/>
          </a:ln>
        </p:spPr>
      </p:sp>
      <p:sp>
        <p:nvSpPr>
          <p:cNvPr id="37" name="Shape 35"/>
          <p:cNvSpPr/>
          <p:nvPr/>
        </p:nvSpPr>
        <p:spPr>
          <a:xfrm>
            <a:off x="594360" y="3077372"/>
            <a:ext cx="11018520" cy="444731"/>
          </a:xfrm>
          <a:prstGeom prst="rect">
            <a:avLst/>
          </a:prstGeom>
          <a:solidFill>
            <a:srgbClr val="FFFFFF"/>
          </a:solidFill>
          <a:ln w="5080">
            <a:solidFill>
              <a:srgbClr val="D9E2EC"/>
            </a:solidFill>
            <a:prstDash val="solid"/>
          </a:ln>
        </p:spPr>
      </p:sp>
      <p:sp>
        <p:nvSpPr>
          <p:cNvPr id="38" name="Shape 36"/>
          <p:cNvSpPr/>
          <p:nvPr/>
        </p:nvSpPr>
        <p:spPr>
          <a:xfrm>
            <a:off x="594360" y="3077372"/>
            <a:ext cx="0" cy="444731"/>
          </a:xfrm>
          <a:prstGeom prst="line">
            <a:avLst/>
          </a:prstGeom>
          <a:noFill/>
          <a:ln w="5080">
            <a:solidFill>
              <a:srgbClr val="D9E2EC"/>
            </a:solidFill>
            <a:prstDash val="solid"/>
          </a:ln>
        </p:spPr>
      </p:sp>
      <p:sp>
        <p:nvSpPr>
          <p:cNvPr id="39" name="Text 37"/>
          <p:cNvSpPr/>
          <p:nvPr/>
        </p:nvSpPr>
        <p:spPr>
          <a:xfrm>
            <a:off x="640080" y="3104804"/>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Groundedness</a:t>
            </a:r>
            <a:endParaRPr lang="en-US" sz="820" dirty="0"/>
          </a:p>
        </p:txBody>
      </p:sp>
      <p:sp>
        <p:nvSpPr>
          <p:cNvPr id="40" name="Shape 38"/>
          <p:cNvSpPr/>
          <p:nvPr/>
        </p:nvSpPr>
        <p:spPr>
          <a:xfrm>
            <a:off x="3679546" y="3077372"/>
            <a:ext cx="0" cy="444731"/>
          </a:xfrm>
          <a:prstGeom prst="line">
            <a:avLst/>
          </a:prstGeom>
          <a:noFill/>
          <a:ln w="5080">
            <a:solidFill>
              <a:srgbClr val="D9E2EC"/>
            </a:solidFill>
            <a:prstDash val="solid"/>
          </a:ln>
        </p:spPr>
      </p:sp>
      <p:sp>
        <p:nvSpPr>
          <p:cNvPr id="41" name="Text 39"/>
          <p:cNvSpPr/>
          <p:nvPr/>
        </p:nvSpPr>
        <p:spPr>
          <a:xfrm>
            <a:off x="3725266" y="3104804"/>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Is it supported by source data?</a:t>
            </a:r>
            <a:endParaRPr lang="en-US" sz="820" dirty="0"/>
          </a:p>
        </p:txBody>
      </p:sp>
      <p:sp>
        <p:nvSpPr>
          <p:cNvPr id="42" name="Shape 40"/>
          <p:cNvSpPr/>
          <p:nvPr/>
        </p:nvSpPr>
        <p:spPr>
          <a:xfrm>
            <a:off x="8527694" y="3077372"/>
            <a:ext cx="0" cy="444731"/>
          </a:xfrm>
          <a:prstGeom prst="line">
            <a:avLst/>
          </a:prstGeom>
          <a:noFill/>
          <a:ln w="5080">
            <a:solidFill>
              <a:srgbClr val="D9E2EC"/>
            </a:solidFill>
            <a:prstDash val="solid"/>
          </a:ln>
        </p:spPr>
      </p:sp>
      <p:sp>
        <p:nvSpPr>
          <p:cNvPr id="43" name="Text 41"/>
          <p:cNvSpPr/>
          <p:nvPr/>
        </p:nvSpPr>
        <p:spPr>
          <a:xfrm>
            <a:off x="8573414" y="3104804"/>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Quote/evidence trace</a:t>
            </a:r>
            <a:endParaRPr lang="en-US" sz="820" dirty="0"/>
          </a:p>
        </p:txBody>
      </p:sp>
      <p:sp>
        <p:nvSpPr>
          <p:cNvPr id="44" name="Shape 42"/>
          <p:cNvSpPr/>
          <p:nvPr/>
        </p:nvSpPr>
        <p:spPr>
          <a:xfrm>
            <a:off x="11612880" y="3077372"/>
            <a:ext cx="0" cy="444731"/>
          </a:xfrm>
          <a:prstGeom prst="line">
            <a:avLst/>
          </a:prstGeom>
          <a:noFill/>
          <a:ln w="5080">
            <a:solidFill>
              <a:srgbClr val="D9E2EC"/>
            </a:solidFill>
            <a:prstDash val="solid"/>
          </a:ln>
        </p:spPr>
      </p:sp>
      <p:sp>
        <p:nvSpPr>
          <p:cNvPr id="45" name="Shape 43"/>
          <p:cNvSpPr/>
          <p:nvPr/>
        </p:nvSpPr>
        <p:spPr>
          <a:xfrm>
            <a:off x="594360" y="3522103"/>
            <a:ext cx="11018520" cy="444731"/>
          </a:xfrm>
          <a:prstGeom prst="rect">
            <a:avLst/>
          </a:prstGeom>
          <a:solidFill>
            <a:srgbClr val="F7F9FB"/>
          </a:solidFill>
          <a:ln w="5080">
            <a:solidFill>
              <a:srgbClr val="D9E2EC"/>
            </a:solidFill>
            <a:prstDash val="solid"/>
          </a:ln>
        </p:spPr>
      </p:sp>
      <p:sp>
        <p:nvSpPr>
          <p:cNvPr id="46" name="Shape 44"/>
          <p:cNvSpPr/>
          <p:nvPr/>
        </p:nvSpPr>
        <p:spPr>
          <a:xfrm>
            <a:off x="594360" y="3522103"/>
            <a:ext cx="0" cy="444731"/>
          </a:xfrm>
          <a:prstGeom prst="line">
            <a:avLst/>
          </a:prstGeom>
          <a:noFill/>
          <a:ln w="5080">
            <a:solidFill>
              <a:srgbClr val="D9E2EC"/>
            </a:solidFill>
            <a:prstDash val="solid"/>
          </a:ln>
        </p:spPr>
      </p:sp>
      <p:sp>
        <p:nvSpPr>
          <p:cNvPr id="47" name="Text 45"/>
          <p:cNvSpPr/>
          <p:nvPr/>
        </p:nvSpPr>
        <p:spPr>
          <a:xfrm>
            <a:off x="640080" y="3549535"/>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Consistency</a:t>
            </a:r>
            <a:endParaRPr lang="en-US" sz="820" dirty="0"/>
          </a:p>
        </p:txBody>
      </p:sp>
      <p:sp>
        <p:nvSpPr>
          <p:cNvPr id="48" name="Shape 46"/>
          <p:cNvSpPr/>
          <p:nvPr/>
        </p:nvSpPr>
        <p:spPr>
          <a:xfrm>
            <a:off x="3679546" y="3522103"/>
            <a:ext cx="0" cy="444731"/>
          </a:xfrm>
          <a:prstGeom prst="line">
            <a:avLst/>
          </a:prstGeom>
          <a:noFill/>
          <a:ln w="5080">
            <a:solidFill>
              <a:srgbClr val="D9E2EC"/>
            </a:solidFill>
            <a:prstDash val="solid"/>
          </a:ln>
        </p:spPr>
      </p:sp>
      <p:sp>
        <p:nvSpPr>
          <p:cNvPr id="49" name="Text 47"/>
          <p:cNvSpPr/>
          <p:nvPr/>
        </p:nvSpPr>
        <p:spPr>
          <a:xfrm>
            <a:off x="3725266" y="3549535"/>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Do repeated runs behave similarly?</a:t>
            </a:r>
            <a:endParaRPr lang="en-US" sz="820" dirty="0"/>
          </a:p>
        </p:txBody>
      </p:sp>
      <p:sp>
        <p:nvSpPr>
          <p:cNvPr id="50" name="Shape 48"/>
          <p:cNvSpPr/>
          <p:nvPr/>
        </p:nvSpPr>
        <p:spPr>
          <a:xfrm>
            <a:off x="8527694" y="3522103"/>
            <a:ext cx="0" cy="444731"/>
          </a:xfrm>
          <a:prstGeom prst="line">
            <a:avLst/>
          </a:prstGeom>
          <a:noFill/>
          <a:ln w="5080">
            <a:solidFill>
              <a:srgbClr val="D9E2EC"/>
            </a:solidFill>
            <a:prstDash val="solid"/>
          </a:ln>
        </p:spPr>
      </p:sp>
      <p:sp>
        <p:nvSpPr>
          <p:cNvPr id="51" name="Text 49"/>
          <p:cNvSpPr/>
          <p:nvPr/>
        </p:nvSpPr>
        <p:spPr>
          <a:xfrm>
            <a:off x="8573414" y="3549535"/>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Run 3-5 times</a:t>
            </a:r>
            <a:endParaRPr lang="en-US" sz="820" dirty="0"/>
          </a:p>
        </p:txBody>
      </p:sp>
      <p:sp>
        <p:nvSpPr>
          <p:cNvPr id="52" name="Shape 50"/>
          <p:cNvSpPr/>
          <p:nvPr/>
        </p:nvSpPr>
        <p:spPr>
          <a:xfrm>
            <a:off x="11612880" y="3522103"/>
            <a:ext cx="0" cy="444731"/>
          </a:xfrm>
          <a:prstGeom prst="line">
            <a:avLst/>
          </a:prstGeom>
          <a:noFill/>
          <a:ln w="5080">
            <a:solidFill>
              <a:srgbClr val="D9E2EC"/>
            </a:solidFill>
            <a:prstDash val="solid"/>
          </a:ln>
        </p:spPr>
      </p:sp>
      <p:sp>
        <p:nvSpPr>
          <p:cNvPr id="53" name="Shape 51"/>
          <p:cNvSpPr/>
          <p:nvPr/>
        </p:nvSpPr>
        <p:spPr>
          <a:xfrm>
            <a:off x="594360" y="3966833"/>
            <a:ext cx="11018520" cy="444731"/>
          </a:xfrm>
          <a:prstGeom prst="rect">
            <a:avLst/>
          </a:prstGeom>
          <a:solidFill>
            <a:srgbClr val="FFFFFF"/>
          </a:solidFill>
          <a:ln w="5080">
            <a:solidFill>
              <a:srgbClr val="D9E2EC"/>
            </a:solidFill>
            <a:prstDash val="solid"/>
          </a:ln>
        </p:spPr>
      </p:sp>
      <p:sp>
        <p:nvSpPr>
          <p:cNvPr id="54" name="Shape 52"/>
          <p:cNvSpPr/>
          <p:nvPr/>
        </p:nvSpPr>
        <p:spPr>
          <a:xfrm>
            <a:off x="594360" y="3966833"/>
            <a:ext cx="0" cy="444731"/>
          </a:xfrm>
          <a:prstGeom prst="line">
            <a:avLst/>
          </a:prstGeom>
          <a:noFill/>
          <a:ln w="5080">
            <a:solidFill>
              <a:srgbClr val="D9E2EC"/>
            </a:solidFill>
            <a:prstDash val="solid"/>
          </a:ln>
        </p:spPr>
      </p:sp>
      <p:sp>
        <p:nvSpPr>
          <p:cNvPr id="55" name="Text 53"/>
          <p:cNvSpPr/>
          <p:nvPr/>
        </p:nvSpPr>
        <p:spPr>
          <a:xfrm>
            <a:off x="640080" y="3994265"/>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Format compliance</a:t>
            </a:r>
            <a:endParaRPr lang="en-US" sz="820" dirty="0"/>
          </a:p>
        </p:txBody>
      </p:sp>
      <p:sp>
        <p:nvSpPr>
          <p:cNvPr id="56" name="Shape 54"/>
          <p:cNvSpPr/>
          <p:nvPr/>
        </p:nvSpPr>
        <p:spPr>
          <a:xfrm>
            <a:off x="3679546" y="3966833"/>
            <a:ext cx="0" cy="444731"/>
          </a:xfrm>
          <a:prstGeom prst="line">
            <a:avLst/>
          </a:prstGeom>
          <a:noFill/>
          <a:ln w="5080">
            <a:solidFill>
              <a:srgbClr val="D9E2EC"/>
            </a:solidFill>
            <a:prstDash val="solid"/>
          </a:ln>
        </p:spPr>
      </p:sp>
      <p:sp>
        <p:nvSpPr>
          <p:cNvPr id="57" name="Text 55"/>
          <p:cNvSpPr/>
          <p:nvPr/>
        </p:nvSpPr>
        <p:spPr>
          <a:xfrm>
            <a:off x="3725266" y="3994265"/>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Does it follow the required structure?</a:t>
            </a:r>
            <a:endParaRPr lang="en-US" sz="820" dirty="0"/>
          </a:p>
        </p:txBody>
      </p:sp>
      <p:sp>
        <p:nvSpPr>
          <p:cNvPr id="58" name="Shape 56"/>
          <p:cNvSpPr/>
          <p:nvPr/>
        </p:nvSpPr>
        <p:spPr>
          <a:xfrm>
            <a:off x="8527694" y="3966833"/>
            <a:ext cx="0" cy="444731"/>
          </a:xfrm>
          <a:prstGeom prst="line">
            <a:avLst/>
          </a:prstGeom>
          <a:noFill/>
          <a:ln w="5080">
            <a:solidFill>
              <a:srgbClr val="D9E2EC"/>
            </a:solidFill>
            <a:prstDash val="solid"/>
          </a:ln>
        </p:spPr>
      </p:sp>
      <p:sp>
        <p:nvSpPr>
          <p:cNvPr id="59" name="Text 57"/>
          <p:cNvSpPr/>
          <p:nvPr/>
        </p:nvSpPr>
        <p:spPr>
          <a:xfrm>
            <a:off x="8573414" y="3994265"/>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Schema/table check</a:t>
            </a:r>
            <a:endParaRPr lang="en-US" sz="820" dirty="0"/>
          </a:p>
        </p:txBody>
      </p:sp>
      <p:sp>
        <p:nvSpPr>
          <p:cNvPr id="60" name="Shape 58"/>
          <p:cNvSpPr/>
          <p:nvPr/>
        </p:nvSpPr>
        <p:spPr>
          <a:xfrm>
            <a:off x="11612880" y="3966833"/>
            <a:ext cx="0" cy="444731"/>
          </a:xfrm>
          <a:prstGeom prst="line">
            <a:avLst/>
          </a:prstGeom>
          <a:noFill/>
          <a:ln w="5080">
            <a:solidFill>
              <a:srgbClr val="D9E2EC"/>
            </a:solidFill>
            <a:prstDash val="solid"/>
          </a:ln>
        </p:spPr>
      </p:sp>
      <p:sp>
        <p:nvSpPr>
          <p:cNvPr id="61" name="Shape 59"/>
          <p:cNvSpPr/>
          <p:nvPr/>
        </p:nvSpPr>
        <p:spPr>
          <a:xfrm>
            <a:off x="594360" y="4411564"/>
            <a:ext cx="11018520" cy="444731"/>
          </a:xfrm>
          <a:prstGeom prst="rect">
            <a:avLst/>
          </a:prstGeom>
          <a:solidFill>
            <a:srgbClr val="F7F9FB"/>
          </a:solidFill>
          <a:ln w="5080">
            <a:solidFill>
              <a:srgbClr val="D9E2EC"/>
            </a:solidFill>
            <a:prstDash val="solid"/>
          </a:ln>
        </p:spPr>
      </p:sp>
      <p:sp>
        <p:nvSpPr>
          <p:cNvPr id="62" name="Shape 60"/>
          <p:cNvSpPr/>
          <p:nvPr/>
        </p:nvSpPr>
        <p:spPr>
          <a:xfrm>
            <a:off x="594360" y="4411564"/>
            <a:ext cx="0" cy="444731"/>
          </a:xfrm>
          <a:prstGeom prst="line">
            <a:avLst/>
          </a:prstGeom>
          <a:noFill/>
          <a:ln w="5080">
            <a:solidFill>
              <a:srgbClr val="D9E2EC"/>
            </a:solidFill>
            <a:prstDash val="solid"/>
          </a:ln>
        </p:spPr>
      </p:sp>
      <p:sp>
        <p:nvSpPr>
          <p:cNvPr id="63" name="Text 61"/>
          <p:cNvSpPr/>
          <p:nvPr/>
        </p:nvSpPr>
        <p:spPr>
          <a:xfrm>
            <a:off x="640080" y="4438996"/>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Conciseness</a:t>
            </a:r>
            <a:endParaRPr lang="en-US" sz="820" dirty="0"/>
          </a:p>
        </p:txBody>
      </p:sp>
      <p:sp>
        <p:nvSpPr>
          <p:cNvPr id="64" name="Shape 62"/>
          <p:cNvSpPr/>
          <p:nvPr/>
        </p:nvSpPr>
        <p:spPr>
          <a:xfrm>
            <a:off x="3679546" y="4411564"/>
            <a:ext cx="0" cy="444731"/>
          </a:xfrm>
          <a:prstGeom prst="line">
            <a:avLst/>
          </a:prstGeom>
          <a:noFill/>
          <a:ln w="5080">
            <a:solidFill>
              <a:srgbClr val="D9E2EC"/>
            </a:solidFill>
            <a:prstDash val="solid"/>
          </a:ln>
        </p:spPr>
      </p:sp>
      <p:sp>
        <p:nvSpPr>
          <p:cNvPr id="65" name="Text 63"/>
          <p:cNvSpPr/>
          <p:nvPr/>
        </p:nvSpPr>
        <p:spPr>
          <a:xfrm>
            <a:off x="3725266" y="4438996"/>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Is unnecessary text avoided?</a:t>
            </a:r>
            <a:endParaRPr lang="en-US" sz="820" dirty="0"/>
          </a:p>
        </p:txBody>
      </p:sp>
      <p:sp>
        <p:nvSpPr>
          <p:cNvPr id="66" name="Shape 64"/>
          <p:cNvSpPr/>
          <p:nvPr/>
        </p:nvSpPr>
        <p:spPr>
          <a:xfrm>
            <a:off x="8527694" y="4411564"/>
            <a:ext cx="0" cy="444731"/>
          </a:xfrm>
          <a:prstGeom prst="line">
            <a:avLst/>
          </a:prstGeom>
          <a:noFill/>
          <a:ln w="5080">
            <a:solidFill>
              <a:srgbClr val="D9E2EC"/>
            </a:solidFill>
            <a:prstDash val="solid"/>
          </a:ln>
        </p:spPr>
      </p:sp>
      <p:sp>
        <p:nvSpPr>
          <p:cNvPr id="67" name="Text 65"/>
          <p:cNvSpPr/>
          <p:nvPr/>
        </p:nvSpPr>
        <p:spPr>
          <a:xfrm>
            <a:off x="8573414" y="4438996"/>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Word limit + redundancy</a:t>
            </a:r>
            <a:endParaRPr lang="en-US" sz="820" dirty="0"/>
          </a:p>
        </p:txBody>
      </p:sp>
      <p:sp>
        <p:nvSpPr>
          <p:cNvPr id="68" name="Shape 66"/>
          <p:cNvSpPr/>
          <p:nvPr/>
        </p:nvSpPr>
        <p:spPr>
          <a:xfrm>
            <a:off x="11612880" y="4411564"/>
            <a:ext cx="0" cy="444731"/>
          </a:xfrm>
          <a:prstGeom prst="line">
            <a:avLst/>
          </a:prstGeom>
          <a:noFill/>
          <a:ln w="5080">
            <a:solidFill>
              <a:srgbClr val="D9E2EC"/>
            </a:solidFill>
            <a:prstDash val="solid"/>
          </a:ln>
        </p:spPr>
      </p:sp>
      <p:sp>
        <p:nvSpPr>
          <p:cNvPr id="69" name="Shape 67"/>
          <p:cNvSpPr/>
          <p:nvPr/>
        </p:nvSpPr>
        <p:spPr>
          <a:xfrm>
            <a:off x="594360" y="4856295"/>
            <a:ext cx="11018520" cy="444731"/>
          </a:xfrm>
          <a:prstGeom prst="rect">
            <a:avLst/>
          </a:prstGeom>
          <a:solidFill>
            <a:srgbClr val="FFFFFF"/>
          </a:solidFill>
          <a:ln w="5080">
            <a:solidFill>
              <a:srgbClr val="D9E2EC"/>
            </a:solidFill>
            <a:prstDash val="solid"/>
          </a:ln>
        </p:spPr>
      </p:sp>
      <p:sp>
        <p:nvSpPr>
          <p:cNvPr id="70" name="Shape 68"/>
          <p:cNvSpPr/>
          <p:nvPr/>
        </p:nvSpPr>
        <p:spPr>
          <a:xfrm>
            <a:off x="594360" y="4856295"/>
            <a:ext cx="0" cy="444731"/>
          </a:xfrm>
          <a:prstGeom prst="line">
            <a:avLst/>
          </a:prstGeom>
          <a:noFill/>
          <a:ln w="5080">
            <a:solidFill>
              <a:srgbClr val="D9E2EC"/>
            </a:solidFill>
            <a:prstDash val="solid"/>
          </a:ln>
        </p:spPr>
      </p:sp>
      <p:sp>
        <p:nvSpPr>
          <p:cNvPr id="71" name="Text 69"/>
          <p:cNvSpPr/>
          <p:nvPr/>
        </p:nvSpPr>
        <p:spPr>
          <a:xfrm>
            <a:off x="640080" y="4883727"/>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Tone compliance</a:t>
            </a:r>
            <a:endParaRPr lang="en-US" sz="820" dirty="0"/>
          </a:p>
        </p:txBody>
      </p:sp>
      <p:sp>
        <p:nvSpPr>
          <p:cNvPr id="72" name="Shape 70"/>
          <p:cNvSpPr/>
          <p:nvPr/>
        </p:nvSpPr>
        <p:spPr>
          <a:xfrm>
            <a:off x="3679546" y="4856295"/>
            <a:ext cx="0" cy="444731"/>
          </a:xfrm>
          <a:prstGeom prst="line">
            <a:avLst/>
          </a:prstGeom>
          <a:noFill/>
          <a:ln w="5080">
            <a:solidFill>
              <a:srgbClr val="D9E2EC"/>
            </a:solidFill>
            <a:prstDash val="solid"/>
          </a:ln>
        </p:spPr>
      </p:sp>
      <p:sp>
        <p:nvSpPr>
          <p:cNvPr id="73" name="Text 71"/>
          <p:cNvSpPr/>
          <p:nvPr/>
        </p:nvSpPr>
        <p:spPr>
          <a:xfrm>
            <a:off x="3725266" y="4883727"/>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Is the requested tone maintained?</a:t>
            </a:r>
            <a:endParaRPr lang="en-US" sz="820" dirty="0"/>
          </a:p>
        </p:txBody>
      </p:sp>
      <p:sp>
        <p:nvSpPr>
          <p:cNvPr id="74" name="Shape 72"/>
          <p:cNvSpPr/>
          <p:nvPr/>
        </p:nvSpPr>
        <p:spPr>
          <a:xfrm>
            <a:off x="8527694" y="4856295"/>
            <a:ext cx="0" cy="444731"/>
          </a:xfrm>
          <a:prstGeom prst="line">
            <a:avLst/>
          </a:prstGeom>
          <a:noFill/>
          <a:ln w="5080">
            <a:solidFill>
              <a:srgbClr val="D9E2EC"/>
            </a:solidFill>
            <a:prstDash val="solid"/>
          </a:ln>
        </p:spPr>
      </p:sp>
      <p:sp>
        <p:nvSpPr>
          <p:cNvPr id="75" name="Text 73"/>
          <p:cNvSpPr/>
          <p:nvPr/>
        </p:nvSpPr>
        <p:spPr>
          <a:xfrm>
            <a:off x="8573414" y="4883727"/>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Tone rubric</a:t>
            </a:r>
            <a:endParaRPr lang="en-US" sz="820" dirty="0"/>
          </a:p>
        </p:txBody>
      </p:sp>
      <p:sp>
        <p:nvSpPr>
          <p:cNvPr id="76" name="Shape 74"/>
          <p:cNvSpPr/>
          <p:nvPr/>
        </p:nvSpPr>
        <p:spPr>
          <a:xfrm>
            <a:off x="11612880" y="4856295"/>
            <a:ext cx="0" cy="444731"/>
          </a:xfrm>
          <a:prstGeom prst="line">
            <a:avLst/>
          </a:prstGeom>
          <a:noFill/>
          <a:ln w="5080">
            <a:solidFill>
              <a:srgbClr val="D9E2EC"/>
            </a:solidFill>
            <a:prstDash val="solid"/>
          </a:ln>
        </p:spPr>
      </p:sp>
      <p:sp>
        <p:nvSpPr>
          <p:cNvPr id="77" name="Shape 75"/>
          <p:cNvSpPr/>
          <p:nvPr/>
        </p:nvSpPr>
        <p:spPr>
          <a:xfrm>
            <a:off x="594360" y="5301026"/>
            <a:ext cx="11018520" cy="444731"/>
          </a:xfrm>
          <a:prstGeom prst="rect">
            <a:avLst/>
          </a:prstGeom>
          <a:solidFill>
            <a:srgbClr val="F7F9FB"/>
          </a:solidFill>
          <a:ln w="5080">
            <a:solidFill>
              <a:srgbClr val="D9E2EC"/>
            </a:solidFill>
            <a:prstDash val="solid"/>
          </a:ln>
        </p:spPr>
      </p:sp>
      <p:sp>
        <p:nvSpPr>
          <p:cNvPr id="78" name="Shape 76"/>
          <p:cNvSpPr/>
          <p:nvPr/>
        </p:nvSpPr>
        <p:spPr>
          <a:xfrm>
            <a:off x="594360" y="5301026"/>
            <a:ext cx="0" cy="444731"/>
          </a:xfrm>
          <a:prstGeom prst="line">
            <a:avLst/>
          </a:prstGeom>
          <a:noFill/>
          <a:ln w="5080">
            <a:solidFill>
              <a:srgbClr val="D9E2EC"/>
            </a:solidFill>
            <a:prstDash val="solid"/>
          </a:ln>
        </p:spPr>
      </p:sp>
      <p:sp>
        <p:nvSpPr>
          <p:cNvPr id="79" name="Text 77"/>
          <p:cNvSpPr/>
          <p:nvPr/>
        </p:nvSpPr>
        <p:spPr>
          <a:xfrm>
            <a:off x="640080" y="5328458"/>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Safety</a:t>
            </a:r>
            <a:endParaRPr lang="en-US" sz="820" dirty="0"/>
          </a:p>
        </p:txBody>
      </p:sp>
      <p:sp>
        <p:nvSpPr>
          <p:cNvPr id="80" name="Shape 78"/>
          <p:cNvSpPr/>
          <p:nvPr/>
        </p:nvSpPr>
        <p:spPr>
          <a:xfrm>
            <a:off x="3679546" y="5301026"/>
            <a:ext cx="0" cy="444731"/>
          </a:xfrm>
          <a:prstGeom prst="line">
            <a:avLst/>
          </a:prstGeom>
          <a:noFill/>
          <a:ln w="5080">
            <a:solidFill>
              <a:srgbClr val="D9E2EC"/>
            </a:solidFill>
            <a:prstDash val="solid"/>
          </a:ln>
        </p:spPr>
      </p:sp>
      <p:sp>
        <p:nvSpPr>
          <p:cNvPr id="81" name="Text 79"/>
          <p:cNvSpPr/>
          <p:nvPr/>
        </p:nvSpPr>
        <p:spPr>
          <a:xfrm>
            <a:off x="3725266" y="5328458"/>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Does it avoid risky content?</a:t>
            </a:r>
            <a:endParaRPr lang="en-US" sz="820" dirty="0"/>
          </a:p>
        </p:txBody>
      </p:sp>
      <p:sp>
        <p:nvSpPr>
          <p:cNvPr id="82" name="Shape 80"/>
          <p:cNvSpPr/>
          <p:nvPr/>
        </p:nvSpPr>
        <p:spPr>
          <a:xfrm>
            <a:off x="8527694" y="5301026"/>
            <a:ext cx="0" cy="444731"/>
          </a:xfrm>
          <a:prstGeom prst="line">
            <a:avLst/>
          </a:prstGeom>
          <a:noFill/>
          <a:ln w="5080">
            <a:solidFill>
              <a:srgbClr val="D9E2EC"/>
            </a:solidFill>
            <a:prstDash val="solid"/>
          </a:ln>
        </p:spPr>
      </p:sp>
      <p:sp>
        <p:nvSpPr>
          <p:cNvPr id="83" name="Text 81"/>
          <p:cNvSpPr/>
          <p:nvPr/>
        </p:nvSpPr>
        <p:spPr>
          <a:xfrm>
            <a:off x="8573414" y="5328458"/>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Policy/promise scan</a:t>
            </a:r>
            <a:endParaRPr lang="en-US" sz="820" dirty="0"/>
          </a:p>
        </p:txBody>
      </p:sp>
      <p:sp>
        <p:nvSpPr>
          <p:cNvPr id="84" name="Shape 82"/>
          <p:cNvSpPr/>
          <p:nvPr/>
        </p:nvSpPr>
        <p:spPr>
          <a:xfrm>
            <a:off x="11612880" y="5301026"/>
            <a:ext cx="0" cy="444731"/>
          </a:xfrm>
          <a:prstGeom prst="line">
            <a:avLst/>
          </a:prstGeom>
          <a:noFill/>
          <a:ln w="5080">
            <a:solidFill>
              <a:srgbClr val="D9E2EC"/>
            </a:solidFill>
            <a:prstDash val="solid"/>
          </a:ln>
        </p:spPr>
      </p:sp>
      <p:sp>
        <p:nvSpPr>
          <p:cNvPr id="85" name="Shape 83"/>
          <p:cNvSpPr/>
          <p:nvPr/>
        </p:nvSpPr>
        <p:spPr>
          <a:xfrm>
            <a:off x="594360" y="5745757"/>
            <a:ext cx="11018520" cy="444731"/>
          </a:xfrm>
          <a:prstGeom prst="rect">
            <a:avLst/>
          </a:prstGeom>
          <a:solidFill>
            <a:srgbClr val="FFFFFF"/>
          </a:solidFill>
          <a:ln w="5080">
            <a:solidFill>
              <a:srgbClr val="D9E2EC"/>
            </a:solidFill>
            <a:prstDash val="solid"/>
          </a:ln>
        </p:spPr>
      </p:sp>
      <p:sp>
        <p:nvSpPr>
          <p:cNvPr id="86" name="Shape 84"/>
          <p:cNvSpPr/>
          <p:nvPr/>
        </p:nvSpPr>
        <p:spPr>
          <a:xfrm>
            <a:off x="594360" y="5745757"/>
            <a:ext cx="0" cy="444731"/>
          </a:xfrm>
          <a:prstGeom prst="line">
            <a:avLst/>
          </a:prstGeom>
          <a:noFill/>
          <a:ln w="5080">
            <a:solidFill>
              <a:srgbClr val="D9E2EC"/>
            </a:solidFill>
            <a:prstDash val="solid"/>
          </a:ln>
        </p:spPr>
      </p:sp>
      <p:sp>
        <p:nvSpPr>
          <p:cNvPr id="87" name="Text 85"/>
          <p:cNvSpPr/>
          <p:nvPr/>
        </p:nvSpPr>
        <p:spPr>
          <a:xfrm>
            <a:off x="640080" y="5773189"/>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Hallucination rate</a:t>
            </a:r>
            <a:endParaRPr lang="en-US" sz="820" dirty="0"/>
          </a:p>
        </p:txBody>
      </p:sp>
      <p:sp>
        <p:nvSpPr>
          <p:cNvPr id="88" name="Shape 86"/>
          <p:cNvSpPr/>
          <p:nvPr/>
        </p:nvSpPr>
        <p:spPr>
          <a:xfrm>
            <a:off x="3679546" y="5745757"/>
            <a:ext cx="0" cy="444731"/>
          </a:xfrm>
          <a:prstGeom prst="line">
            <a:avLst/>
          </a:prstGeom>
          <a:noFill/>
          <a:ln w="5080">
            <a:solidFill>
              <a:srgbClr val="D9E2EC"/>
            </a:solidFill>
            <a:prstDash val="solid"/>
          </a:ln>
        </p:spPr>
      </p:sp>
      <p:sp>
        <p:nvSpPr>
          <p:cNvPr id="89" name="Text 87"/>
          <p:cNvSpPr/>
          <p:nvPr/>
        </p:nvSpPr>
        <p:spPr>
          <a:xfrm>
            <a:off x="3725266" y="5773189"/>
            <a:ext cx="4756709"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How much is unsupported?</a:t>
            </a:r>
            <a:endParaRPr lang="en-US" sz="820" dirty="0"/>
          </a:p>
        </p:txBody>
      </p:sp>
      <p:sp>
        <p:nvSpPr>
          <p:cNvPr id="90" name="Shape 88"/>
          <p:cNvSpPr/>
          <p:nvPr/>
        </p:nvSpPr>
        <p:spPr>
          <a:xfrm>
            <a:off x="8527694" y="5745757"/>
            <a:ext cx="0" cy="444731"/>
          </a:xfrm>
          <a:prstGeom prst="line">
            <a:avLst/>
          </a:prstGeom>
          <a:noFill/>
          <a:ln w="5080">
            <a:solidFill>
              <a:srgbClr val="D9E2EC"/>
            </a:solidFill>
            <a:prstDash val="solid"/>
          </a:ln>
        </p:spPr>
      </p:sp>
      <p:sp>
        <p:nvSpPr>
          <p:cNvPr id="91" name="Text 89"/>
          <p:cNvSpPr/>
          <p:nvPr/>
        </p:nvSpPr>
        <p:spPr>
          <a:xfrm>
            <a:off x="8573414" y="5773189"/>
            <a:ext cx="2993746" cy="389867"/>
          </a:xfrm>
          <a:prstGeom prst="rect">
            <a:avLst/>
          </a:prstGeom>
          <a:noFill/>
          <a:ln/>
        </p:spPr>
        <p:txBody>
          <a:bodyPr wrap="square" lIns="127" tIns="127" rIns="127" bIns="127" rtlCol="0" anchor="ctr">
            <a:normAutofit/>
          </a:bodyPr>
          <a:lstStyle/>
          <a:p>
            <a:pPr indent="0" marL="0">
              <a:buNone/>
            </a:pPr>
            <a:r>
              <a:rPr lang="en-US" sz="820" dirty="0">
                <a:solidFill>
                  <a:srgbClr val="0B1420"/>
                </a:solidFill>
              </a:rPr>
              <a:t>Unsupported claims / total claims</a:t>
            </a:r>
            <a:endParaRPr lang="en-US" sz="820" dirty="0"/>
          </a:p>
        </p:txBody>
      </p:sp>
      <p:sp>
        <p:nvSpPr>
          <p:cNvPr id="92" name="Shape 90"/>
          <p:cNvSpPr/>
          <p:nvPr/>
        </p:nvSpPr>
        <p:spPr>
          <a:xfrm>
            <a:off x="11612880" y="5745757"/>
            <a:ext cx="0" cy="444731"/>
          </a:xfrm>
          <a:prstGeom prst="line">
            <a:avLst/>
          </a:prstGeom>
          <a:noFill/>
          <a:ln w="5080">
            <a:solidFill>
              <a:srgbClr val="D9E2EC"/>
            </a:solidFill>
            <a:prstDash val="solid"/>
          </a:ln>
        </p:spPr>
      </p:sp>
      <p:sp>
        <p:nvSpPr>
          <p:cNvPr id="93" name="Text 91"/>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Running example: complaint response quality</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The prompt must include input, candidate output, and measurable test criteria.</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325880"/>
            <a:ext cx="5440680" cy="4251960"/>
          </a:xfrm>
          <a:prstGeom prst="roundRect">
            <a:avLst>
              <a:gd name="adj" fmla="val 1290"/>
            </a:avLst>
          </a:prstGeom>
          <a:solidFill>
            <a:srgbClr val="F8FAFC"/>
          </a:solidFill>
          <a:ln w="12700">
            <a:solidFill>
              <a:srgbClr val="D8DEE8"/>
            </a:solidFill>
            <a:prstDash val="solid"/>
          </a:ln>
        </p:spPr>
      </p:sp>
      <p:sp>
        <p:nvSpPr>
          <p:cNvPr id="6" name="Text 4"/>
          <p:cNvSpPr/>
          <p:nvPr/>
        </p:nvSpPr>
        <p:spPr>
          <a:xfrm>
            <a:off x="749808" y="1435608"/>
            <a:ext cx="5221224" cy="4032504"/>
          </a:xfrm>
          <a:prstGeom prst="rect">
            <a:avLst/>
          </a:prstGeom>
          <a:noFill/>
          <a:ln/>
        </p:spPr>
        <p:txBody>
          <a:bodyPr wrap="square" lIns="254" tIns="254" rIns="254" bIns="254" rtlCol="0" anchor="ctr">
            <a:normAutofit/>
          </a:bodyPr>
          <a:lstStyle/>
          <a:p>
            <a:pPr indent="0" marL="0">
              <a:buNone/>
            </a:pPr>
            <a:r>
              <a:rPr lang="en-US" sz="920" dirty="0">
                <a:solidFill>
                  <a:srgbClr val="0B1420"/>
                </a:solidFill>
                <a:latin typeface="Cascadia Mono" pitchFamily="34" charset="0"/>
                <a:ea typeface="Cascadia Mono" pitchFamily="34" charset="-122"/>
                <a:cs typeface="Cascadia Mono" pitchFamily="34" charset="-120"/>
              </a:rPr>
              <a:t>INPUT SUMMARY</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Customer: Daniel Morgan</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Issue: Unrecognized $846.75 transaction from BrightHome Electronics</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Case: SYF-DEMO-10482</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Dispute status: Open</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Previous contacts: 3</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Temporary credit: Not confirmed</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Payment guidance: Not available</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Completion date: Not available</a:t>
            </a:r>
            <a:endParaRPr lang="en-US" sz="920" dirty="0"/>
          </a:p>
          <a:p>
            <a:pPr indent="0" marL="0">
              <a:buNone/>
            </a:pPr>
            <a:r>
              <a:rPr lang="en-US" sz="920" dirty="0">
                <a:solidFill>
                  <a:srgbClr val="0B1420"/>
                </a:solidFill>
                <a:latin typeface="Cascadia Mono" pitchFamily="34" charset="0"/>
                <a:ea typeface="Cascadia Mono" pitchFamily="34" charset="-122"/>
                <a:cs typeface="Cascadia Mono" pitchFamily="34" charset="-120"/>
              </a:rPr>
              <a:t>Risk: external escalation + public complaint threat</a:t>
            </a:r>
            <a:endParaRPr lang="en-US" sz="920" dirty="0"/>
          </a:p>
        </p:txBody>
      </p:sp>
      <p:sp>
        <p:nvSpPr>
          <p:cNvPr id="7" name="Shape 5"/>
          <p:cNvSpPr/>
          <p:nvPr/>
        </p:nvSpPr>
        <p:spPr>
          <a:xfrm>
            <a:off x="6400800" y="1325880"/>
            <a:ext cx="5120640" cy="2194560"/>
          </a:xfrm>
          <a:prstGeom prst="roundRect">
            <a:avLst>
              <a:gd name="adj" fmla="val 2500"/>
            </a:avLst>
          </a:prstGeom>
          <a:solidFill>
            <a:srgbClr val="F8FAFC"/>
          </a:solidFill>
          <a:ln w="12700">
            <a:solidFill>
              <a:srgbClr val="D8DEE8"/>
            </a:solidFill>
            <a:prstDash val="solid"/>
          </a:ln>
        </p:spPr>
      </p:sp>
      <p:sp>
        <p:nvSpPr>
          <p:cNvPr id="8" name="Text 6"/>
          <p:cNvSpPr/>
          <p:nvPr/>
        </p:nvSpPr>
        <p:spPr>
          <a:xfrm>
            <a:off x="6510528" y="1435608"/>
            <a:ext cx="4901184" cy="1975104"/>
          </a:xfrm>
          <a:prstGeom prst="rect">
            <a:avLst/>
          </a:prstGeom>
          <a:noFill/>
          <a:ln/>
        </p:spPr>
        <p:txBody>
          <a:bodyPr wrap="square" lIns="254" tIns="254" rIns="254" bIns="254" rtlCol="0" anchor="ctr">
            <a:normAutofit/>
          </a:bodyPr>
          <a:lstStyle/>
          <a:p>
            <a:pPr indent="0" marL="0">
              <a:buNone/>
            </a:pPr>
            <a:r>
              <a:rPr lang="en-US" sz="1050" dirty="0">
                <a:solidFill>
                  <a:srgbClr val="0B1420"/>
                </a:solidFill>
                <a:latin typeface="Cascadia Mono" pitchFamily="34" charset="0"/>
                <a:ea typeface="Cascadia Mono" pitchFamily="34" charset="-122"/>
                <a:cs typeface="Cascadia Mono" pitchFamily="34" charset="-120"/>
              </a:rPr>
              <a:t>CANDIDATE OUTPUT TO TEST</a:t>
            </a:r>
            <a:endParaRPr lang="en-US" sz="1050" dirty="0"/>
          </a:p>
          <a:p>
            <a:pPr indent="0" marL="0">
              <a:buNone/>
            </a:pPr>
            <a:r>
              <a:rPr lang="en-US" sz="1050" dirty="0">
                <a:solidFill>
                  <a:srgbClr val="0B1420"/>
                </a:solidFill>
                <a:latin typeface="Cascadia Mono" pitchFamily="34" charset="0"/>
                <a:ea typeface="Cascadia Mono" pitchFamily="34" charset="-122"/>
                <a:cs typeface="Cascadia Mono" pitchFamily="34" charset="-120"/>
              </a:rPr>
              <a:t>Dear Daniel, your dispute has been approved. You do not need to pay the disputed amount. A temporary credit will be applied within 24 hours. The investigation will be completed in five business days.</a:t>
            </a:r>
            <a:endParaRPr lang="en-US" sz="1050" dirty="0"/>
          </a:p>
          <a:p>
            <a:pPr indent="0" marL="0">
              <a:buNone/>
            </a:pPr>
            <a:endParaRPr lang="en-US" sz="1050" dirty="0"/>
          </a:p>
          <a:p>
            <a:pPr indent="0" marL="0">
              <a:buNone/>
            </a:pPr>
            <a:r>
              <a:rPr lang="en-US" sz="1050" dirty="0">
                <a:solidFill>
                  <a:srgbClr val="0B1420"/>
                </a:solidFill>
                <a:latin typeface="Cascadia Mono" pitchFamily="34" charset="0"/>
                <a:ea typeface="Cascadia Mono" pitchFamily="34" charset="-122"/>
                <a:cs typeface="Cascadia Mono" pitchFamily="34" charset="-120"/>
              </a:rPr>
              <a:t>Thank you,</a:t>
            </a:r>
            <a:endParaRPr lang="en-US" sz="1050" dirty="0"/>
          </a:p>
          <a:p>
            <a:pPr indent="0" marL="0">
              <a:buNone/>
            </a:pPr>
            <a:r>
              <a:rPr lang="en-US" sz="1050" dirty="0">
                <a:solidFill>
                  <a:srgbClr val="0B1420"/>
                </a:solidFill>
                <a:latin typeface="Cascadia Mono" pitchFamily="34" charset="0"/>
                <a:ea typeface="Cascadia Mono" pitchFamily="34" charset="-122"/>
                <a:cs typeface="Cascadia Mono" pitchFamily="34" charset="-120"/>
              </a:rPr>
              <a:t>Customer Support</a:t>
            </a:r>
            <a:endParaRPr lang="en-US" sz="1050" dirty="0"/>
          </a:p>
        </p:txBody>
      </p:sp>
      <p:sp>
        <p:nvSpPr>
          <p:cNvPr id="9" name="Shape 7"/>
          <p:cNvSpPr/>
          <p:nvPr/>
        </p:nvSpPr>
        <p:spPr>
          <a:xfrm>
            <a:off x="6400800" y="3886200"/>
            <a:ext cx="5120640" cy="1691640"/>
          </a:xfrm>
          <a:prstGeom prst="roundRect">
            <a:avLst>
              <a:gd name="adj" fmla="val 4324"/>
            </a:avLst>
          </a:prstGeom>
          <a:solidFill>
            <a:srgbClr val="FFF1F1"/>
          </a:solidFill>
          <a:ln w="12700">
            <a:solidFill>
              <a:srgbClr val="D9E2EC"/>
            </a:solidFill>
            <a:prstDash val="solid"/>
          </a:ln>
        </p:spPr>
      </p:sp>
      <p:sp>
        <p:nvSpPr>
          <p:cNvPr id="10" name="Text 8"/>
          <p:cNvSpPr/>
          <p:nvPr/>
        </p:nvSpPr>
        <p:spPr>
          <a:xfrm>
            <a:off x="6565392" y="4032504"/>
            <a:ext cx="479145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Expected review</a:t>
            </a:r>
            <a:endParaRPr lang="en-US" sz="1200" dirty="0"/>
          </a:p>
        </p:txBody>
      </p:sp>
      <p:sp>
        <p:nvSpPr>
          <p:cNvPr id="11" name="Text 9"/>
          <p:cNvSpPr/>
          <p:nvPr/>
        </p:nvSpPr>
        <p:spPr>
          <a:xfrm>
            <a:off x="6565392" y="4343400"/>
            <a:ext cx="4791456" cy="10972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This candidate should fail because it invents approval, payment guidance, temporary credit, and timeline.</a:t>
            </a:r>
            <a:endParaRPr lang="en-US" sz="960" dirty="0"/>
          </a:p>
        </p:txBody>
      </p:sp>
      <p:sp>
        <p:nvSpPr>
          <p:cNvPr id="12" name="Text 10"/>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Evaluation prompt anatomy</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A strong evaluation prompt has all three: criteria, evidence, and output to test.</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325880"/>
            <a:ext cx="3246120" cy="1115568"/>
          </a:xfrm>
          <a:prstGeom prst="roundRect">
            <a:avLst>
              <a:gd name="adj" fmla="val 6557"/>
            </a:avLst>
          </a:prstGeom>
          <a:solidFill>
            <a:srgbClr val="F7F9FB"/>
          </a:solidFill>
          <a:ln w="12700">
            <a:solidFill>
              <a:srgbClr val="D9E2EC"/>
            </a:solidFill>
            <a:prstDash val="solid"/>
          </a:ln>
        </p:spPr>
      </p:sp>
      <p:sp>
        <p:nvSpPr>
          <p:cNvPr id="6" name="Text 4"/>
          <p:cNvSpPr/>
          <p:nvPr/>
        </p:nvSpPr>
        <p:spPr>
          <a:xfrm>
            <a:off x="804672" y="147218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1. Evaluation role</a:t>
            </a:r>
            <a:endParaRPr lang="en-US" sz="1200" dirty="0"/>
          </a:p>
        </p:txBody>
      </p:sp>
      <p:sp>
        <p:nvSpPr>
          <p:cNvPr id="7" name="Text 5"/>
          <p:cNvSpPr/>
          <p:nvPr/>
        </p:nvSpPr>
        <p:spPr>
          <a:xfrm>
            <a:off x="804672" y="1783080"/>
            <a:ext cx="2916936" cy="521208"/>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Act as a strict quality reviewer for financial-services customer communication.</a:t>
            </a:r>
            <a:endParaRPr lang="en-US" sz="960" dirty="0"/>
          </a:p>
        </p:txBody>
      </p:sp>
      <p:sp>
        <p:nvSpPr>
          <p:cNvPr id="8" name="Shape 6"/>
          <p:cNvSpPr/>
          <p:nvPr/>
        </p:nvSpPr>
        <p:spPr>
          <a:xfrm>
            <a:off x="4462272" y="1325880"/>
            <a:ext cx="3246120" cy="1115568"/>
          </a:xfrm>
          <a:prstGeom prst="roundRect">
            <a:avLst>
              <a:gd name="adj" fmla="val 6557"/>
            </a:avLst>
          </a:prstGeom>
          <a:solidFill>
            <a:srgbClr val="EAF7F7"/>
          </a:solidFill>
          <a:ln w="12700">
            <a:solidFill>
              <a:srgbClr val="D9E2EC"/>
            </a:solidFill>
            <a:prstDash val="solid"/>
          </a:ln>
        </p:spPr>
      </p:sp>
      <p:sp>
        <p:nvSpPr>
          <p:cNvPr id="9" name="Text 7"/>
          <p:cNvSpPr/>
          <p:nvPr/>
        </p:nvSpPr>
        <p:spPr>
          <a:xfrm>
            <a:off x="4626864" y="147218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2. Metrics</a:t>
            </a:r>
            <a:endParaRPr lang="en-US" sz="1200" dirty="0"/>
          </a:p>
        </p:txBody>
      </p:sp>
      <p:sp>
        <p:nvSpPr>
          <p:cNvPr id="10" name="Text 8"/>
          <p:cNvSpPr/>
          <p:nvPr/>
        </p:nvSpPr>
        <p:spPr>
          <a:xfrm>
            <a:off x="4626864" y="1783080"/>
            <a:ext cx="2916936" cy="521208"/>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Score accuracy, relevance, completeness, groundedness, consistency, format, conciseness, tone, safety, hallucination rate.</a:t>
            </a:r>
            <a:endParaRPr lang="en-US" sz="960" dirty="0"/>
          </a:p>
        </p:txBody>
      </p:sp>
      <p:sp>
        <p:nvSpPr>
          <p:cNvPr id="11" name="Shape 9"/>
          <p:cNvSpPr/>
          <p:nvPr/>
        </p:nvSpPr>
        <p:spPr>
          <a:xfrm>
            <a:off x="8275320" y="1325880"/>
            <a:ext cx="3063240" cy="1115568"/>
          </a:xfrm>
          <a:prstGeom prst="roundRect">
            <a:avLst>
              <a:gd name="adj" fmla="val 6557"/>
            </a:avLst>
          </a:prstGeom>
          <a:solidFill>
            <a:srgbClr val="FFF8EA"/>
          </a:solidFill>
          <a:ln w="12700">
            <a:solidFill>
              <a:srgbClr val="D9E2EC"/>
            </a:solidFill>
            <a:prstDash val="solid"/>
          </a:ln>
        </p:spPr>
      </p:sp>
      <p:sp>
        <p:nvSpPr>
          <p:cNvPr id="12" name="Text 10"/>
          <p:cNvSpPr/>
          <p:nvPr/>
        </p:nvSpPr>
        <p:spPr>
          <a:xfrm>
            <a:off x="8439912" y="1472184"/>
            <a:ext cx="273405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3. Evidence</a:t>
            </a:r>
            <a:endParaRPr lang="en-US" sz="1200" dirty="0"/>
          </a:p>
        </p:txBody>
      </p:sp>
      <p:sp>
        <p:nvSpPr>
          <p:cNvPr id="13" name="Text 11"/>
          <p:cNvSpPr/>
          <p:nvPr/>
        </p:nvSpPr>
        <p:spPr>
          <a:xfrm>
            <a:off x="8439912" y="1783080"/>
            <a:ext cx="2734056" cy="521208"/>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Verified complaint facts and internal notes. The model must test against these only.</a:t>
            </a:r>
            <a:endParaRPr lang="en-US" sz="960" dirty="0"/>
          </a:p>
        </p:txBody>
      </p:sp>
      <p:sp>
        <p:nvSpPr>
          <p:cNvPr id="14" name="Shape 12"/>
          <p:cNvSpPr/>
          <p:nvPr/>
        </p:nvSpPr>
        <p:spPr>
          <a:xfrm>
            <a:off x="685800" y="2971800"/>
            <a:ext cx="10607040" cy="2286000"/>
          </a:xfrm>
          <a:prstGeom prst="roundRect">
            <a:avLst>
              <a:gd name="adj" fmla="val 2400"/>
            </a:avLst>
          </a:prstGeom>
          <a:solidFill>
            <a:srgbClr val="F8FAFC"/>
          </a:solidFill>
          <a:ln w="12700">
            <a:solidFill>
              <a:srgbClr val="D8DEE8"/>
            </a:solidFill>
            <a:prstDash val="solid"/>
          </a:ln>
        </p:spPr>
      </p:sp>
      <p:sp>
        <p:nvSpPr>
          <p:cNvPr id="15" name="Text 13"/>
          <p:cNvSpPr/>
          <p:nvPr/>
        </p:nvSpPr>
        <p:spPr>
          <a:xfrm>
            <a:off x="795528" y="3081528"/>
            <a:ext cx="10387584" cy="2066544"/>
          </a:xfrm>
          <a:prstGeom prst="rect">
            <a:avLst/>
          </a:prstGeom>
          <a:noFill/>
          <a:ln/>
        </p:spPr>
        <p:txBody>
          <a:bodyPr wrap="square" lIns="254" tIns="254" rIns="254" bIns="254" rtlCol="0" anchor="ctr">
            <a:normAutofit/>
          </a:bodyPr>
          <a:lstStyle/>
          <a:p>
            <a:pPr indent="0" marL="0">
              <a:buNone/>
            </a:pPr>
            <a:r>
              <a:rPr lang="en-US" sz="1200" dirty="0">
                <a:solidFill>
                  <a:srgbClr val="0B1420"/>
                </a:solidFill>
                <a:latin typeface="Cascadia Mono" pitchFamily="34" charset="0"/>
                <a:ea typeface="Cascadia Mono" pitchFamily="34" charset="-122"/>
                <a:cs typeface="Cascadia Mono" pitchFamily="34" charset="-120"/>
              </a:rPr>
              <a:t>PROMPT PATTERN</a:t>
            </a:r>
            <a:endParaRPr lang="en-US" sz="1200" dirty="0"/>
          </a:p>
          <a:p>
            <a:pPr indent="0" marL="0">
              <a:buNone/>
            </a:pPr>
            <a:r>
              <a:rPr lang="en-US" sz="1200" dirty="0">
                <a:solidFill>
                  <a:srgbClr val="0B1420"/>
                </a:solidFill>
                <a:latin typeface="Cascadia Mono" pitchFamily="34" charset="0"/>
                <a:ea typeface="Cascadia Mono" pitchFamily="34" charset="-122"/>
                <a:cs typeface="Cascadia Mono" pitchFamily="34" charset="-120"/>
              </a:rPr>
              <a:t>Evaluate the candidate response against the verified facts.</a:t>
            </a:r>
            <a:endParaRPr lang="en-US" sz="1200" dirty="0"/>
          </a:p>
          <a:p>
            <a:pPr indent="0" marL="0">
              <a:buNone/>
            </a:pPr>
            <a:r>
              <a:rPr lang="en-US" sz="1200" dirty="0">
                <a:solidFill>
                  <a:srgbClr val="0B1420"/>
                </a:solidFill>
                <a:latin typeface="Cascadia Mono" pitchFamily="34" charset="0"/>
                <a:ea typeface="Cascadia Mono" pitchFamily="34" charset="-122"/>
                <a:cs typeface="Cascadia Mono" pitchFamily="34" charset="-120"/>
              </a:rPr>
              <a:t>Return a scorecard from 1-5 for each metric.</a:t>
            </a:r>
            <a:endParaRPr lang="en-US" sz="1200" dirty="0"/>
          </a:p>
          <a:p>
            <a:pPr indent="0" marL="0">
              <a:buNone/>
            </a:pPr>
            <a:r>
              <a:rPr lang="en-US" sz="1200" dirty="0">
                <a:solidFill>
                  <a:srgbClr val="0B1420"/>
                </a:solidFill>
                <a:latin typeface="Cascadia Mono" pitchFamily="34" charset="0"/>
                <a:ea typeface="Cascadia Mono" pitchFamily="34" charset="-122"/>
                <a:cs typeface="Cascadia Mono" pitchFamily="34" charset="-120"/>
              </a:rPr>
              <a:t>Identify unsupported claims, missing required points, tone issues, and safety risks.</a:t>
            </a:r>
            <a:endParaRPr lang="en-US" sz="1200" dirty="0"/>
          </a:p>
          <a:p>
            <a:pPr indent="0" marL="0">
              <a:buNone/>
            </a:pPr>
            <a:r>
              <a:rPr lang="en-US" sz="1200" dirty="0">
                <a:solidFill>
                  <a:srgbClr val="0B1420"/>
                </a:solidFill>
                <a:latin typeface="Cascadia Mono" pitchFamily="34" charset="0"/>
                <a:ea typeface="Cascadia Mono" pitchFamily="34" charset="-122"/>
                <a:cs typeface="Cascadia Mono" pitchFamily="34" charset="-120"/>
              </a:rPr>
              <a:t>Return Pass, Revise, or Reject with reasons.</a:t>
            </a:r>
            <a:endParaRPr lang="en-US" sz="1200" dirty="0"/>
          </a:p>
        </p:txBody>
      </p:sp>
      <p:sp>
        <p:nvSpPr>
          <p:cNvPr id="16" name="Text 14"/>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Metrics 1-4: truth and usefulness</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These metrics determine whether the response is correct and useful.</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371600"/>
            <a:ext cx="2651760" cy="4206240"/>
          </a:xfrm>
          <a:prstGeom prst="roundRect">
            <a:avLst>
              <a:gd name="adj" fmla="val 2759"/>
            </a:avLst>
          </a:prstGeom>
          <a:solidFill>
            <a:srgbClr val="F7F9FB"/>
          </a:solidFill>
          <a:ln w="12700">
            <a:solidFill>
              <a:srgbClr val="D9E2EC"/>
            </a:solidFill>
            <a:prstDash val="solid"/>
          </a:ln>
        </p:spPr>
      </p:sp>
      <p:sp>
        <p:nvSpPr>
          <p:cNvPr id="6" name="Text 4"/>
          <p:cNvSpPr/>
          <p:nvPr/>
        </p:nvSpPr>
        <p:spPr>
          <a:xfrm>
            <a:off x="804672" y="1517904"/>
            <a:ext cx="23225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Accuracy</a:t>
            </a:r>
            <a:endParaRPr lang="en-US" sz="1200" dirty="0"/>
          </a:p>
        </p:txBody>
      </p:sp>
      <p:sp>
        <p:nvSpPr>
          <p:cNvPr id="7" name="Text 5"/>
          <p:cNvSpPr/>
          <p:nvPr/>
        </p:nvSpPr>
        <p:spPr>
          <a:xfrm>
            <a:off x="804672" y="1828800"/>
            <a:ext cx="2322576" cy="36118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Test: Does every factual statement match verified data?</a:t>
            </a:r>
            <a:endParaRPr lang="en-US" sz="960" dirty="0"/>
          </a:p>
          <a:p>
            <a:pPr indent="0" marL="0">
              <a:buNone/>
            </a:pPr>
            <a:r>
              <a:rPr lang="en-US" sz="960" dirty="0">
                <a:solidFill>
                  <a:srgbClr val="0B1420"/>
                </a:solidFill>
              </a:rPr>
              <a:t>Fail example: "dispute approved" when status is only Open.</a:t>
            </a:r>
            <a:endParaRPr lang="en-US" sz="960" dirty="0"/>
          </a:p>
        </p:txBody>
      </p:sp>
      <p:sp>
        <p:nvSpPr>
          <p:cNvPr id="8" name="Shape 6"/>
          <p:cNvSpPr/>
          <p:nvPr/>
        </p:nvSpPr>
        <p:spPr>
          <a:xfrm>
            <a:off x="3520440" y="1371600"/>
            <a:ext cx="2651760" cy="4206240"/>
          </a:xfrm>
          <a:prstGeom prst="roundRect">
            <a:avLst>
              <a:gd name="adj" fmla="val 2759"/>
            </a:avLst>
          </a:prstGeom>
          <a:solidFill>
            <a:srgbClr val="F7F9FB"/>
          </a:solidFill>
          <a:ln w="12700">
            <a:solidFill>
              <a:srgbClr val="D9E2EC"/>
            </a:solidFill>
            <a:prstDash val="solid"/>
          </a:ln>
        </p:spPr>
      </p:sp>
      <p:sp>
        <p:nvSpPr>
          <p:cNvPr id="9" name="Text 7"/>
          <p:cNvSpPr/>
          <p:nvPr/>
        </p:nvSpPr>
        <p:spPr>
          <a:xfrm>
            <a:off x="3685032" y="1517904"/>
            <a:ext cx="23225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Relevance</a:t>
            </a:r>
            <a:endParaRPr lang="en-US" sz="1200" dirty="0"/>
          </a:p>
        </p:txBody>
      </p:sp>
      <p:sp>
        <p:nvSpPr>
          <p:cNvPr id="10" name="Text 8"/>
          <p:cNvSpPr/>
          <p:nvPr/>
        </p:nvSpPr>
        <p:spPr>
          <a:xfrm>
            <a:off x="3685032" y="1828800"/>
            <a:ext cx="2322576" cy="36118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Test: Does it answer the customer request?</a:t>
            </a:r>
            <a:endParaRPr lang="en-US" sz="960" dirty="0"/>
          </a:p>
          <a:p>
            <a:pPr indent="0" marL="0">
              <a:buNone/>
            </a:pPr>
            <a:r>
              <a:rPr lang="en-US" sz="960" dirty="0">
                <a:solidFill>
                  <a:srgbClr val="0B1420"/>
                </a:solidFill>
              </a:rPr>
              <a:t>Must address dispute status, payment question, update request, and escalation concern.</a:t>
            </a:r>
            <a:endParaRPr lang="en-US" sz="960" dirty="0"/>
          </a:p>
        </p:txBody>
      </p:sp>
      <p:sp>
        <p:nvSpPr>
          <p:cNvPr id="11" name="Shape 9"/>
          <p:cNvSpPr/>
          <p:nvPr/>
        </p:nvSpPr>
        <p:spPr>
          <a:xfrm>
            <a:off x="6400800" y="1371600"/>
            <a:ext cx="2651760" cy="4206240"/>
          </a:xfrm>
          <a:prstGeom prst="roundRect">
            <a:avLst>
              <a:gd name="adj" fmla="val 2759"/>
            </a:avLst>
          </a:prstGeom>
          <a:solidFill>
            <a:srgbClr val="F7F9FB"/>
          </a:solidFill>
          <a:ln w="12700">
            <a:solidFill>
              <a:srgbClr val="D9E2EC"/>
            </a:solidFill>
            <a:prstDash val="solid"/>
          </a:ln>
        </p:spPr>
      </p:sp>
      <p:sp>
        <p:nvSpPr>
          <p:cNvPr id="12" name="Text 10"/>
          <p:cNvSpPr/>
          <p:nvPr/>
        </p:nvSpPr>
        <p:spPr>
          <a:xfrm>
            <a:off x="6565392" y="1517904"/>
            <a:ext cx="23225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Completeness</a:t>
            </a:r>
            <a:endParaRPr lang="en-US" sz="1200" dirty="0"/>
          </a:p>
        </p:txBody>
      </p:sp>
      <p:sp>
        <p:nvSpPr>
          <p:cNvPr id="13" name="Text 11"/>
          <p:cNvSpPr/>
          <p:nvPr/>
        </p:nvSpPr>
        <p:spPr>
          <a:xfrm>
            <a:off x="6565392" y="1828800"/>
            <a:ext cx="2322576" cy="36118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Test: Are all required points covered?</a:t>
            </a:r>
            <a:endParaRPr lang="en-US" sz="960" dirty="0"/>
          </a:p>
          <a:p>
            <a:pPr indent="0" marL="0">
              <a:buNone/>
            </a:pPr>
            <a:r>
              <a:rPr lang="en-US" sz="960" dirty="0">
                <a:solidFill>
                  <a:srgbClr val="0B1420"/>
                </a:solidFill>
              </a:rPr>
              <a:t>Use a checklist: acknowledge, status, missing guidance, human review, no promises.</a:t>
            </a:r>
            <a:endParaRPr lang="en-US" sz="960" dirty="0"/>
          </a:p>
        </p:txBody>
      </p:sp>
      <p:sp>
        <p:nvSpPr>
          <p:cNvPr id="14" name="Shape 12"/>
          <p:cNvSpPr/>
          <p:nvPr/>
        </p:nvSpPr>
        <p:spPr>
          <a:xfrm>
            <a:off x="9281160" y="1371600"/>
            <a:ext cx="2240280" cy="4206240"/>
          </a:xfrm>
          <a:prstGeom prst="roundRect">
            <a:avLst>
              <a:gd name="adj" fmla="val 3265"/>
            </a:avLst>
          </a:prstGeom>
          <a:solidFill>
            <a:srgbClr val="F7F9FB"/>
          </a:solidFill>
          <a:ln w="12700">
            <a:solidFill>
              <a:srgbClr val="D9E2EC"/>
            </a:solidFill>
            <a:prstDash val="solid"/>
          </a:ln>
        </p:spPr>
      </p:sp>
      <p:sp>
        <p:nvSpPr>
          <p:cNvPr id="15" name="Text 13"/>
          <p:cNvSpPr/>
          <p:nvPr/>
        </p:nvSpPr>
        <p:spPr>
          <a:xfrm>
            <a:off x="9445752" y="1517904"/>
            <a:ext cx="19110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Groundedness</a:t>
            </a:r>
            <a:endParaRPr lang="en-US" sz="1200" dirty="0"/>
          </a:p>
        </p:txBody>
      </p:sp>
      <p:sp>
        <p:nvSpPr>
          <p:cNvPr id="16" name="Text 14"/>
          <p:cNvSpPr/>
          <p:nvPr/>
        </p:nvSpPr>
        <p:spPr>
          <a:xfrm>
            <a:off x="9445752" y="1828800"/>
            <a:ext cx="1911096" cy="36118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Test: Can each claim be traced to provided source?</a:t>
            </a:r>
            <a:endParaRPr lang="en-US" sz="960" dirty="0"/>
          </a:p>
          <a:p>
            <a:pPr indent="0" marL="0">
              <a:buNone/>
            </a:pPr>
            <a:r>
              <a:rPr lang="en-US" sz="960" dirty="0">
                <a:solidFill>
                  <a:srgbClr val="0B1420"/>
                </a:solidFill>
              </a:rPr>
              <a:t>Unsupported claims are counted as hallucinations.</a:t>
            </a:r>
            <a:endParaRPr lang="en-US" sz="960" dirty="0"/>
          </a:p>
        </p:txBody>
      </p:sp>
      <p:sp>
        <p:nvSpPr>
          <p:cNvPr id="17" name="Text 15"/>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Metrics 5-7: repeatability and structure</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These metrics help compare prompt versions and control output shape.</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463040"/>
            <a:ext cx="3246120" cy="3520440"/>
          </a:xfrm>
          <a:prstGeom prst="roundRect">
            <a:avLst>
              <a:gd name="adj" fmla="val 2254"/>
            </a:avLst>
          </a:prstGeom>
          <a:solidFill>
            <a:srgbClr val="EAF7F7"/>
          </a:solidFill>
          <a:ln w="12700">
            <a:solidFill>
              <a:srgbClr val="D9E2EC"/>
            </a:solidFill>
            <a:prstDash val="solid"/>
          </a:ln>
        </p:spPr>
      </p:sp>
      <p:sp>
        <p:nvSpPr>
          <p:cNvPr id="6" name="Text 4"/>
          <p:cNvSpPr/>
          <p:nvPr/>
        </p:nvSpPr>
        <p:spPr>
          <a:xfrm>
            <a:off x="804672" y="160934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Consistency</a:t>
            </a:r>
            <a:endParaRPr lang="en-US" sz="1200" dirty="0"/>
          </a:p>
        </p:txBody>
      </p:sp>
      <p:sp>
        <p:nvSpPr>
          <p:cNvPr id="7" name="Text 5"/>
          <p:cNvSpPr/>
          <p:nvPr/>
        </p:nvSpPr>
        <p:spPr>
          <a:xfrm>
            <a:off x="804672" y="1920240"/>
            <a:ext cx="2916936" cy="2926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Run the same prompt 3 to 5 times.</a:t>
            </a:r>
            <a:endParaRPr lang="en-US" sz="960" dirty="0"/>
          </a:p>
          <a:p>
            <a:pPr indent="0" marL="0">
              <a:buNone/>
            </a:pPr>
            <a:r>
              <a:rPr lang="en-US" sz="960" dirty="0">
                <a:solidFill>
                  <a:srgbClr val="0B1420"/>
                </a:solidFill>
              </a:rPr>
              <a:t>Check if classification, severity, missing info, and final decision remain stable.</a:t>
            </a:r>
            <a:endParaRPr lang="en-US" sz="960" dirty="0"/>
          </a:p>
        </p:txBody>
      </p:sp>
      <p:sp>
        <p:nvSpPr>
          <p:cNvPr id="8" name="Shape 6"/>
          <p:cNvSpPr/>
          <p:nvPr/>
        </p:nvSpPr>
        <p:spPr>
          <a:xfrm>
            <a:off x="4434840" y="1463040"/>
            <a:ext cx="3246120" cy="3520440"/>
          </a:xfrm>
          <a:prstGeom prst="roundRect">
            <a:avLst>
              <a:gd name="adj" fmla="val 2254"/>
            </a:avLst>
          </a:prstGeom>
          <a:solidFill>
            <a:srgbClr val="F7F9FB"/>
          </a:solidFill>
          <a:ln w="12700">
            <a:solidFill>
              <a:srgbClr val="D9E2EC"/>
            </a:solidFill>
            <a:prstDash val="solid"/>
          </a:ln>
        </p:spPr>
      </p:sp>
      <p:sp>
        <p:nvSpPr>
          <p:cNvPr id="9" name="Text 7"/>
          <p:cNvSpPr/>
          <p:nvPr/>
        </p:nvSpPr>
        <p:spPr>
          <a:xfrm>
            <a:off x="4599432" y="160934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Format compliance</a:t>
            </a:r>
            <a:endParaRPr lang="en-US" sz="1200" dirty="0"/>
          </a:p>
        </p:txBody>
      </p:sp>
      <p:sp>
        <p:nvSpPr>
          <p:cNvPr id="10" name="Text 8"/>
          <p:cNvSpPr/>
          <p:nvPr/>
        </p:nvSpPr>
        <p:spPr>
          <a:xfrm>
            <a:off x="4599432" y="1920240"/>
            <a:ext cx="2916936" cy="2926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If JSON is required, it must parse.</a:t>
            </a:r>
            <a:endParaRPr lang="en-US" sz="960" dirty="0"/>
          </a:p>
          <a:p>
            <a:pPr indent="0" marL="0">
              <a:buNone/>
            </a:pPr>
            <a:r>
              <a:rPr lang="en-US" sz="960" dirty="0">
                <a:solidFill>
                  <a:srgbClr val="0B1420"/>
                </a:solidFill>
              </a:rPr>
              <a:t>If a table is required, columns must match.</a:t>
            </a:r>
            <a:endParaRPr lang="en-US" sz="960" dirty="0"/>
          </a:p>
          <a:p>
            <a:pPr indent="0" marL="0">
              <a:buNone/>
            </a:pPr>
            <a:r>
              <a:rPr lang="en-US" sz="960" dirty="0">
                <a:solidFill>
                  <a:srgbClr val="0B1420"/>
                </a:solidFill>
              </a:rPr>
              <a:t>If word limit is required, count words.</a:t>
            </a:r>
            <a:endParaRPr lang="en-US" sz="960" dirty="0"/>
          </a:p>
        </p:txBody>
      </p:sp>
      <p:sp>
        <p:nvSpPr>
          <p:cNvPr id="11" name="Shape 9"/>
          <p:cNvSpPr/>
          <p:nvPr/>
        </p:nvSpPr>
        <p:spPr>
          <a:xfrm>
            <a:off x="8229600" y="1463040"/>
            <a:ext cx="3108960" cy="3520440"/>
          </a:xfrm>
          <a:prstGeom prst="roundRect">
            <a:avLst>
              <a:gd name="adj" fmla="val 2353"/>
            </a:avLst>
          </a:prstGeom>
          <a:solidFill>
            <a:srgbClr val="FFF8EA"/>
          </a:solidFill>
          <a:ln w="12700">
            <a:solidFill>
              <a:srgbClr val="D9E2EC"/>
            </a:solidFill>
            <a:prstDash val="solid"/>
          </a:ln>
        </p:spPr>
      </p:sp>
      <p:sp>
        <p:nvSpPr>
          <p:cNvPr id="12" name="Text 10"/>
          <p:cNvSpPr/>
          <p:nvPr/>
        </p:nvSpPr>
        <p:spPr>
          <a:xfrm>
            <a:off x="8394192" y="1609344"/>
            <a:ext cx="27797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Conciseness</a:t>
            </a:r>
            <a:endParaRPr lang="en-US" sz="1200" dirty="0"/>
          </a:p>
        </p:txBody>
      </p:sp>
      <p:sp>
        <p:nvSpPr>
          <p:cNvPr id="13" name="Text 11"/>
          <p:cNvSpPr/>
          <p:nvPr/>
        </p:nvSpPr>
        <p:spPr>
          <a:xfrm>
            <a:off x="8394192" y="1920240"/>
            <a:ext cx="2779776" cy="2926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Check if the answer avoids filler, repeated points, internal explanations, and unnecessary policy language.</a:t>
            </a:r>
            <a:endParaRPr lang="en-US" sz="960" dirty="0"/>
          </a:p>
        </p:txBody>
      </p:sp>
      <p:sp>
        <p:nvSpPr>
          <p:cNvPr id="14" name="Shape 12"/>
          <p:cNvSpPr/>
          <p:nvPr/>
        </p:nvSpPr>
        <p:spPr>
          <a:xfrm>
            <a:off x="960120" y="5532120"/>
            <a:ext cx="10241280" cy="658368"/>
          </a:xfrm>
          <a:prstGeom prst="roundRect">
            <a:avLst>
              <a:gd name="adj" fmla="val 8333"/>
            </a:avLst>
          </a:prstGeom>
          <a:solidFill>
            <a:srgbClr val="F8FAFC"/>
          </a:solidFill>
          <a:ln w="12700">
            <a:solidFill>
              <a:srgbClr val="D8DEE8"/>
            </a:solidFill>
            <a:prstDash val="solid"/>
          </a:ln>
        </p:spPr>
      </p:sp>
      <p:sp>
        <p:nvSpPr>
          <p:cNvPr id="15" name="Text 13"/>
          <p:cNvSpPr/>
          <p:nvPr/>
        </p:nvSpPr>
        <p:spPr>
          <a:xfrm>
            <a:off x="1069848" y="5641848"/>
            <a:ext cx="10021824" cy="438912"/>
          </a:xfrm>
          <a:prstGeom prst="rect">
            <a:avLst/>
          </a:prstGeom>
          <a:noFill/>
          <a:ln/>
        </p:spPr>
        <p:txBody>
          <a:bodyPr wrap="square" lIns="254" tIns="254" rIns="254" bIns="254" rtlCol="0" anchor="ctr">
            <a:normAutofit/>
          </a:bodyPr>
          <a:lstStyle/>
          <a:p>
            <a:pPr indent="0" marL="0">
              <a:buNone/>
            </a:pPr>
            <a:r>
              <a:rPr lang="en-US" sz="1250" dirty="0">
                <a:solidFill>
                  <a:srgbClr val="0B1420"/>
                </a:solidFill>
                <a:latin typeface="Cascadia Mono" pitchFamily="34" charset="0"/>
                <a:ea typeface="Cascadia Mono" pitchFamily="34" charset="-122"/>
                <a:cs typeface="Cascadia Mono" pitchFamily="34" charset="-120"/>
              </a:rPr>
              <a:t>Quick test: Run prompt 5 times. Compare issue category, severity, required controls, and word count.</a:t>
            </a:r>
            <a:endParaRPr lang="en-US" sz="1250" dirty="0"/>
          </a:p>
        </p:txBody>
      </p:sp>
      <p:sp>
        <p:nvSpPr>
          <p:cNvPr id="16" name="Text 14"/>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Metrics 8-10: behavior and risk</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These metrics protect customer experience and regulated workflows.</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40080" y="1417320"/>
            <a:ext cx="3246120" cy="3931920"/>
          </a:xfrm>
          <a:prstGeom prst="roundRect">
            <a:avLst>
              <a:gd name="adj" fmla="val 2254"/>
            </a:avLst>
          </a:prstGeom>
          <a:solidFill>
            <a:srgbClr val="F7F9FB"/>
          </a:solidFill>
          <a:ln w="12700">
            <a:solidFill>
              <a:srgbClr val="D9E2EC"/>
            </a:solidFill>
            <a:prstDash val="solid"/>
          </a:ln>
        </p:spPr>
      </p:sp>
      <p:sp>
        <p:nvSpPr>
          <p:cNvPr id="6" name="Text 4"/>
          <p:cNvSpPr/>
          <p:nvPr/>
        </p:nvSpPr>
        <p:spPr>
          <a:xfrm>
            <a:off x="804672" y="156362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Tone compliance</a:t>
            </a:r>
            <a:endParaRPr lang="en-US" sz="1200" dirty="0"/>
          </a:p>
        </p:txBody>
      </p:sp>
      <p:sp>
        <p:nvSpPr>
          <p:cNvPr id="7" name="Text 5"/>
          <p:cNvSpPr/>
          <p:nvPr/>
        </p:nvSpPr>
        <p:spPr>
          <a:xfrm>
            <a:off x="804672" y="1874520"/>
            <a:ext cx="2916936" cy="33375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Does the response stay professional, empathetic, and accountable?</a:t>
            </a:r>
            <a:endParaRPr lang="en-US" sz="960" dirty="0"/>
          </a:p>
          <a:p>
            <a:pPr indent="0" marL="0">
              <a:buNone/>
            </a:pPr>
            <a:r>
              <a:rPr lang="en-US" sz="960" dirty="0">
                <a:solidFill>
                  <a:srgbClr val="0B1420"/>
                </a:solidFill>
              </a:rPr>
              <a:t>Fail: defensive, blaming, cold, overly casual.</a:t>
            </a:r>
            <a:endParaRPr lang="en-US" sz="960" dirty="0"/>
          </a:p>
        </p:txBody>
      </p:sp>
      <p:sp>
        <p:nvSpPr>
          <p:cNvPr id="8" name="Shape 6"/>
          <p:cNvSpPr/>
          <p:nvPr/>
        </p:nvSpPr>
        <p:spPr>
          <a:xfrm>
            <a:off x="4434840" y="1417320"/>
            <a:ext cx="3246120" cy="3931920"/>
          </a:xfrm>
          <a:prstGeom prst="roundRect">
            <a:avLst>
              <a:gd name="adj" fmla="val 2254"/>
            </a:avLst>
          </a:prstGeom>
          <a:solidFill>
            <a:srgbClr val="FFF1F1"/>
          </a:solidFill>
          <a:ln w="12700">
            <a:solidFill>
              <a:srgbClr val="D9E2EC"/>
            </a:solidFill>
            <a:prstDash val="solid"/>
          </a:ln>
        </p:spPr>
      </p:sp>
      <p:sp>
        <p:nvSpPr>
          <p:cNvPr id="9" name="Text 7"/>
          <p:cNvSpPr/>
          <p:nvPr/>
        </p:nvSpPr>
        <p:spPr>
          <a:xfrm>
            <a:off x="4599432" y="156362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Safety</a:t>
            </a:r>
            <a:endParaRPr lang="en-US" sz="1200" dirty="0"/>
          </a:p>
        </p:txBody>
      </p:sp>
      <p:sp>
        <p:nvSpPr>
          <p:cNvPr id="10" name="Text 8"/>
          <p:cNvSpPr/>
          <p:nvPr/>
        </p:nvSpPr>
        <p:spPr>
          <a:xfrm>
            <a:off x="4599432" y="1874520"/>
            <a:ext cx="2916936" cy="33375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Does it avoid risky claims?</a:t>
            </a:r>
            <a:endParaRPr lang="en-US" sz="960" dirty="0"/>
          </a:p>
          <a:p>
            <a:pPr indent="0" marL="0">
              <a:buNone/>
            </a:pPr>
            <a:r>
              <a:rPr lang="en-US" sz="960" dirty="0">
                <a:solidFill>
                  <a:srgbClr val="0B1420"/>
                </a:solidFill>
              </a:rPr>
              <a:t>Fail: payment advice without approval, legal conclusion, guaranteed timeline, internal queue details.</a:t>
            </a:r>
            <a:endParaRPr lang="en-US" sz="960" dirty="0"/>
          </a:p>
        </p:txBody>
      </p:sp>
      <p:sp>
        <p:nvSpPr>
          <p:cNvPr id="11" name="Shape 9"/>
          <p:cNvSpPr/>
          <p:nvPr/>
        </p:nvSpPr>
        <p:spPr>
          <a:xfrm>
            <a:off x="8229600" y="1417320"/>
            <a:ext cx="3108960" cy="3931920"/>
          </a:xfrm>
          <a:prstGeom prst="roundRect">
            <a:avLst>
              <a:gd name="adj" fmla="val 2353"/>
            </a:avLst>
          </a:prstGeom>
          <a:solidFill>
            <a:srgbClr val="FFF8EA"/>
          </a:solidFill>
          <a:ln w="12700">
            <a:solidFill>
              <a:srgbClr val="D9E2EC"/>
            </a:solidFill>
            <a:prstDash val="solid"/>
          </a:ln>
        </p:spPr>
      </p:sp>
      <p:sp>
        <p:nvSpPr>
          <p:cNvPr id="12" name="Text 10"/>
          <p:cNvSpPr/>
          <p:nvPr/>
        </p:nvSpPr>
        <p:spPr>
          <a:xfrm>
            <a:off x="8394192" y="1563624"/>
            <a:ext cx="27797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Hallucination rate</a:t>
            </a:r>
            <a:endParaRPr lang="en-US" sz="1200" dirty="0"/>
          </a:p>
        </p:txBody>
      </p:sp>
      <p:sp>
        <p:nvSpPr>
          <p:cNvPr id="13" name="Text 11"/>
          <p:cNvSpPr/>
          <p:nvPr/>
        </p:nvSpPr>
        <p:spPr>
          <a:xfrm>
            <a:off x="8394192" y="1874520"/>
            <a:ext cx="2779776" cy="333756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Count unsupported factual claims.</a:t>
            </a:r>
            <a:endParaRPr lang="en-US" sz="960" dirty="0"/>
          </a:p>
          <a:p>
            <a:pPr indent="0" marL="0">
              <a:buNone/>
            </a:pPr>
            <a:r>
              <a:rPr lang="en-US" sz="960" dirty="0">
                <a:solidFill>
                  <a:srgbClr val="0B1420"/>
                </a:solidFill>
              </a:rPr>
              <a:t>Formula: unsupported claims / total factual claims x 100.</a:t>
            </a:r>
            <a:endParaRPr lang="en-US" sz="960" dirty="0"/>
          </a:p>
        </p:txBody>
      </p:sp>
      <p:sp>
        <p:nvSpPr>
          <p:cNvPr id="14" name="Text 12"/>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Sample scorecard and pass gate</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Use a numeric rubric so participants can compare prompt versions.</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713232" y="1298448"/>
            <a:ext cx="6629400" cy="429768"/>
          </a:xfrm>
          <a:prstGeom prst="rect">
            <a:avLst/>
          </a:prstGeom>
          <a:solidFill>
            <a:srgbClr val="17324D"/>
          </a:solidFill>
          <a:ln w="5080">
            <a:solidFill>
              <a:srgbClr val="D9E2EC"/>
            </a:solidFill>
            <a:prstDash val="solid"/>
          </a:ln>
        </p:spPr>
      </p:sp>
      <p:sp>
        <p:nvSpPr>
          <p:cNvPr id="6" name="Shape 4"/>
          <p:cNvSpPr/>
          <p:nvPr/>
        </p:nvSpPr>
        <p:spPr>
          <a:xfrm>
            <a:off x="713232" y="1298448"/>
            <a:ext cx="0" cy="429768"/>
          </a:xfrm>
          <a:prstGeom prst="line">
            <a:avLst/>
          </a:prstGeom>
          <a:noFill/>
          <a:ln w="5080">
            <a:solidFill>
              <a:srgbClr val="D9E2EC"/>
            </a:solidFill>
            <a:prstDash val="solid"/>
          </a:ln>
        </p:spPr>
      </p:sp>
      <p:sp>
        <p:nvSpPr>
          <p:cNvPr id="7" name="Text 5"/>
          <p:cNvSpPr/>
          <p:nvPr/>
        </p:nvSpPr>
        <p:spPr>
          <a:xfrm>
            <a:off x="758952" y="1325880"/>
            <a:ext cx="1764792" cy="374904"/>
          </a:xfrm>
          <a:prstGeom prst="rect">
            <a:avLst/>
          </a:prstGeom>
          <a:noFill/>
          <a:ln/>
        </p:spPr>
        <p:txBody>
          <a:bodyPr wrap="square" lIns="127" tIns="127" rIns="127" bIns="127" rtlCol="0" anchor="ctr">
            <a:normAutofit/>
          </a:bodyPr>
          <a:lstStyle/>
          <a:p>
            <a:pPr indent="0" marL="0">
              <a:buNone/>
            </a:pPr>
            <a:r>
              <a:rPr lang="en-US" sz="870" b="1" dirty="0">
                <a:solidFill>
                  <a:srgbClr val="FFFFFF"/>
                </a:solidFill>
              </a:rPr>
              <a:t>Metric</a:t>
            </a:r>
            <a:endParaRPr lang="en-US" sz="870" dirty="0"/>
          </a:p>
        </p:txBody>
      </p:sp>
      <p:sp>
        <p:nvSpPr>
          <p:cNvPr id="8" name="Shape 6"/>
          <p:cNvSpPr/>
          <p:nvPr/>
        </p:nvSpPr>
        <p:spPr>
          <a:xfrm>
            <a:off x="2569464" y="1298448"/>
            <a:ext cx="0" cy="429768"/>
          </a:xfrm>
          <a:prstGeom prst="line">
            <a:avLst/>
          </a:prstGeom>
          <a:noFill/>
          <a:ln w="5080">
            <a:solidFill>
              <a:srgbClr val="D9E2EC"/>
            </a:solidFill>
            <a:prstDash val="solid"/>
          </a:ln>
        </p:spPr>
      </p:sp>
      <p:sp>
        <p:nvSpPr>
          <p:cNvPr id="9" name="Text 7"/>
          <p:cNvSpPr/>
          <p:nvPr/>
        </p:nvSpPr>
        <p:spPr>
          <a:xfrm>
            <a:off x="2615184" y="1325880"/>
            <a:ext cx="2825496" cy="374904"/>
          </a:xfrm>
          <a:prstGeom prst="rect">
            <a:avLst/>
          </a:prstGeom>
          <a:noFill/>
          <a:ln/>
        </p:spPr>
        <p:txBody>
          <a:bodyPr wrap="square" lIns="127" tIns="127" rIns="127" bIns="127" rtlCol="0" anchor="ctr">
            <a:normAutofit/>
          </a:bodyPr>
          <a:lstStyle/>
          <a:p>
            <a:pPr indent="0" marL="0">
              <a:buNone/>
            </a:pPr>
            <a:r>
              <a:rPr lang="en-US" sz="870" b="1" dirty="0">
                <a:solidFill>
                  <a:srgbClr val="FFFFFF"/>
                </a:solidFill>
              </a:rPr>
              <a:t>Weight</a:t>
            </a:r>
            <a:endParaRPr lang="en-US" sz="870" dirty="0"/>
          </a:p>
        </p:txBody>
      </p:sp>
      <p:sp>
        <p:nvSpPr>
          <p:cNvPr id="10" name="Shape 8"/>
          <p:cNvSpPr/>
          <p:nvPr/>
        </p:nvSpPr>
        <p:spPr>
          <a:xfrm>
            <a:off x="5486400" y="1298448"/>
            <a:ext cx="0" cy="429768"/>
          </a:xfrm>
          <a:prstGeom prst="line">
            <a:avLst/>
          </a:prstGeom>
          <a:noFill/>
          <a:ln w="5080">
            <a:solidFill>
              <a:srgbClr val="D9E2EC"/>
            </a:solidFill>
            <a:prstDash val="solid"/>
          </a:ln>
        </p:spPr>
      </p:sp>
      <p:sp>
        <p:nvSpPr>
          <p:cNvPr id="11" name="Text 9"/>
          <p:cNvSpPr/>
          <p:nvPr/>
        </p:nvSpPr>
        <p:spPr>
          <a:xfrm>
            <a:off x="5532120" y="1325880"/>
            <a:ext cx="1764792" cy="374904"/>
          </a:xfrm>
          <a:prstGeom prst="rect">
            <a:avLst/>
          </a:prstGeom>
          <a:noFill/>
          <a:ln/>
        </p:spPr>
        <p:txBody>
          <a:bodyPr wrap="square" lIns="127" tIns="127" rIns="127" bIns="127" rtlCol="0" anchor="ctr">
            <a:normAutofit/>
          </a:bodyPr>
          <a:lstStyle/>
          <a:p>
            <a:pPr indent="0" marL="0">
              <a:buNone/>
            </a:pPr>
            <a:r>
              <a:rPr lang="en-US" sz="870" b="1" dirty="0">
                <a:solidFill>
                  <a:srgbClr val="FFFFFF"/>
                </a:solidFill>
              </a:rPr>
              <a:t>Pass rule</a:t>
            </a:r>
            <a:endParaRPr lang="en-US" sz="870" dirty="0"/>
          </a:p>
        </p:txBody>
      </p:sp>
      <p:sp>
        <p:nvSpPr>
          <p:cNvPr id="12" name="Shape 10"/>
          <p:cNvSpPr/>
          <p:nvPr/>
        </p:nvSpPr>
        <p:spPr>
          <a:xfrm>
            <a:off x="7342632" y="1298448"/>
            <a:ext cx="0" cy="429768"/>
          </a:xfrm>
          <a:prstGeom prst="line">
            <a:avLst/>
          </a:prstGeom>
          <a:noFill/>
          <a:ln w="5080">
            <a:solidFill>
              <a:srgbClr val="D9E2EC"/>
            </a:solidFill>
            <a:prstDash val="solid"/>
          </a:ln>
        </p:spPr>
      </p:sp>
      <p:sp>
        <p:nvSpPr>
          <p:cNvPr id="13" name="Shape 11"/>
          <p:cNvSpPr/>
          <p:nvPr/>
        </p:nvSpPr>
        <p:spPr>
          <a:xfrm>
            <a:off x="713232" y="1728216"/>
            <a:ext cx="6629400" cy="429768"/>
          </a:xfrm>
          <a:prstGeom prst="rect">
            <a:avLst/>
          </a:prstGeom>
          <a:solidFill>
            <a:srgbClr val="F7F9FB"/>
          </a:solidFill>
          <a:ln w="5080">
            <a:solidFill>
              <a:srgbClr val="D9E2EC"/>
            </a:solidFill>
            <a:prstDash val="solid"/>
          </a:ln>
        </p:spPr>
      </p:sp>
      <p:sp>
        <p:nvSpPr>
          <p:cNvPr id="14" name="Shape 12"/>
          <p:cNvSpPr/>
          <p:nvPr/>
        </p:nvSpPr>
        <p:spPr>
          <a:xfrm>
            <a:off x="713232" y="1728216"/>
            <a:ext cx="0" cy="429768"/>
          </a:xfrm>
          <a:prstGeom prst="line">
            <a:avLst/>
          </a:prstGeom>
          <a:noFill/>
          <a:ln w="5080">
            <a:solidFill>
              <a:srgbClr val="D9E2EC"/>
            </a:solidFill>
            <a:prstDash val="solid"/>
          </a:ln>
        </p:spPr>
      </p:sp>
      <p:sp>
        <p:nvSpPr>
          <p:cNvPr id="15" name="Text 13"/>
          <p:cNvSpPr/>
          <p:nvPr/>
        </p:nvSpPr>
        <p:spPr>
          <a:xfrm>
            <a:off x="758952" y="1755648"/>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Accuracy</a:t>
            </a:r>
            <a:endParaRPr lang="en-US" sz="870" dirty="0"/>
          </a:p>
        </p:txBody>
      </p:sp>
      <p:sp>
        <p:nvSpPr>
          <p:cNvPr id="16" name="Shape 14"/>
          <p:cNvSpPr/>
          <p:nvPr/>
        </p:nvSpPr>
        <p:spPr>
          <a:xfrm>
            <a:off x="2569464" y="1728216"/>
            <a:ext cx="0" cy="429768"/>
          </a:xfrm>
          <a:prstGeom prst="line">
            <a:avLst/>
          </a:prstGeom>
          <a:noFill/>
          <a:ln w="5080">
            <a:solidFill>
              <a:srgbClr val="D9E2EC"/>
            </a:solidFill>
            <a:prstDash val="solid"/>
          </a:ln>
        </p:spPr>
      </p:sp>
      <p:sp>
        <p:nvSpPr>
          <p:cNvPr id="17" name="Text 15"/>
          <p:cNvSpPr/>
          <p:nvPr/>
        </p:nvSpPr>
        <p:spPr>
          <a:xfrm>
            <a:off x="2615184" y="1755648"/>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20%</a:t>
            </a:r>
            <a:endParaRPr lang="en-US" sz="870" dirty="0"/>
          </a:p>
        </p:txBody>
      </p:sp>
      <p:sp>
        <p:nvSpPr>
          <p:cNvPr id="18" name="Shape 16"/>
          <p:cNvSpPr/>
          <p:nvPr/>
        </p:nvSpPr>
        <p:spPr>
          <a:xfrm>
            <a:off x="5486400" y="1728216"/>
            <a:ext cx="0" cy="429768"/>
          </a:xfrm>
          <a:prstGeom prst="line">
            <a:avLst/>
          </a:prstGeom>
          <a:noFill/>
          <a:ln w="5080">
            <a:solidFill>
              <a:srgbClr val="D9E2EC"/>
            </a:solidFill>
            <a:prstDash val="solid"/>
          </a:ln>
        </p:spPr>
      </p:sp>
      <p:sp>
        <p:nvSpPr>
          <p:cNvPr id="19" name="Text 17"/>
          <p:cNvSpPr/>
          <p:nvPr/>
        </p:nvSpPr>
        <p:spPr>
          <a:xfrm>
            <a:off x="5532120" y="1755648"/>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No critical factual errors</a:t>
            </a:r>
            <a:endParaRPr lang="en-US" sz="870" dirty="0"/>
          </a:p>
        </p:txBody>
      </p:sp>
      <p:sp>
        <p:nvSpPr>
          <p:cNvPr id="20" name="Shape 18"/>
          <p:cNvSpPr/>
          <p:nvPr/>
        </p:nvSpPr>
        <p:spPr>
          <a:xfrm>
            <a:off x="7342632" y="1728216"/>
            <a:ext cx="0" cy="429768"/>
          </a:xfrm>
          <a:prstGeom prst="line">
            <a:avLst/>
          </a:prstGeom>
          <a:noFill/>
          <a:ln w="5080">
            <a:solidFill>
              <a:srgbClr val="D9E2EC"/>
            </a:solidFill>
            <a:prstDash val="solid"/>
          </a:ln>
        </p:spPr>
      </p:sp>
      <p:sp>
        <p:nvSpPr>
          <p:cNvPr id="21" name="Shape 19"/>
          <p:cNvSpPr/>
          <p:nvPr/>
        </p:nvSpPr>
        <p:spPr>
          <a:xfrm>
            <a:off x="713232" y="2157984"/>
            <a:ext cx="6629400" cy="429768"/>
          </a:xfrm>
          <a:prstGeom prst="rect">
            <a:avLst/>
          </a:prstGeom>
          <a:solidFill>
            <a:srgbClr val="FFFFFF"/>
          </a:solidFill>
          <a:ln w="5080">
            <a:solidFill>
              <a:srgbClr val="D9E2EC"/>
            </a:solidFill>
            <a:prstDash val="solid"/>
          </a:ln>
        </p:spPr>
      </p:sp>
      <p:sp>
        <p:nvSpPr>
          <p:cNvPr id="22" name="Shape 20"/>
          <p:cNvSpPr/>
          <p:nvPr/>
        </p:nvSpPr>
        <p:spPr>
          <a:xfrm>
            <a:off x="713232" y="2157984"/>
            <a:ext cx="0" cy="429768"/>
          </a:xfrm>
          <a:prstGeom prst="line">
            <a:avLst/>
          </a:prstGeom>
          <a:noFill/>
          <a:ln w="5080">
            <a:solidFill>
              <a:srgbClr val="D9E2EC"/>
            </a:solidFill>
            <a:prstDash val="solid"/>
          </a:ln>
        </p:spPr>
      </p:sp>
      <p:sp>
        <p:nvSpPr>
          <p:cNvPr id="23" name="Text 21"/>
          <p:cNvSpPr/>
          <p:nvPr/>
        </p:nvSpPr>
        <p:spPr>
          <a:xfrm>
            <a:off x="758952" y="2185416"/>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Groundedness</a:t>
            </a:r>
            <a:endParaRPr lang="en-US" sz="870" dirty="0"/>
          </a:p>
        </p:txBody>
      </p:sp>
      <p:sp>
        <p:nvSpPr>
          <p:cNvPr id="24" name="Shape 22"/>
          <p:cNvSpPr/>
          <p:nvPr/>
        </p:nvSpPr>
        <p:spPr>
          <a:xfrm>
            <a:off x="2569464" y="2157984"/>
            <a:ext cx="0" cy="429768"/>
          </a:xfrm>
          <a:prstGeom prst="line">
            <a:avLst/>
          </a:prstGeom>
          <a:noFill/>
          <a:ln w="5080">
            <a:solidFill>
              <a:srgbClr val="D9E2EC"/>
            </a:solidFill>
            <a:prstDash val="solid"/>
          </a:ln>
        </p:spPr>
      </p:sp>
      <p:sp>
        <p:nvSpPr>
          <p:cNvPr id="25" name="Text 23"/>
          <p:cNvSpPr/>
          <p:nvPr/>
        </p:nvSpPr>
        <p:spPr>
          <a:xfrm>
            <a:off x="2615184" y="2185416"/>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15%</a:t>
            </a:r>
            <a:endParaRPr lang="en-US" sz="870" dirty="0"/>
          </a:p>
        </p:txBody>
      </p:sp>
      <p:sp>
        <p:nvSpPr>
          <p:cNvPr id="26" name="Shape 24"/>
          <p:cNvSpPr/>
          <p:nvPr/>
        </p:nvSpPr>
        <p:spPr>
          <a:xfrm>
            <a:off x="5486400" y="2157984"/>
            <a:ext cx="0" cy="429768"/>
          </a:xfrm>
          <a:prstGeom prst="line">
            <a:avLst/>
          </a:prstGeom>
          <a:noFill/>
          <a:ln w="5080">
            <a:solidFill>
              <a:srgbClr val="D9E2EC"/>
            </a:solidFill>
            <a:prstDash val="solid"/>
          </a:ln>
        </p:spPr>
      </p:sp>
      <p:sp>
        <p:nvSpPr>
          <p:cNvPr id="27" name="Text 25"/>
          <p:cNvSpPr/>
          <p:nvPr/>
        </p:nvSpPr>
        <p:spPr>
          <a:xfrm>
            <a:off x="5532120" y="2185416"/>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All claims supported or caveated</a:t>
            </a:r>
            <a:endParaRPr lang="en-US" sz="870" dirty="0"/>
          </a:p>
        </p:txBody>
      </p:sp>
      <p:sp>
        <p:nvSpPr>
          <p:cNvPr id="28" name="Shape 26"/>
          <p:cNvSpPr/>
          <p:nvPr/>
        </p:nvSpPr>
        <p:spPr>
          <a:xfrm>
            <a:off x="7342632" y="2157984"/>
            <a:ext cx="0" cy="429768"/>
          </a:xfrm>
          <a:prstGeom prst="line">
            <a:avLst/>
          </a:prstGeom>
          <a:noFill/>
          <a:ln w="5080">
            <a:solidFill>
              <a:srgbClr val="D9E2EC"/>
            </a:solidFill>
            <a:prstDash val="solid"/>
          </a:ln>
        </p:spPr>
      </p:sp>
      <p:sp>
        <p:nvSpPr>
          <p:cNvPr id="29" name="Shape 27"/>
          <p:cNvSpPr/>
          <p:nvPr/>
        </p:nvSpPr>
        <p:spPr>
          <a:xfrm>
            <a:off x="713232" y="2587752"/>
            <a:ext cx="6629400" cy="429768"/>
          </a:xfrm>
          <a:prstGeom prst="rect">
            <a:avLst/>
          </a:prstGeom>
          <a:solidFill>
            <a:srgbClr val="F7F9FB"/>
          </a:solidFill>
          <a:ln w="5080">
            <a:solidFill>
              <a:srgbClr val="D9E2EC"/>
            </a:solidFill>
            <a:prstDash val="solid"/>
          </a:ln>
        </p:spPr>
      </p:sp>
      <p:sp>
        <p:nvSpPr>
          <p:cNvPr id="30" name="Shape 28"/>
          <p:cNvSpPr/>
          <p:nvPr/>
        </p:nvSpPr>
        <p:spPr>
          <a:xfrm>
            <a:off x="713232" y="2587752"/>
            <a:ext cx="0" cy="429768"/>
          </a:xfrm>
          <a:prstGeom prst="line">
            <a:avLst/>
          </a:prstGeom>
          <a:noFill/>
          <a:ln w="5080">
            <a:solidFill>
              <a:srgbClr val="D9E2EC"/>
            </a:solidFill>
            <a:prstDash val="solid"/>
          </a:ln>
        </p:spPr>
      </p:sp>
      <p:sp>
        <p:nvSpPr>
          <p:cNvPr id="31" name="Text 29"/>
          <p:cNvSpPr/>
          <p:nvPr/>
        </p:nvSpPr>
        <p:spPr>
          <a:xfrm>
            <a:off x="758952" y="2615184"/>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Safety</a:t>
            </a:r>
            <a:endParaRPr lang="en-US" sz="870" dirty="0"/>
          </a:p>
        </p:txBody>
      </p:sp>
      <p:sp>
        <p:nvSpPr>
          <p:cNvPr id="32" name="Shape 30"/>
          <p:cNvSpPr/>
          <p:nvPr/>
        </p:nvSpPr>
        <p:spPr>
          <a:xfrm>
            <a:off x="2569464" y="2587752"/>
            <a:ext cx="0" cy="429768"/>
          </a:xfrm>
          <a:prstGeom prst="line">
            <a:avLst/>
          </a:prstGeom>
          <a:noFill/>
          <a:ln w="5080">
            <a:solidFill>
              <a:srgbClr val="D9E2EC"/>
            </a:solidFill>
            <a:prstDash val="solid"/>
          </a:ln>
        </p:spPr>
      </p:sp>
      <p:sp>
        <p:nvSpPr>
          <p:cNvPr id="33" name="Text 31"/>
          <p:cNvSpPr/>
          <p:nvPr/>
        </p:nvSpPr>
        <p:spPr>
          <a:xfrm>
            <a:off x="2615184" y="2615184"/>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15%</a:t>
            </a:r>
            <a:endParaRPr lang="en-US" sz="870" dirty="0"/>
          </a:p>
        </p:txBody>
      </p:sp>
      <p:sp>
        <p:nvSpPr>
          <p:cNvPr id="34" name="Shape 32"/>
          <p:cNvSpPr/>
          <p:nvPr/>
        </p:nvSpPr>
        <p:spPr>
          <a:xfrm>
            <a:off x="5486400" y="2587752"/>
            <a:ext cx="0" cy="429768"/>
          </a:xfrm>
          <a:prstGeom prst="line">
            <a:avLst/>
          </a:prstGeom>
          <a:noFill/>
          <a:ln w="5080">
            <a:solidFill>
              <a:srgbClr val="D9E2EC"/>
            </a:solidFill>
            <a:prstDash val="solid"/>
          </a:ln>
        </p:spPr>
      </p:sp>
      <p:sp>
        <p:nvSpPr>
          <p:cNvPr id="35" name="Text 33"/>
          <p:cNvSpPr/>
          <p:nvPr/>
        </p:nvSpPr>
        <p:spPr>
          <a:xfrm>
            <a:off x="5532120" y="2615184"/>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No risky promise or policy advice</a:t>
            </a:r>
            <a:endParaRPr lang="en-US" sz="870" dirty="0"/>
          </a:p>
        </p:txBody>
      </p:sp>
      <p:sp>
        <p:nvSpPr>
          <p:cNvPr id="36" name="Shape 34"/>
          <p:cNvSpPr/>
          <p:nvPr/>
        </p:nvSpPr>
        <p:spPr>
          <a:xfrm>
            <a:off x="7342632" y="2587752"/>
            <a:ext cx="0" cy="429768"/>
          </a:xfrm>
          <a:prstGeom prst="line">
            <a:avLst/>
          </a:prstGeom>
          <a:noFill/>
          <a:ln w="5080">
            <a:solidFill>
              <a:srgbClr val="D9E2EC"/>
            </a:solidFill>
            <a:prstDash val="solid"/>
          </a:ln>
        </p:spPr>
      </p:sp>
      <p:sp>
        <p:nvSpPr>
          <p:cNvPr id="37" name="Shape 35"/>
          <p:cNvSpPr/>
          <p:nvPr/>
        </p:nvSpPr>
        <p:spPr>
          <a:xfrm>
            <a:off x="713232" y="3017520"/>
            <a:ext cx="6629400" cy="429768"/>
          </a:xfrm>
          <a:prstGeom prst="rect">
            <a:avLst/>
          </a:prstGeom>
          <a:solidFill>
            <a:srgbClr val="FFFFFF"/>
          </a:solidFill>
          <a:ln w="5080">
            <a:solidFill>
              <a:srgbClr val="D9E2EC"/>
            </a:solidFill>
            <a:prstDash val="solid"/>
          </a:ln>
        </p:spPr>
      </p:sp>
      <p:sp>
        <p:nvSpPr>
          <p:cNvPr id="38" name="Shape 36"/>
          <p:cNvSpPr/>
          <p:nvPr/>
        </p:nvSpPr>
        <p:spPr>
          <a:xfrm>
            <a:off x="713232" y="3017520"/>
            <a:ext cx="0" cy="429768"/>
          </a:xfrm>
          <a:prstGeom prst="line">
            <a:avLst/>
          </a:prstGeom>
          <a:noFill/>
          <a:ln w="5080">
            <a:solidFill>
              <a:srgbClr val="D9E2EC"/>
            </a:solidFill>
            <a:prstDash val="solid"/>
          </a:ln>
        </p:spPr>
      </p:sp>
      <p:sp>
        <p:nvSpPr>
          <p:cNvPr id="39" name="Text 37"/>
          <p:cNvSpPr/>
          <p:nvPr/>
        </p:nvSpPr>
        <p:spPr>
          <a:xfrm>
            <a:off x="758952" y="3044952"/>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Completeness</a:t>
            </a:r>
            <a:endParaRPr lang="en-US" sz="870" dirty="0"/>
          </a:p>
        </p:txBody>
      </p:sp>
      <p:sp>
        <p:nvSpPr>
          <p:cNvPr id="40" name="Shape 38"/>
          <p:cNvSpPr/>
          <p:nvPr/>
        </p:nvSpPr>
        <p:spPr>
          <a:xfrm>
            <a:off x="2569464" y="3017520"/>
            <a:ext cx="0" cy="429768"/>
          </a:xfrm>
          <a:prstGeom prst="line">
            <a:avLst/>
          </a:prstGeom>
          <a:noFill/>
          <a:ln w="5080">
            <a:solidFill>
              <a:srgbClr val="D9E2EC"/>
            </a:solidFill>
            <a:prstDash val="solid"/>
          </a:ln>
        </p:spPr>
      </p:sp>
      <p:sp>
        <p:nvSpPr>
          <p:cNvPr id="41" name="Text 39"/>
          <p:cNvSpPr/>
          <p:nvPr/>
        </p:nvSpPr>
        <p:spPr>
          <a:xfrm>
            <a:off x="2615184" y="3044952"/>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10%</a:t>
            </a:r>
            <a:endParaRPr lang="en-US" sz="870" dirty="0"/>
          </a:p>
        </p:txBody>
      </p:sp>
      <p:sp>
        <p:nvSpPr>
          <p:cNvPr id="42" name="Shape 40"/>
          <p:cNvSpPr/>
          <p:nvPr/>
        </p:nvSpPr>
        <p:spPr>
          <a:xfrm>
            <a:off x="5486400" y="3017520"/>
            <a:ext cx="0" cy="429768"/>
          </a:xfrm>
          <a:prstGeom prst="line">
            <a:avLst/>
          </a:prstGeom>
          <a:noFill/>
          <a:ln w="5080">
            <a:solidFill>
              <a:srgbClr val="D9E2EC"/>
            </a:solidFill>
            <a:prstDash val="solid"/>
          </a:ln>
        </p:spPr>
      </p:sp>
      <p:sp>
        <p:nvSpPr>
          <p:cNvPr id="43" name="Text 41"/>
          <p:cNvSpPr/>
          <p:nvPr/>
        </p:nvSpPr>
        <p:spPr>
          <a:xfrm>
            <a:off x="5532120" y="3044952"/>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All required points covered</a:t>
            </a:r>
            <a:endParaRPr lang="en-US" sz="870" dirty="0"/>
          </a:p>
        </p:txBody>
      </p:sp>
      <p:sp>
        <p:nvSpPr>
          <p:cNvPr id="44" name="Shape 42"/>
          <p:cNvSpPr/>
          <p:nvPr/>
        </p:nvSpPr>
        <p:spPr>
          <a:xfrm>
            <a:off x="7342632" y="3017520"/>
            <a:ext cx="0" cy="429768"/>
          </a:xfrm>
          <a:prstGeom prst="line">
            <a:avLst/>
          </a:prstGeom>
          <a:noFill/>
          <a:ln w="5080">
            <a:solidFill>
              <a:srgbClr val="D9E2EC"/>
            </a:solidFill>
            <a:prstDash val="solid"/>
          </a:ln>
        </p:spPr>
      </p:sp>
      <p:sp>
        <p:nvSpPr>
          <p:cNvPr id="45" name="Shape 43"/>
          <p:cNvSpPr/>
          <p:nvPr/>
        </p:nvSpPr>
        <p:spPr>
          <a:xfrm>
            <a:off x="713232" y="3447288"/>
            <a:ext cx="6629400" cy="429768"/>
          </a:xfrm>
          <a:prstGeom prst="rect">
            <a:avLst/>
          </a:prstGeom>
          <a:solidFill>
            <a:srgbClr val="F7F9FB"/>
          </a:solidFill>
          <a:ln w="5080">
            <a:solidFill>
              <a:srgbClr val="D9E2EC"/>
            </a:solidFill>
            <a:prstDash val="solid"/>
          </a:ln>
        </p:spPr>
      </p:sp>
      <p:sp>
        <p:nvSpPr>
          <p:cNvPr id="46" name="Shape 44"/>
          <p:cNvSpPr/>
          <p:nvPr/>
        </p:nvSpPr>
        <p:spPr>
          <a:xfrm>
            <a:off x="713232" y="3447288"/>
            <a:ext cx="0" cy="429768"/>
          </a:xfrm>
          <a:prstGeom prst="line">
            <a:avLst/>
          </a:prstGeom>
          <a:noFill/>
          <a:ln w="5080">
            <a:solidFill>
              <a:srgbClr val="D9E2EC"/>
            </a:solidFill>
            <a:prstDash val="solid"/>
          </a:ln>
        </p:spPr>
      </p:sp>
      <p:sp>
        <p:nvSpPr>
          <p:cNvPr id="47" name="Text 45"/>
          <p:cNvSpPr/>
          <p:nvPr/>
        </p:nvSpPr>
        <p:spPr>
          <a:xfrm>
            <a:off x="758952" y="3474720"/>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Relevance</a:t>
            </a:r>
            <a:endParaRPr lang="en-US" sz="870" dirty="0"/>
          </a:p>
        </p:txBody>
      </p:sp>
      <p:sp>
        <p:nvSpPr>
          <p:cNvPr id="48" name="Shape 46"/>
          <p:cNvSpPr/>
          <p:nvPr/>
        </p:nvSpPr>
        <p:spPr>
          <a:xfrm>
            <a:off x="2569464" y="3447288"/>
            <a:ext cx="0" cy="429768"/>
          </a:xfrm>
          <a:prstGeom prst="line">
            <a:avLst/>
          </a:prstGeom>
          <a:noFill/>
          <a:ln w="5080">
            <a:solidFill>
              <a:srgbClr val="D9E2EC"/>
            </a:solidFill>
            <a:prstDash val="solid"/>
          </a:ln>
        </p:spPr>
      </p:sp>
      <p:sp>
        <p:nvSpPr>
          <p:cNvPr id="49" name="Text 47"/>
          <p:cNvSpPr/>
          <p:nvPr/>
        </p:nvSpPr>
        <p:spPr>
          <a:xfrm>
            <a:off x="2615184" y="3474720"/>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10%</a:t>
            </a:r>
            <a:endParaRPr lang="en-US" sz="870" dirty="0"/>
          </a:p>
        </p:txBody>
      </p:sp>
      <p:sp>
        <p:nvSpPr>
          <p:cNvPr id="50" name="Shape 48"/>
          <p:cNvSpPr/>
          <p:nvPr/>
        </p:nvSpPr>
        <p:spPr>
          <a:xfrm>
            <a:off x="5486400" y="3447288"/>
            <a:ext cx="0" cy="429768"/>
          </a:xfrm>
          <a:prstGeom prst="line">
            <a:avLst/>
          </a:prstGeom>
          <a:noFill/>
          <a:ln w="5080">
            <a:solidFill>
              <a:srgbClr val="D9E2EC"/>
            </a:solidFill>
            <a:prstDash val="solid"/>
          </a:ln>
        </p:spPr>
      </p:sp>
      <p:sp>
        <p:nvSpPr>
          <p:cNvPr id="51" name="Text 49"/>
          <p:cNvSpPr/>
          <p:nvPr/>
        </p:nvSpPr>
        <p:spPr>
          <a:xfrm>
            <a:off x="5532120" y="3474720"/>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Answers the task directly</a:t>
            </a:r>
            <a:endParaRPr lang="en-US" sz="870" dirty="0"/>
          </a:p>
        </p:txBody>
      </p:sp>
      <p:sp>
        <p:nvSpPr>
          <p:cNvPr id="52" name="Shape 50"/>
          <p:cNvSpPr/>
          <p:nvPr/>
        </p:nvSpPr>
        <p:spPr>
          <a:xfrm>
            <a:off x="7342632" y="3447288"/>
            <a:ext cx="0" cy="429768"/>
          </a:xfrm>
          <a:prstGeom prst="line">
            <a:avLst/>
          </a:prstGeom>
          <a:noFill/>
          <a:ln w="5080">
            <a:solidFill>
              <a:srgbClr val="D9E2EC"/>
            </a:solidFill>
            <a:prstDash val="solid"/>
          </a:ln>
        </p:spPr>
      </p:sp>
      <p:sp>
        <p:nvSpPr>
          <p:cNvPr id="53" name="Shape 51"/>
          <p:cNvSpPr/>
          <p:nvPr/>
        </p:nvSpPr>
        <p:spPr>
          <a:xfrm>
            <a:off x="713232" y="3877056"/>
            <a:ext cx="6629400" cy="429768"/>
          </a:xfrm>
          <a:prstGeom prst="rect">
            <a:avLst/>
          </a:prstGeom>
          <a:solidFill>
            <a:srgbClr val="FFFFFF"/>
          </a:solidFill>
          <a:ln w="5080">
            <a:solidFill>
              <a:srgbClr val="D9E2EC"/>
            </a:solidFill>
            <a:prstDash val="solid"/>
          </a:ln>
        </p:spPr>
      </p:sp>
      <p:sp>
        <p:nvSpPr>
          <p:cNvPr id="54" name="Shape 52"/>
          <p:cNvSpPr/>
          <p:nvPr/>
        </p:nvSpPr>
        <p:spPr>
          <a:xfrm>
            <a:off x="713232" y="3877056"/>
            <a:ext cx="0" cy="429768"/>
          </a:xfrm>
          <a:prstGeom prst="line">
            <a:avLst/>
          </a:prstGeom>
          <a:noFill/>
          <a:ln w="5080">
            <a:solidFill>
              <a:srgbClr val="D9E2EC"/>
            </a:solidFill>
            <a:prstDash val="solid"/>
          </a:ln>
        </p:spPr>
      </p:sp>
      <p:sp>
        <p:nvSpPr>
          <p:cNvPr id="55" name="Text 53"/>
          <p:cNvSpPr/>
          <p:nvPr/>
        </p:nvSpPr>
        <p:spPr>
          <a:xfrm>
            <a:off x="758952" y="3904488"/>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Format</a:t>
            </a:r>
            <a:endParaRPr lang="en-US" sz="870" dirty="0"/>
          </a:p>
        </p:txBody>
      </p:sp>
      <p:sp>
        <p:nvSpPr>
          <p:cNvPr id="56" name="Shape 54"/>
          <p:cNvSpPr/>
          <p:nvPr/>
        </p:nvSpPr>
        <p:spPr>
          <a:xfrm>
            <a:off x="2569464" y="3877056"/>
            <a:ext cx="0" cy="429768"/>
          </a:xfrm>
          <a:prstGeom prst="line">
            <a:avLst/>
          </a:prstGeom>
          <a:noFill/>
          <a:ln w="5080">
            <a:solidFill>
              <a:srgbClr val="D9E2EC"/>
            </a:solidFill>
            <a:prstDash val="solid"/>
          </a:ln>
        </p:spPr>
      </p:sp>
      <p:sp>
        <p:nvSpPr>
          <p:cNvPr id="57" name="Text 55"/>
          <p:cNvSpPr/>
          <p:nvPr/>
        </p:nvSpPr>
        <p:spPr>
          <a:xfrm>
            <a:off x="2615184" y="3904488"/>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10%</a:t>
            </a:r>
            <a:endParaRPr lang="en-US" sz="870" dirty="0"/>
          </a:p>
        </p:txBody>
      </p:sp>
      <p:sp>
        <p:nvSpPr>
          <p:cNvPr id="58" name="Shape 56"/>
          <p:cNvSpPr/>
          <p:nvPr/>
        </p:nvSpPr>
        <p:spPr>
          <a:xfrm>
            <a:off x="5486400" y="3877056"/>
            <a:ext cx="0" cy="429768"/>
          </a:xfrm>
          <a:prstGeom prst="line">
            <a:avLst/>
          </a:prstGeom>
          <a:noFill/>
          <a:ln w="5080">
            <a:solidFill>
              <a:srgbClr val="D9E2EC"/>
            </a:solidFill>
            <a:prstDash val="solid"/>
          </a:ln>
        </p:spPr>
      </p:sp>
      <p:sp>
        <p:nvSpPr>
          <p:cNvPr id="59" name="Text 57"/>
          <p:cNvSpPr/>
          <p:nvPr/>
        </p:nvSpPr>
        <p:spPr>
          <a:xfrm>
            <a:off x="5532120" y="3904488"/>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Required structure followed</a:t>
            </a:r>
            <a:endParaRPr lang="en-US" sz="870" dirty="0"/>
          </a:p>
        </p:txBody>
      </p:sp>
      <p:sp>
        <p:nvSpPr>
          <p:cNvPr id="60" name="Shape 58"/>
          <p:cNvSpPr/>
          <p:nvPr/>
        </p:nvSpPr>
        <p:spPr>
          <a:xfrm>
            <a:off x="7342632" y="3877056"/>
            <a:ext cx="0" cy="429768"/>
          </a:xfrm>
          <a:prstGeom prst="line">
            <a:avLst/>
          </a:prstGeom>
          <a:noFill/>
          <a:ln w="5080">
            <a:solidFill>
              <a:srgbClr val="D9E2EC"/>
            </a:solidFill>
            <a:prstDash val="solid"/>
          </a:ln>
        </p:spPr>
      </p:sp>
      <p:sp>
        <p:nvSpPr>
          <p:cNvPr id="61" name="Shape 59"/>
          <p:cNvSpPr/>
          <p:nvPr/>
        </p:nvSpPr>
        <p:spPr>
          <a:xfrm>
            <a:off x="713232" y="4306824"/>
            <a:ext cx="6629400" cy="429768"/>
          </a:xfrm>
          <a:prstGeom prst="rect">
            <a:avLst/>
          </a:prstGeom>
          <a:solidFill>
            <a:srgbClr val="F7F9FB"/>
          </a:solidFill>
          <a:ln w="5080">
            <a:solidFill>
              <a:srgbClr val="D9E2EC"/>
            </a:solidFill>
            <a:prstDash val="solid"/>
          </a:ln>
        </p:spPr>
      </p:sp>
      <p:sp>
        <p:nvSpPr>
          <p:cNvPr id="62" name="Shape 60"/>
          <p:cNvSpPr/>
          <p:nvPr/>
        </p:nvSpPr>
        <p:spPr>
          <a:xfrm>
            <a:off x="713232" y="4306824"/>
            <a:ext cx="0" cy="429768"/>
          </a:xfrm>
          <a:prstGeom prst="line">
            <a:avLst/>
          </a:prstGeom>
          <a:noFill/>
          <a:ln w="5080">
            <a:solidFill>
              <a:srgbClr val="D9E2EC"/>
            </a:solidFill>
            <a:prstDash val="solid"/>
          </a:ln>
        </p:spPr>
      </p:sp>
      <p:sp>
        <p:nvSpPr>
          <p:cNvPr id="63" name="Text 61"/>
          <p:cNvSpPr/>
          <p:nvPr/>
        </p:nvSpPr>
        <p:spPr>
          <a:xfrm>
            <a:off x="758952" y="4334256"/>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Tone</a:t>
            </a:r>
            <a:endParaRPr lang="en-US" sz="870" dirty="0"/>
          </a:p>
        </p:txBody>
      </p:sp>
      <p:sp>
        <p:nvSpPr>
          <p:cNvPr id="64" name="Shape 62"/>
          <p:cNvSpPr/>
          <p:nvPr/>
        </p:nvSpPr>
        <p:spPr>
          <a:xfrm>
            <a:off x="2569464" y="4306824"/>
            <a:ext cx="0" cy="429768"/>
          </a:xfrm>
          <a:prstGeom prst="line">
            <a:avLst/>
          </a:prstGeom>
          <a:noFill/>
          <a:ln w="5080">
            <a:solidFill>
              <a:srgbClr val="D9E2EC"/>
            </a:solidFill>
            <a:prstDash val="solid"/>
          </a:ln>
        </p:spPr>
      </p:sp>
      <p:sp>
        <p:nvSpPr>
          <p:cNvPr id="65" name="Text 63"/>
          <p:cNvSpPr/>
          <p:nvPr/>
        </p:nvSpPr>
        <p:spPr>
          <a:xfrm>
            <a:off x="2615184" y="4334256"/>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10%</a:t>
            </a:r>
            <a:endParaRPr lang="en-US" sz="870" dirty="0"/>
          </a:p>
        </p:txBody>
      </p:sp>
      <p:sp>
        <p:nvSpPr>
          <p:cNvPr id="66" name="Shape 64"/>
          <p:cNvSpPr/>
          <p:nvPr/>
        </p:nvSpPr>
        <p:spPr>
          <a:xfrm>
            <a:off x="5486400" y="4306824"/>
            <a:ext cx="0" cy="429768"/>
          </a:xfrm>
          <a:prstGeom prst="line">
            <a:avLst/>
          </a:prstGeom>
          <a:noFill/>
          <a:ln w="5080">
            <a:solidFill>
              <a:srgbClr val="D9E2EC"/>
            </a:solidFill>
            <a:prstDash val="solid"/>
          </a:ln>
        </p:spPr>
      </p:sp>
      <p:sp>
        <p:nvSpPr>
          <p:cNvPr id="67" name="Text 65"/>
          <p:cNvSpPr/>
          <p:nvPr/>
        </p:nvSpPr>
        <p:spPr>
          <a:xfrm>
            <a:off x="5532120" y="4334256"/>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Professional + empathetic</a:t>
            </a:r>
            <a:endParaRPr lang="en-US" sz="870" dirty="0"/>
          </a:p>
        </p:txBody>
      </p:sp>
      <p:sp>
        <p:nvSpPr>
          <p:cNvPr id="68" name="Shape 66"/>
          <p:cNvSpPr/>
          <p:nvPr/>
        </p:nvSpPr>
        <p:spPr>
          <a:xfrm>
            <a:off x="7342632" y="4306824"/>
            <a:ext cx="0" cy="429768"/>
          </a:xfrm>
          <a:prstGeom prst="line">
            <a:avLst/>
          </a:prstGeom>
          <a:noFill/>
          <a:ln w="5080">
            <a:solidFill>
              <a:srgbClr val="D9E2EC"/>
            </a:solidFill>
            <a:prstDash val="solid"/>
          </a:ln>
        </p:spPr>
      </p:sp>
      <p:sp>
        <p:nvSpPr>
          <p:cNvPr id="69" name="Shape 67"/>
          <p:cNvSpPr/>
          <p:nvPr/>
        </p:nvSpPr>
        <p:spPr>
          <a:xfrm>
            <a:off x="713232" y="4736592"/>
            <a:ext cx="6629400" cy="429768"/>
          </a:xfrm>
          <a:prstGeom prst="rect">
            <a:avLst/>
          </a:prstGeom>
          <a:solidFill>
            <a:srgbClr val="FFFFFF"/>
          </a:solidFill>
          <a:ln w="5080">
            <a:solidFill>
              <a:srgbClr val="D9E2EC"/>
            </a:solidFill>
            <a:prstDash val="solid"/>
          </a:ln>
        </p:spPr>
      </p:sp>
      <p:sp>
        <p:nvSpPr>
          <p:cNvPr id="70" name="Shape 68"/>
          <p:cNvSpPr/>
          <p:nvPr/>
        </p:nvSpPr>
        <p:spPr>
          <a:xfrm>
            <a:off x="713232" y="4736592"/>
            <a:ext cx="0" cy="429768"/>
          </a:xfrm>
          <a:prstGeom prst="line">
            <a:avLst/>
          </a:prstGeom>
          <a:noFill/>
          <a:ln w="5080">
            <a:solidFill>
              <a:srgbClr val="D9E2EC"/>
            </a:solidFill>
            <a:prstDash val="solid"/>
          </a:ln>
        </p:spPr>
      </p:sp>
      <p:sp>
        <p:nvSpPr>
          <p:cNvPr id="71" name="Text 69"/>
          <p:cNvSpPr/>
          <p:nvPr/>
        </p:nvSpPr>
        <p:spPr>
          <a:xfrm>
            <a:off x="758952" y="4764024"/>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Conciseness</a:t>
            </a:r>
            <a:endParaRPr lang="en-US" sz="870" dirty="0"/>
          </a:p>
        </p:txBody>
      </p:sp>
      <p:sp>
        <p:nvSpPr>
          <p:cNvPr id="72" name="Shape 70"/>
          <p:cNvSpPr/>
          <p:nvPr/>
        </p:nvSpPr>
        <p:spPr>
          <a:xfrm>
            <a:off x="2569464" y="4736592"/>
            <a:ext cx="0" cy="429768"/>
          </a:xfrm>
          <a:prstGeom prst="line">
            <a:avLst/>
          </a:prstGeom>
          <a:noFill/>
          <a:ln w="5080">
            <a:solidFill>
              <a:srgbClr val="D9E2EC"/>
            </a:solidFill>
            <a:prstDash val="solid"/>
          </a:ln>
        </p:spPr>
      </p:sp>
      <p:sp>
        <p:nvSpPr>
          <p:cNvPr id="73" name="Text 71"/>
          <p:cNvSpPr/>
          <p:nvPr/>
        </p:nvSpPr>
        <p:spPr>
          <a:xfrm>
            <a:off x="2615184" y="4764024"/>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5%</a:t>
            </a:r>
            <a:endParaRPr lang="en-US" sz="870" dirty="0"/>
          </a:p>
        </p:txBody>
      </p:sp>
      <p:sp>
        <p:nvSpPr>
          <p:cNvPr id="74" name="Shape 72"/>
          <p:cNvSpPr/>
          <p:nvPr/>
        </p:nvSpPr>
        <p:spPr>
          <a:xfrm>
            <a:off x="5486400" y="4736592"/>
            <a:ext cx="0" cy="429768"/>
          </a:xfrm>
          <a:prstGeom prst="line">
            <a:avLst/>
          </a:prstGeom>
          <a:noFill/>
          <a:ln w="5080">
            <a:solidFill>
              <a:srgbClr val="D9E2EC"/>
            </a:solidFill>
            <a:prstDash val="solid"/>
          </a:ln>
        </p:spPr>
      </p:sp>
      <p:sp>
        <p:nvSpPr>
          <p:cNvPr id="75" name="Text 73"/>
          <p:cNvSpPr/>
          <p:nvPr/>
        </p:nvSpPr>
        <p:spPr>
          <a:xfrm>
            <a:off x="5532120" y="4764024"/>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Within word limit</a:t>
            </a:r>
            <a:endParaRPr lang="en-US" sz="870" dirty="0"/>
          </a:p>
        </p:txBody>
      </p:sp>
      <p:sp>
        <p:nvSpPr>
          <p:cNvPr id="76" name="Shape 74"/>
          <p:cNvSpPr/>
          <p:nvPr/>
        </p:nvSpPr>
        <p:spPr>
          <a:xfrm>
            <a:off x="7342632" y="4736592"/>
            <a:ext cx="0" cy="429768"/>
          </a:xfrm>
          <a:prstGeom prst="line">
            <a:avLst/>
          </a:prstGeom>
          <a:noFill/>
          <a:ln w="5080">
            <a:solidFill>
              <a:srgbClr val="D9E2EC"/>
            </a:solidFill>
            <a:prstDash val="solid"/>
          </a:ln>
        </p:spPr>
      </p:sp>
      <p:sp>
        <p:nvSpPr>
          <p:cNvPr id="77" name="Shape 75"/>
          <p:cNvSpPr/>
          <p:nvPr/>
        </p:nvSpPr>
        <p:spPr>
          <a:xfrm>
            <a:off x="713232" y="5166360"/>
            <a:ext cx="6629400" cy="429768"/>
          </a:xfrm>
          <a:prstGeom prst="rect">
            <a:avLst/>
          </a:prstGeom>
          <a:solidFill>
            <a:srgbClr val="F7F9FB"/>
          </a:solidFill>
          <a:ln w="5080">
            <a:solidFill>
              <a:srgbClr val="D9E2EC"/>
            </a:solidFill>
            <a:prstDash val="solid"/>
          </a:ln>
        </p:spPr>
      </p:sp>
      <p:sp>
        <p:nvSpPr>
          <p:cNvPr id="78" name="Shape 76"/>
          <p:cNvSpPr/>
          <p:nvPr/>
        </p:nvSpPr>
        <p:spPr>
          <a:xfrm>
            <a:off x="713232" y="5166360"/>
            <a:ext cx="0" cy="429768"/>
          </a:xfrm>
          <a:prstGeom prst="line">
            <a:avLst/>
          </a:prstGeom>
          <a:noFill/>
          <a:ln w="5080">
            <a:solidFill>
              <a:srgbClr val="D9E2EC"/>
            </a:solidFill>
            <a:prstDash val="solid"/>
          </a:ln>
        </p:spPr>
      </p:sp>
      <p:sp>
        <p:nvSpPr>
          <p:cNvPr id="79" name="Text 77"/>
          <p:cNvSpPr/>
          <p:nvPr/>
        </p:nvSpPr>
        <p:spPr>
          <a:xfrm>
            <a:off x="758952" y="5193792"/>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Consistency</a:t>
            </a:r>
            <a:endParaRPr lang="en-US" sz="870" dirty="0"/>
          </a:p>
        </p:txBody>
      </p:sp>
      <p:sp>
        <p:nvSpPr>
          <p:cNvPr id="80" name="Shape 78"/>
          <p:cNvSpPr/>
          <p:nvPr/>
        </p:nvSpPr>
        <p:spPr>
          <a:xfrm>
            <a:off x="2569464" y="5166360"/>
            <a:ext cx="0" cy="429768"/>
          </a:xfrm>
          <a:prstGeom prst="line">
            <a:avLst/>
          </a:prstGeom>
          <a:noFill/>
          <a:ln w="5080">
            <a:solidFill>
              <a:srgbClr val="D9E2EC"/>
            </a:solidFill>
            <a:prstDash val="solid"/>
          </a:ln>
        </p:spPr>
      </p:sp>
      <p:sp>
        <p:nvSpPr>
          <p:cNvPr id="81" name="Text 79"/>
          <p:cNvSpPr/>
          <p:nvPr/>
        </p:nvSpPr>
        <p:spPr>
          <a:xfrm>
            <a:off x="2615184" y="5193792"/>
            <a:ext cx="2825496"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5%</a:t>
            </a:r>
            <a:endParaRPr lang="en-US" sz="870" dirty="0"/>
          </a:p>
        </p:txBody>
      </p:sp>
      <p:sp>
        <p:nvSpPr>
          <p:cNvPr id="82" name="Shape 80"/>
          <p:cNvSpPr/>
          <p:nvPr/>
        </p:nvSpPr>
        <p:spPr>
          <a:xfrm>
            <a:off x="5486400" y="5166360"/>
            <a:ext cx="0" cy="429768"/>
          </a:xfrm>
          <a:prstGeom prst="line">
            <a:avLst/>
          </a:prstGeom>
          <a:noFill/>
          <a:ln w="5080">
            <a:solidFill>
              <a:srgbClr val="D9E2EC"/>
            </a:solidFill>
            <a:prstDash val="solid"/>
          </a:ln>
        </p:spPr>
      </p:sp>
      <p:sp>
        <p:nvSpPr>
          <p:cNvPr id="83" name="Text 81"/>
          <p:cNvSpPr/>
          <p:nvPr/>
        </p:nvSpPr>
        <p:spPr>
          <a:xfrm>
            <a:off x="5532120" y="5193792"/>
            <a:ext cx="1764792" cy="374904"/>
          </a:xfrm>
          <a:prstGeom prst="rect">
            <a:avLst/>
          </a:prstGeom>
          <a:noFill/>
          <a:ln/>
        </p:spPr>
        <p:txBody>
          <a:bodyPr wrap="square" lIns="127" tIns="127" rIns="127" bIns="127" rtlCol="0" anchor="ctr">
            <a:normAutofit/>
          </a:bodyPr>
          <a:lstStyle/>
          <a:p>
            <a:pPr indent="0" marL="0">
              <a:buNone/>
            </a:pPr>
            <a:r>
              <a:rPr lang="en-US" sz="870" dirty="0">
                <a:solidFill>
                  <a:srgbClr val="0B1420"/>
                </a:solidFill>
              </a:rPr>
              <a:t>Stable in repeated runs</a:t>
            </a:r>
            <a:endParaRPr lang="en-US" sz="870" dirty="0"/>
          </a:p>
        </p:txBody>
      </p:sp>
      <p:sp>
        <p:nvSpPr>
          <p:cNvPr id="84" name="Shape 82"/>
          <p:cNvSpPr/>
          <p:nvPr/>
        </p:nvSpPr>
        <p:spPr>
          <a:xfrm>
            <a:off x="7342632" y="5166360"/>
            <a:ext cx="0" cy="429768"/>
          </a:xfrm>
          <a:prstGeom prst="line">
            <a:avLst/>
          </a:prstGeom>
          <a:noFill/>
          <a:ln w="5080">
            <a:solidFill>
              <a:srgbClr val="D9E2EC"/>
            </a:solidFill>
            <a:prstDash val="solid"/>
          </a:ln>
        </p:spPr>
      </p:sp>
      <p:sp>
        <p:nvSpPr>
          <p:cNvPr id="85" name="Shape 83"/>
          <p:cNvSpPr/>
          <p:nvPr/>
        </p:nvSpPr>
        <p:spPr>
          <a:xfrm>
            <a:off x="7909560" y="1417320"/>
            <a:ext cx="3429000" cy="3611880"/>
          </a:xfrm>
          <a:prstGeom prst="roundRect">
            <a:avLst>
              <a:gd name="adj" fmla="val 2133"/>
            </a:avLst>
          </a:prstGeom>
          <a:solidFill>
            <a:srgbClr val="EAF7F7"/>
          </a:solidFill>
          <a:ln w="12700">
            <a:solidFill>
              <a:srgbClr val="D9E2EC"/>
            </a:solidFill>
            <a:prstDash val="solid"/>
          </a:ln>
        </p:spPr>
      </p:sp>
      <p:sp>
        <p:nvSpPr>
          <p:cNvPr id="86" name="Text 84"/>
          <p:cNvSpPr/>
          <p:nvPr/>
        </p:nvSpPr>
        <p:spPr>
          <a:xfrm>
            <a:off x="8074152" y="1563624"/>
            <a:ext cx="309981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Recommended pass gate</a:t>
            </a:r>
            <a:endParaRPr lang="en-US" sz="1200" dirty="0"/>
          </a:p>
        </p:txBody>
      </p:sp>
      <p:sp>
        <p:nvSpPr>
          <p:cNvPr id="87" name="Text 85"/>
          <p:cNvSpPr/>
          <p:nvPr/>
        </p:nvSpPr>
        <p:spPr>
          <a:xfrm>
            <a:off x="8074152" y="1874520"/>
            <a:ext cx="3099816" cy="301752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Pass only if:</a:t>
            </a:r>
            <a:endParaRPr lang="en-US" sz="960" dirty="0"/>
          </a:p>
          <a:p>
            <a:pPr indent="0" marL="0">
              <a:buNone/>
            </a:pPr>
            <a:r>
              <a:rPr lang="en-US" sz="960" dirty="0">
                <a:solidFill>
                  <a:srgbClr val="0B1420"/>
                </a:solidFill>
              </a:rPr>
              <a:t>- Overall score &gt;= 85/100</a:t>
            </a:r>
            <a:endParaRPr lang="en-US" sz="960" dirty="0"/>
          </a:p>
          <a:p>
            <a:pPr indent="0" marL="0">
              <a:buNone/>
            </a:pPr>
            <a:r>
              <a:rPr lang="en-US" sz="960" dirty="0">
                <a:solidFill>
                  <a:srgbClr val="0B1420"/>
                </a:solidFill>
              </a:rPr>
              <a:t>- Accuracy &gt;= 4/5</a:t>
            </a:r>
            <a:endParaRPr lang="en-US" sz="960" dirty="0"/>
          </a:p>
          <a:p>
            <a:pPr indent="0" marL="0">
              <a:buNone/>
            </a:pPr>
            <a:r>
              <a:rPr lang="en-US" sz="960" dirty="0">
                <a:solidFill>
                  <a:srgbClr val="0B1420"/>
                </a:solidFill>
              </a:rPr>
              <a:t>- Groundedness &gt;= 4/5</a:t>
            </a:r>
            <a:endParaRPr lang="en-US" sz="960" dirty="0"/>
          </a:p>
          <a:p>
            <a:pPr indent="0" marL="0">
              <a:buNone/>
            </a:pPr>
            <a:r>
              <a:rPr lang="en-US" sz="960" dirty="0">
                <a:solidFill>
                  <a:srgbClr val="0B1420"/>
                </a:solidFill>
              </a:rPr>
              <a:t>- Safety = 5/5</a:t>
            </a:r>
            <a:endParaRPr lang="en-US" sz="960" dirty="0"/>
          </a:p>
          <a:p>
            <a:pPr indent="0" marL="0">
              <a:buNone/>
            </a:pPr>
            <a:r>
              <a:rPr lang="en-US" sz="960" dirty="0">
                <a:solidFill>
                  <a:srgbClr val="0B1420"/>
                </a:solidFill>
              </a:rPr>
              <a:t>- Hallucination rate = 0% for customer-facing facts</a:t>
            </a:r>
            <a:endParaRPr lang="en-US" sz="960" dirty="0"/>
          </a:p>
        </p:txBody>
      </p:sp>
      <p:sp>
        <p:nvSpPr>
          <p:cNvPr id="88" name="Text 86"/>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Worked example: hallucination rate</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Teach participants how to measure unsupported information.</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85800" y="1417320"/>
            <a:ext cx="5349240" cy="3017520"/>
          </a:xfrm>
          <a:prstGeom prst="roundRect">
            <a:avLst>
              <a:gd name="adj" fmla="val 1818"/>
            </a:avLst>
          </a:prstGeom>
          <a:solidFill>
            <a:srgbClr val="F8FAFC"/>
          </a:solidFill>
          <a:ln w="12700">
            <a:solidFill>
              <a:srgbClr val="D8DEE8"/>
            </a:solidFill>
            <a:prstDash val="solid"/>
          </a:ln>
        </p:spPr>
      </p:sp>
      <p:sp>
        <p:nvSpPr>
          <p:cNvPr id="6" name="Text 4"/>
          <p:cNvSpPr/>
          <p:nvPr/>
        </p:nvSpPr>
        <p:spPr>
          <a:xfrm>
            <a:off x="795528" y="1527048"/>
            <a:ext cx="5129784" cy="2798064"/>
          </a:xfrm>
          <a:prstGeom prst="rect">
            <a:avLst/>
          </a:prstGeom>
          <a:noFill/>
          <a:ln/>
        </p:spPr>
        <p:txBody>
          <a:bodyPr wrap="square" lIns="254" tIns="254" rIns="254" bIns="254" rtlCol="0" anchor="ctr">
            <a:normAutofit/>
          </a:bodyPr>
          <a:lstStyle/>
          <a:p>
            <a:pPr indent="0" marL="0">
              <a:buNone/>
            </a:pPr>
            <a:r>
              <a:rPr lang="en-US" sz="1150" dirty="0">
                <a:solidFill>
                  <a:srgbClr val="0B1420"/>
                </a:solidFill>
                <a:latin typeface="Cascadia Mono" pitchFamily="34" charset="0"/>
                <a:ea typeface="Cascadia Mono" pitchFamily="34" charset="-122"/>
                <a:cs typeface="Cascadia Mono" pitchFamily="34" charset="-120"/>
              </a:rPr>
              <a:t>Candidate claims:</a:t>
            </a:r>
            <a:endParaRPr lang="en-US" sz="1150" dirty="0"/>
          </a:p>
          <a:p>
            <a:pPr indent="0" marL="0">
              <a:buNone/>
            </a:pPr>
            <a:r>
              <a:rPr lang="en-US" sz="1150" dirty="0">
                <a:solidFill>
                  <a:srgbClr val="0B1420"/>
                </a:solidFill>
                <a:latin typeface="Cascadia Mono" pitchFamily="34" charset="0"/>
                <a:ea typeface="Cascadia Mono" pitchFamily="34" charset="-122"/>
                <a:cs typeface="Cascadia Mono" pitchFamily="34" charset="-120"/>
              </a:rPr>
              <a:t>1. Dispute has been approved.</a:t>
            </a:r>
            <a:endParaRPr lang="en-US" sz="1150" dirty="0"/>
          </a:p>
          <a:p>
            <a:pPr indent="0" marL="0">
              <a:buNone/>
            </a:pPr>
            <a:r>
              <a:rPr lang="en-US" sz="1150" dirty="0">
                <a:solidFill>
                  <a:srgbClr val="0B1420"/>
                </a:solidFill>
                <a:latin typeface="Cascadia Mono" pitchFamily="34" charset="0"/>
                <a:ea typeface="Cascadia Mono" pitchFamily="34" charset="-122"/>
                <a:cs typeface="Cascadia Mono" pitchFamily="34" charset="-120"/>
              </a:rPr>
              <a:t>2. Temporary credit will be applied in 24 hours.</a:t>
            </a:r>
            <a:endParaRPr lang="en-US" sz="1150" dirty="0"/>
          </a:p>
          <a:p>
            <a:pPr indent="0" marL="0">
              <a:buNone/>
            </a:pPr>
            <a:r>
              <a:rPr lang="en-US" sz="1150" dirty="0">
                <a:solidFill>
                  <a:srgbClr val="0B1420"/>
                </a:solidFill>
                <a:latin typeface="Cascadia Mono" pitchFamily="34" charset="0"/>
                <a:ea typeface="Cascadia Mono" pitchFamily="34" charset="-122"/>
                <a:cs typeface="Cascadia Mono" pitchFamily="34" charset="-120"/>
              </a:rPr>
              <a:t>3. Customer does not need to pay.</a:t>
            </a:r>
            <a:endParaRPr lang="en-US" sz="1150" dirty="0"/>
          </a:p>
          <a:p>
            <a:pPr indent="0" marL="0">
              <a:buNone/>
            </a:pPr>
            <a:r>
              <a:rPr lang="en-US" sz="1150" dirty="0">
                <a:solidFill>
                  <a:srgbClr val="0B1420"/>
                </a:solidFill>
                <a:latin typeface="Cascadia Mono" pitchFamily="34" charset="0"/>
                <a:ea typeface="Cascadia Mono" pitchFamily="34" charset="-122"/>
                <a:cs typeface="Cascadia Mono" pitchFamily="34" charset="-120"/>
              </a:rPr>
              <a:t>4. Investigation will complete in five business days.</a:t>
            </a:r>
            <a:endParaRPr lang="en-US" sz="1150" dirty="0"/>
          </a:p>
          <a:p>
            <a:pPr indent="0" marL="0">
              <a:buNone/>
            </a:pPr>
            <a:r>
              <a:rPr lang="en-US" sz="1150" dirty="0">
                <a:solidFill>
                  <a:srgbClr val="0B1420"/>
                </a:solidFill>
                <a:latin typeface="Cascadia Mono" pitchFamily="34" charset="0"/>
                <a:ea typeface="Cascadia Mono" pitchFamily="34" charset="-122"/>
                <a:cs typeface="Cascadia Mono" pitchFamily="34" charset="-120"/>
              </a:rPr>
              <a:t>5. Transaction amount is $846.75.</a:t>
            </a:r>
            <a:endParaRPr lang="en-US" sz="1150" dirty="0"/>
          </a:p>
        </p:txBody>
      </p:sp>
      <p:sp>
        <p:nvSpPr>
          <p:cNvPr id="7" name="Shape 5"/>
          <p:cNvSpPr/>
          <p:nvPr/>
        </p:nvSpPr>
        <p:spPr>
          <a:xfrm>
            <a:off x="6446520" y="1417320"/>
            <a:ext cx="4617720" cy="2148840"/>
          </a:xfrm>
          <a:prstGeom prst="roundRect">
            <a:avLst>
              <a:gd name="adj" fmla="val 3404"/>
            </a:avLst>
          </a:prstGeom>
          <a:solidFill>
            <a:srgbClr val="FFF8EA"/>
          </a:solidFill>
          <a:ln w="12700">
            <a:solidFill>
              <a:srgbClr val="D9E2EC"/>
            </a:solidFill>
            <a:prstDash val="solid"/>
          </a:ln>
        </p:spPr>
      </p:sp>
      <p:sp>
        <p:nvSpPr>
          <p:cNvPr id="8" name="Text 6"/>
          <p:cNvSpPr/>
          <p:nvPr/>
        </p:nvSpPr>
        <p:spPr>
          <a:xfrm>
            <a:off x="6611112" y="1563624"/>
            <a:ext cx="42885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Claim check</a:t>
            </a:r>
            <a:endParaRPr lang="en-US" sz="1200" dirty="0"/>
          </a:p>
        </p:txBody>
      </p:sp>
      <p:sp>
        <p:nvSpPr>
          <p:cNvPr id="9" name="Text 7"/>
          <p:cNvSpPr/>
          <p:nvPr/>
        </p:nvSpPr>
        <p:spPr>
          <a:xfrm>
            <a:off x="6611112" y="1874520"/>
            <a:ext cx="4288536" cy="15544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Supported claim: #5 only</a:t>
            </a:r>
            <a:endParaRPr lang="en-US" sz="960" dirty="0"/>
          </a:p>
          <a:p>
            <a:pPr indent="0" marL="0">
              <a:buNone/>
            </a:pPr>
            <a:r>
              <a:rPr lang="en-US" sz="960" dirty="0">
                <a:solidFill>
                  <a:srgbClr val="0B1420"/>
                </a:solidFill>
              </a:rPr>
              <a:t>Unsupported claims: #1, #2, #3, #4</a:t>
            </a:r>
            <a:endParaRPr lang="en-US" sz="960" dirty="0"/>
          </a:p>
          <a:p>
            <a:pPr indent="0" marL="0">
              <a:buNone/>
            </a:pPr>
            <a:r>
              <a:rPr lang="en-US" sz="960" dirty="0">
                <a:solidFill>
                  <a:srgbClr val="0B1420"/>
                </a:solidFill>
              </a:rPr>
              <a:t>Total factual claims: 5</a:t>
            </a:r>
            <a:endParaRPr lang="en-US" sz="960" dirty="0"/>
          </a:p>
          <a:p>
            <a:pPr indent="0" marL="0">
              <a:buNone/>
            </a:pPr>
            <a:r>
              <a:rPr lang="en-US" sz="960" dirty="0">
                <a:solidFill>
                  <a:srgbClr val="0B1420"/>
                </a:solidFill>
              </a:rPr>
              <a:t>Unsupported factual claims: 4</a:t>
            </a:r>
            <a:endParaRPr lang="en-US" sz="960" dirty="0"/>
          </a:p>
        </p:txBody>
      </p:sp>
      <p:sp>
        <p:nvSpPr>
          <p:cNvPr id="10" name="Shape 8"/>
          <p:cNvSpPr/>
          <p:nvPr/>
        </p:nvSpPr>
        <p:spPr>
          <a:xfrm>
            <a:off x="6446520" y="3977640"/>
            <a:ext cx="4617720" cy="1463040"/>
          </a:xfrm>
          <a:prstGeom prst="roundRect">
            <a:avLst>
              <a:gd name="adj" fmla="val 5000"/>
            </a:avLst>
          </a:prstGeom>
          <a:solidFill>
            <a:srgbClr val="FFF1F1"/>
          </a:solidFill>
          <a:ln w="12700">
            <a:solidFill>
              <a:srgbClr val="D9E2EC"/>
            </a:solidFill>
            <a:prstDash val="solid"/>
          </a:ln>
        </p:spPr>
      </p:sp>
      <p:sp>
        <p:nvSpPr>
          <p:cNvPr id="11" name="Text 9"/>
          <p:cNvSpPr/>
          <p:nvPr/>
        </p:nvSpPr>
        <p:spPr>
          <a:xfrm>
            <a:off x="6611112" y="4123944"/>
            <a:ext cx="42885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Formula</a:t>
            </a:r>
            <a:endParaRPr lang="en-US" sz="1200" dirty="0"/>
          </a:p>
        </p:txBody>
      </p:sp>
      <p:sp>
        <p:nvSpPr>
          <p:cNvPr id="12" name="Text 10"/>
          <p:cNvSpPr/>
          <p:nvPr/>
        </p:nvSpPr>
        <p:spPr>
          <a:xfrm>
            <a:off x="6611112" y="4434840"/>
            <a:ext cx="4288536" cy="8686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Hallucination rate = 4 / 5 x 100 = 80%</a:t>
            </a:r>
            <a:endParaRPr lang="en-US" sz="960" dirty="0"/>
          </a:p>
          <a:p>
            <a:pPr indent="0" marL="0">
              <a:buNone/>
            </a:pPr>
            <a:r>
              <a:rPr lang="en-US" sz="960" dirty="0">
                <a:solidFill>
                  <a:srgbClr val="0B1420"/>
                </a:solidFill>
              </a:rPr>
              <a:t>Result: Reject for customer-facing use.</a:t>
            </a:r>
            <a:endParaRPr lang="en-US" sz="960" dirty="0"/>
          </a:p>
        </p:txBody>
      </p:sp>
      <p:sp>
        <p:nvSpPr>
          <p:cNvPr id="13" name="Text 11"/>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Consistency testing</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A prompt is not reliable if it behaves differently every time.</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85800" y="1417320"/>
            <a:ext cx="3246120" cy="1371600"/>
          </a:xfrm>
          <a:prstGeom prst="roundRect">
            <a:avLst>
              <a:gd name="adj" fmla="val 5333"/>
            </a:avLst>
          </a:prstGeom>
          <a:solidFill>
            <a:srgbClr val="F7F9FB"/>
          </a:solidFill>
          <a:ln w="12700">
            <a:solidFill>
              <a:srgbClr val="D9E2EC"/>
            </a:solidFill>
            <a:prstDash val="solid"/>
          </a:ln>
        </p:spPr>
      </p:sp>
      <p:sp>
        <p:nvSpPr>
          <p:cNvPr id="6" name="Text 4"/>
          <p:cNvSpPr/>
          <p:nvPr/>
        </p:nvSpPr>
        <p:spPr>
          <a:xfrm>
            <a:off x="850392" y="156362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Run plan</a:t>
            </a:r>
            <a:endParaRPr lang="en-US" sz="1200" dirty="0"/>
          </a:p>
        </p:txBody>
      </p:sp>
      <p:sp>
        <p:nvSpPr>
          <p:cNvPr id="7" name="Text 5"/>
          <p:cNvSpPr/>
          <p:nvPr/>
        </p:nvSpPr>
        <p:spPr>
          <a:xfrm>
            <a:off x="850392" y="1874520"/>
            <a:ext cx="2916936" cy="77724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Use the same input 5 times. Save every output. Compare key fields.</a:t>
            </a:r>
            <a:endParaRPr lang="en-US" sz="960" dirty="0"/>
          </a:p>
        </p:txBody>
      </p:sp>
      <p:sp>
        <p:nvSpPr>
          <p:cNvPr id="8" name="Shape 6"/>
          <p:cNvSpPr/>
          <p:nvPr/>
        </p:nvSpPr>
        <p:spPr>
          <a:xfrm>
            <a:off x="4480560" y="1417320"/>
            <a:ext cx="3246120" cy="1371600"/>
          </a:xfrm>
          <a:prstGeom prst="roundRect">
            <a:avLst>
              <a:gd name="adj" fmla="val 5333"/>
            </a:avLst>
          </a:prstGeom>
          <a:solidFill>
            <a:srgbClr val="F7F9FB"/>
          </a:solidFill>
          <a:ln w="12700">
            <a:solidFill>
              <a:srgbClr val="D9E2EC"/>
            </a:solidFill>
            <a:prstDash val="solid"/>
          </a:ln>
        </p:spPr>
      </p:sp>
      <p:sp>
        <p:nvSpPr>
          <p:cNvPr id="9" name="Text 7"/>
          <p:cNvSpPr/>
          <p:nvPr/>
        </p:nvSpPr>
        <p:spPr>
          <a:xfrm>
            <a:off x="4645152" y="1563624"/>
            <a:ext cx="29169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Fields to compare</a:t>
            </a:r>
            <a:endParaRPr lang="en-US" sz="1200" dirty="0"/>
          </a:p>
        </p:txBody>
      </p:sp>
      <p:sp>
        <p:nvSpPr>
          <p:cNvPr id="10" name="Text 8"/>
          <p:cNvSpPr/>
          <p:nvPr/>
        </p:nvSpPr>
        <p:spPr>
          <a:xfrm>
            <a:off x="4645152" y="1874520"/>
            <a:ext cx="2916936" cy="77724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Primary issue, severity, missing info, route, safety controls, final customer response.</a:t>
            </a:r>
            <a:endParaRPr lang="en-US" sz="960" dirty="0"/>
          </a:p>
        </p:txBody>
      </p:sp>
      <p:sp>
        <p:nvSpPr>
          <p:cNvPr id="11" name="Shape 9"/>
          <p:cNvSpPr/>
          <p:nvPr/>
        </p:nvSpPr>
        <p:spPr>
          <a:xfrm>
            <a:off x="8275320" y="1417320"/>
            <a:ext cx="2971800" cy="1371600"/>
          </a:xfrm>
          <a:prstGeom prst="roundRect">
            <a:avLst>
              <a:gd name="adj" fmla="val 5333"/>
            </a:avLst>
          </a:prstGeom>
          <a:solidFill>
            <a:srgbClr val="F7F9FB"/>
          </a:solidFill>
          <a:ln w="12700">
            <a:solidFill>
              <a:srgbClr val="D9E2EC"/>
            </a:solidFill>
            <a:prstDash val="solid"/>
          </a:ln>
        </p:spPr>
      </p:sp>
      <p:sp>
        <p:nvSpPr>
          <p:cNvPr id="12" name="Text 10"/>
          <p:cNvSpPr/>
          <p:nvPr/>
        </p:nvSpPr>
        <p:spPr>
          <a:xfrm>
            <a:off x="8439912" y="1563624"/>
            <a:ext cx="264261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Decision rule</a:t>
            </a:r>
            <a:endParaRPr lang="en-US" sz="1200" dirty="0"/>
          </a:p>
        </p:txBody>
      </p:sp>
      <p:sp>
        <p:nvSpPr>
          <p:cNvPr id="13" name="Text 11"/>
          <p:cNvSpPr/>
          <p:nvPr/>
        </p:nvSpPr>
        <p:spPr>
          <a:xfrm>
            <a:off x="8439912" y="1874520"/>
            <a:ext cx="2642616" cy="77724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Pass if critical fields are stable. Revise prompt if severity or controls vary.</a:t>
            </a:r>
            <a:endParaRPr lang="en-US" sz="960" dirty="0"/>
          </a:p>
        </p:txBody>
      </p:sp>
      <p:sp>
        <p:nvSpPr>
          <p:cNvPr id="14" name="Shape 12"/>
          <p:cNvSpPr/>
          <p:nvPr/>
        </p:nvSpPr>
        <p:spPr>
          <a:xfrm>
            <a:off x="685800" y="3703320"/>
            <a:ext cx="10561320" cy="960120"/>
          </a:xfrm>
          <a:prstGeom prst="roundRect">
            <a:avLst>
              <a:gd name="adj" fmla="val 5714"/>
            </a:avLst>
          </a:prstGeom>
          <a:solidFill>
            <a:srgbClr val="F8FAFC"/>
          </a:solidFill>
          <a:ln w="12700">
            <a:solidFill>
              <a:srgbClr val="D8DEE8"/>
            </a:solidFill>
            <a:prstDash val="solid"/>
          </a:ln>
        </p:spPr>
      </p:sp>
      <p:sp>
        <p:nvSpPr>
          <p:cNvPr id="15" name="Text 13"/>
          <p:cNvSpPr/>
          <p:nvPr/>
        </p:nvSpPr>
        <p:spPr>
          <a:xfrm>
            <a:off x="795528" y="3813048"/>
            <a:ext cx="10341864" cy="740664"/>
          </a:xfrm>
          <a:prstGeom prst="rect">
            <a:avLst/>
          </a:prstGeom>
          <a:noFill/>
          <a:ln/>
        </p:spPr>
        <p:txBody>
          <a:bodyPr wrap="square" lIns="254" tIns="254" rIns="254" bIns="254" rtlCol="0" anchor="ctr">
            <a:normAutofit/>
          </a:bodyPr>
          <a:lstStyle/>
          <a:p>
            <a:pPr indent="0" marL="0">
              <a:buNone/>
            </a:pPr>
            <a:r>
              <a:rPr lang="en-US" sz="1200" dirty="0">
                <a:solidFill>
                  <a:srgbClr val="0B1420"/>
                </a:solidFill>
                <a:latin typeface="Cascadia Mono" pitchFamily="34" charset="0"/>
                <a:ea typeface="Cascadia Mono" pitchFamily="34" charset="-122"/>
                <a:cs typeface="Cascadia Mono" pitchFamily="34" charset="-120"/>
              </a:rPr>
              <a:t>Consistency table columns:</a:t>
            </a:r>
            <a:endParaRPr lang="en-US" sz="1200" dirty="0"/>
          </a:p>
          <a:p>
            <a:pPr indent="0" marL="0">
              <a:buNone/>
            </a:pPr>
            <a:r>
              <a:rPr lang="en-US" sz="1200" dirty="0">
                <a:solidFill>
                  <a:srgbClr val="0B1420"/>
                </a:solidFill>
                <a:latin typeface="Cascadia Mono" pitchFamily="34" charset="0"/>
                <a:ea typeface="Cascadia Mono" pitchFamily="34" charset="-122"/>
                <a:cs typeface="Cascadia Mono" pitchFamily="34" charset="-120"/>
              </a:rPr>
              <a:t>Run | Primary issue | Severity | Missing info | Controls applied | Pass/Fail | Notes</a:t>
            </a:r>
            <a:endParaRPr lang="en-US" sz="1200" dirty="0"/>
          </a:p>
        </p:txBody>
      </p:sp>
      <p:sp>
        <p:nvSpPr>
          <p:cNvPr id="16" name="Shape 14"/>
          <p:cNvSpPr/>
          <p:nvPr/>
        </p:nvSpPr>
        <p:spPr>
          <a:xfrm>
            <a:off x="685800" y="5074920"/>
            <a:ext cx="10561320" cy="822960"/>
          </a:xfrm>
          <a:prstGeom prst="roundRect">
            <a:avLst>
              <a:gd name="adj" fmla="val 8889"/>
            </a:avLst>
          </a:prstGeom>
          <a:solidFill>
            <a:srgbClr val="EAF7F7"/>
          </a:solidFill>
          <a:ln w="12700">
            <a:solidFill>
              <a:srgbClr val="D9E2EC"/>
            </a:solidFill>
            <a:prstDash val="solid"/>
          </a:ln>
        </p:spPr>
      </p:sp>
      <p:sp>
        <p:nvSpPr>
          <p:cNvPr id="17" name="Text 15"/>
          <p:cNvSpPr/>
          <p:nvPr/>
        </p:nvSpPr>
        <p:spPr>
          <a:xfrm>
            <a:off x="850392" y="5221224"/>
            <a:ext cx="102321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Participant instruction</a:t>
            </a:r>
            <a:endParaRPr lang="en-US" sz="1200" dirty="0"/>
          </a:p>
        </p:txBody>
      </p:sp>
      <p:sp>
        <p:nvSpPr>
          <p:cNvPr id="18" name="Text 16"/>
          <p:cNvSpPr/>
          <p:nvPr/>
        </p:nvSpPr>
        <p:spPr>
          <a:xfrm>
            <a:off x="850392" y="5532120"/>
            <a:ext cx="10232136" cy="22860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Change the wording of the prompt, not the input, until the result becomes stable and auditable.</a:t>
            </a:r>
            <a:endParaRPr lang="en-US" sz="960" dirty="0"/>
          </a:p>
        </p:txBody>
      </p:sp>
      <p:sp>
        <p:nvSpPr>
          <p:cNvPr id="19" name="Text 17"/>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LLM-as-a-judge prompt</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Use carefully: the evaluator is helpful, but not a replacement for authorized review.</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85800" y="1325880"/>
            <a:ext cx="10698480" cy="2057400"/>
          </a:xfrm>
          <a:prstGeom prst="roundRect">
            <a:avLst>
              <a:gd name="adj" fmla="val 2667"/>
            </a:avLst>
          </a:prstGeom>
          <a:solidFill>
            <a:srgbClr val="F8FAFC"/>
          </a:solidFill>
          <a:ln w="12700">
            <a:solidFill>
              <a:srgbClr val="D8DEE8"/>
            </a:solidFill>
            <a:prstDash val="solid"/>
          </a:ln>
        </p:spPr>
      </p:sp>
      <p:sp>
        <p:nvSpPr>
          <p:cNvPr id="6" name="Text 4"/>
          <p:cNvSpPr/>
          <p:nvPr/>
        </p:nvSpPr>
        <p:spPr>
          <a:xfrm>
            <a:off x="795528" y="1435608"/>
            <a:ext cx="10479024" cy="1837944"/>
          </a:xfrm>
          <a:prstGeom prst="rect">
            <a:avLst/>
          </a:prstGeom>
          <a:noFill/>
          <a:ln/>
        </p:spPr>
        <p:txBody>
          <a:bodyPr wrap="square" lIns="254" tIns="254" rIns="254" bIns="254" rtlCol="0" anchor="ctr">
            <a:normAutofit/>
          </a:bodyPr>
          <a:lstStyle/>
          <a:p>
            <a:pPr indent="0" marL="0">
              <a:buNone/>
            </a:pPr>
            <a:r>
              <a:rPr lang="en-US" sz="1200" dirty="0">
                <a:solidFill>
                  <a:srgbClr val="0B1420"/>
                </a:solidFill>
                <a:latin typeface="Cascadia Mono" pitchFamily="34" charset="0"/>
                <a:ea typeface="Cascadia Mono" pitchFamily="34" charset="-122"/>
                <a:cs typeface="Cascadia Mono" pitchFamily="34" charset="-120"/>
              </a:rPr>
              <a:t>You are an impartial evaluator. Compare Response A and Response B against the verified facts. Score each response from 1-5 for accuracy, relevance, completeness, groundedness, tone, safety, and format compliance. Identify unsupported claims. Choose the safer response and explain why. Do not reward longer answers unless they are more accurate and complete.</a:t>
            </a:r>
            <a:endParaRPr lang="en-US" sz="1200" dirty="0"/>
          </a:p>
        </p:txBody>
      </p:sp>
      <p:sp>
        <p:nvSpPr>
          <p:cNvPr id="7" name="Shape 5"/>
          <p:cNvSpPr/>
          <p:nvPr/>
        </p:nvSpPr>
        <p:spPr>
          <a:xfrm>
            <a:off x="685800" y="3886200"/>
            <a:ext cx="5074920" cy="1234440"/>
          </a:xfrm>
          <a:prstGeom prst="roundRect">
            <a:avLst>
              <a:gd name="adj" fmla="val 5926"/>
            </a:avLst>
          </a:prstGeom>
          <a:solidFill>
            <a:srgbClr val="FFF8EA"/>
          </a:solidFill>
          <a:ln w="12700">
            <a:solidFill>
              <a:srgbClr val="D9E2EC"/>
            </a:solidFill>
            <a:prstDash val="solid"/>
          </a:ln>
        </p:spPr>
      </p:sp>
      <p:sp>
        <p:nvSpPr>
          <p:cNvPr id="8" name="Text 6"/>
          <p:cNvSpPr/>
          <p:nvPr/>
        </p:nvSpPr>
        <p:spPr>
          <a:xfrm>
            <a:off x="850392" y="4032504"/>
            <a:ext cx="47457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Controls</a:t>
            </a:r>
            <a:endParaRPr lang="en-US" sz="1200" dirty="0"/>
          </a:p>
        </p:txBody>
      </p:sp>
      <p:sp>
        <p:nvSpPr>
          <p:cNvPr id="9" name="Text 7"/>
          <p:cNvSpPr/>
          <p:nvPr/>
        </p:nvSpPr>
        <p:spPr>
          <a:xfrm>
            <a:off x="850392" y="4343400"/>
            <a:ext cx="474573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Use verified facts only. Require citations to evidence. Penalize unsupported promises. Penalize policy assumptions. Human review remains mandatory.</a:t>
            </a:r>
            <a:endParaRPr lang="en-US" sz="960" dirty="0"/>
          </a:p>
        </p:txBody>
      </p:sp>
      <p:sp>
        <p:nvSpPr>
          <p:cNvPr id="10" name="Shape 8"/>
          <p:cNvSpPr/>
          <p:nvPr/>
        </p:nvSpPr>
        <p:spPr>
          <a:xfrm>
            <a:off x="6309360" y="3886200"/>
            <a:ext cx="5074920" cy="1234440"/>
          </a:xfrm>
          <a:prstGeom prst="roundRect">
            <a:avLst>
              <a:gd name="adj" fmla="val 5926"/>
            </a:avLst>
          </a:prstGeom>
          <a:solidFill>
            <a:srgbClr val="FFF1F1"/>
          </a:solidFill>
          <a:ln w="12700">
            <a:solidFill>
              <a:srgbClr val="D9E2EC"/>
            </a:solidFill>
            <a:prstDash val="solid"/>
          </a:ln>
        </p:spPr>
      </p:sp>
      <p:sp>
        <p:nvSpPr>
          <p:cNvPr id="11" name="Text 9"/>
          <p:cNvSpPr/>
          <p:nvPr/>
        </p:nvSpPr>
        <p:spPr>
          <a:xfrm>
            <a:off x="6473952" y="4032504"/>
            <a:ext cx="474573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Limitation</a:t>
            </a:r>
            <a:endParaRPr lang="en-US" sz="1200" dirty="0"/>
          </a:p>
        </p:txBody>
      </p:sp>
      <p:sp>
        <p:nvSpPr>
          <p:cNvPr id="12" name="Text 10"/>
          <p:cNvSpPr/>
          <p:nvPr/>
        </p:nvSpPr>
        <p:spPr>
          <a:xfrm>
            <a:off x="6473952" y="4343400"/>
            <a:ext cx="474573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The judge can also be wrong. Use it to speed review, not to remove accountability.</a:t>
            </a:r>
            <a:endParaRPr lang="en-US" sz="960" dirty="0"/>
          </a:p>
        </p:txBody>
      </p:sp>
      <p:sp>
        <p:nvSpPr>
          <p:cNvPr id="13" name="Text 11"/>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Participant lab: make the framework work</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Experienced professionals should build a measurable test, not just a better prompt.</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85800" y="1325880"/>
            <a:ext cx="3154680" cy="1234440"/>
          </a:xfrm>
          <a:prstGeom prst="roundRect">
            <a:avLst>
              <a:gd name="adj" fmla="val 5926"/>
            </a:avLst>
          </a:prstGeom>
          <a:solidFill>
            <a:srgbClr val="F7F9FB"/>
          </a:solidFill>
          <a:ln w="12700">
            <a:solidFill>
              <a:srgbClr val="D9E2EC"/>
            </a:solidFill>
            <a:prstDash val="solid"/>
          </a:ln>
        </p:spPr>
      </p:sp>
      <p:sp>
        <p:nvSpPr>
          <p:cNvPr id="6" name="Text 4"/>
          <p:cNvSpPr/>
          <p:nvPr/>
        </p:nvSpPr>
        <p:spPr>
          <a:xfrm>
            <a:off x="850392" y="147218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1</a:t>
            </a:r>
            <a:endParaRPr lang="en-US" sz="1200" dirty="0"/>
          </a:p>
        </p:txBody>
      </p:sp>
      <p:sp>
        <p:nvSpPr>
          <p:cNvPr id="7" name="Text 5"/>
          <p:cNvSpPr/>
          <p:nvPr/>
        </p:nvSpPr>
        <p:spPr>
          <a:xfrm>
            <a:off x="850392" y="1783080"/>
            <a:ext cx="282549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Create a full evaluation prompt with embedded complaint input and candidate response.</a:t>
            </a:r>
            <a:endParaRPr lang="en-US" sz="960" dirty="0"/>
          </a:p>
        </p:txBody>
      </p:sp>
      <p:sp>
        <p:nvSpPr>
          <p:cNvPr id="8" name="Shape 6"/>
          <p:cNvSpPr/>
          <p:nvPr/>
        </p:nvSpPr>
        <p:spPr>
          <a:xfrm>
            <a:off x="4526280" y="1325880"/>
            <a:ext cx="3154680" cy="1234440"/>
          </a:xfrm>
          <a:prstGeom prst="roundRect">
            <a:avLst>
              <a:gd name="adj" fmla="val 5926"/>
            </a:avLst>
          </a:prstGeom>
          <a:solidFill>
            <a:srgbClr val="F7F9FB"/>
          </a:solidFill>
          <a:ln w="12700">
            <a:solidFill>
              <a:srgbClr val="D9E2EC"/>
            </a:solidFill>
            <a:prstDash val="solid"/>
          </a:ln>
        </p:spPr>
      </p:sp>
      <p:sp>
        <p:nvSpPr>
          <p:cNvPr id="9" name="Text 7"/>
          <p:cNvSpPr/>
          <p:nvPr/>
        </p:nvSpPr>
        <p:spPr>
          <a:xfrm>
            <a:off x="4690872" y="147218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2</a:t>
            </a:r>
            <a:endParaRPr lang="en-US" sz="1200" dirty="0"/>
          </a:p>
        </p:txBody>
      </p:sp>
      <p:sp>
        <p:nvSpPr>
          <p:cNvPr id="10" name="Text 8"/>
          <p:cNvSpPr/>
          <p:nvPr/>
        </p:nvSpPr>
        <p:spPr>
          <a:xfrm>
            <a:off x="4690872" y="1783080"/>
            <a:ext cx="282549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Score the candidate output using the 10 metrics and a pass gate.</a:t>
            </a:r>
            <a:endParaRPr lang="en-US" sz="960" dirty="0"/>
          </a:p>
        </p:txBody>
      </p:sp>
      <p:sp>
        <p:nvSpPr>
          <p:cNvPr id="11" name="Shape 9"/>
          <p:cNvSpPr/>
          <p:nvPr/>
        </p:nvSpPr>
        <p:spPr>
          <a:xfrm>
            <a:off x="8275320" y="1325880"/>
            <a:ext cx="2880360" cy="1234440"/>
          </a:xfrm>
          <a:prstGeom prst="roundRect">
            <a:avLst>
              <a:gd name="adj" fmla="val 5926"/>
            </a:avLst>
          </a:prstGeom>
          <a:solidFill>
            <a:srgbClr val="F7F9FB"/>
          </a:solidFill>
          <a:ln w="12700">
            <a:solidFill>
              <a:srgbClr val="D9E2EC"/>
            </a:solidFill>
            <a:prstDash val="solid"/>
          </a:ln>
        </p:spPr>
      </p:sp>
      <p:sp>
        <p:nvSpPr>
          <p:cNvPr id="12" name="Text 10"/>
          <p:cNvSpPr/>
          <p:nvPr/>
        </p:nvSpPr>
        <p:spPr>
          <a:xfrm>
            <a:off x="8439912" y="1472184"/>
            <a:ext cx="25511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3</a:t>
            </a:r>
            <a:endParaRPr lang="en-US" sz="1200" dirty="0"/>
          </a:p>
        </p:txBody>
      </p:sp>
      <p:sp>
        <p:nvSpPr>
          <p:cNvPr id="13" name="Text 11"/>
          <p:cNvSpPr/>
          <p:nvPr/>
        </p:nvSpPr>
        <p:spPr>
          <a:xfrm>
            <a:off x="8439912" y="1783080"/>
            <a:ext cx="255117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Calculate hallucination rate and list unsupported claims.</a:t>
            </a:r>
            <a:endParaRPr lang="en-US" sz="960" dirty="0"/>
          </a:p>
        </p:txBody>
      </p:sp>
      <p:sp>
        <p:nvSpPr>
          <p:cNvPr id="14" name="Shape 12"/>
          <p:cNvSpPr/>
          <p:nvPr/>
        </p:nvSpPr>
        <p:spPr>
          <a:xfrm>
            <a:off x="685800" y="3154680"/>
            <a:ext cx="3154680" cy="1234440"/>
          </a:xfrm>
          <a:prstGeom prst="roundRect">
            <a:avLst>
              <a:gd name="adj" fmla="val 5926"/>
            </a:avLst>
          </a:prstGeom>
          <a:solidFill>
            <a:srgbClr val="F7F9FB"/>
          </a:solidFill>
          <a:ln w="12700">
            <a:solidFill>
              <a:srgbClr val="D9E2EC"/>
            </a:solidFill>
            <a:prstDash val="solid"/>
          </a:ln>
        </p:spPr>
      </p:sp>
      <p:sp>
        <p:nvSpPr>
          <p:cNvPr id="15" name="Text 13"/>
          <p:cNvSpPr/>
          <p:nvPr/>
        </p:nvSpPr>
        <p:spPr>
          <a:xfrm>
            <a:off x="850392" y="330098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4</a:t>
            </a:r>
            <a:endParaRPr lang="en-US" sz="1200" dirty="0"/>
          </a:p>
        </p:txBody>
      </p:sp>
      <p:sp>
        <p:nvSpPr>
          <p:cNvPr id="16" name="Text 14"/>
          <p:cNvSpPr/>
          <p:nvPr/>
        </p:nvSpPr>
        <p:spPr>
          <a:xfrm>
            <a:off x="850392" y="3611880"/>
            <a:ext cx="282549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Run the prompt 3 times and record consistency differences.</a:t>
            </a:r>
            <a:endParaRPr lang="en-US" sz="960" dirty="0"/>
          </a:p>
        </p:txBody>
      </p:sp>
      <p:sp>
        <p:nvSpPr>
          <p:cNvPr id="17" name="Shape 15"/>
          <p:cNvSpPr/>
          <p:nvPr/>
        </p:nvSpPr>
        <p:spPr>
          <a:xfrm>
            <a:off x="4526280" y="3154680"/>
            <a:ext cx="3154680" cy="1234440"/>
          </a:xfrm>
          <a:prstGeom prst="roundRect">
            <a:avLst>
              <a:gd name="adj" fmla="val 5926"/>
            </a:avLst>
          </a:prstGeom>
          <a:solidFill>
            <a:srgbClr val="F7F9FB"/>
          </a:solidFill>
          <a:ln w="12700">
            <a:solidFill>
              <a:srgbClr val="D9E2EC"/>
            </a:solidFill>
            <a:prstDash val="solid"/>
          </a:ln>
        </p:spPr>
      </p:sp>
      <p:sp>
        <p:nvSpPr>
          <p:cNvPr id="18" name="Text 16"/>
          <p:cNvSpPr/>
          <p:nvPr/>
        </p:nvSpPr>
        <p:spPr>
          <a:xfrm>
            <a:off x="4690872" y="3300984"/>
            <a:ext cx="282549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5</a:t>
            </a:r>
            <a:endParaRPr lang="en-US" sz="1200" dirty="0"/>
          </a:p>
        </p:txBody>
      </p:sp>
      <p:sp>
        <p:nvSpPr>
          <p:cNvPr id="19" name="Text 17"/>
          <p:cNvSpPr/>
          <p:nvPr/>
        </p:nvSpPr>
        <p:spPr>
          <a:xfrm>
            <a:off x="4690872" y="3611880"/>
            <a:ext cx="282549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Revise the prompt to improve safety, grounding, and format compliance.</a:t>
            </a:r>
            <a:endParaRPr lang="en-US" sz="960" dirty="0"/>
          </a:p>
        </p:txBody>
      </p:sp>
      <p:sp>
        <p:nvSpPr>
          <p:cNvPr id="20" name="Shape 18"/>
          <p:cNvSpPr/>
          <p:nvPr/>
        </p:nvSpPr>
        <p:spPr>
          <a:xfrm>
            <a:off x="8275320" y="3154680"/>
            <a:ext cx="2880360" cy="1234440"/>
          </a:xfrm>
          <a:prstGeom prst="roundRect">
            <a:avLst>
              <a:gd name="adj" fmla="val 5926"/>
            </a:avLst>
          </a:prstGeom>
          <a:solidFill>
            <a:srgbClr val="F7F9FB"/>
          </a:solidFill>
          <a:ln w="12700">
            <a:solidFill>
              <a:srgbClr val="D9E2EC"/>
            </a:solidFill>
            <a:prstDash val="solid"/>
          </a:ln>
        </p:spPr>
      </p:sp>
      <p:sp>
        <p:nvSpPr>
          <p:cNvPr id="21" name="Text 19"/>
          <p:cNvSpPr/>
          <p:nvPr/>
        </p:nvSpPr>
        <p:spPr>
          <a:xfrm>
            <a:off x="8439912" y="3300984"/>
            <a:ext cx="2551176" cy="201168"/>
          </a:xfrm>
          <a:prstGeom prst="rect">
            <a:avLst/>
          </a:prstGeom>
          <a:noFill/>
          <a:ln/>
        </p:spPr>
        <p:txBody>
          <a:bodyPr wrap="square" lIns="0" tIns="0" rIns="0" bIns="0" rtlCol="0" anchor="ctr">
            <a:normAutofit/>
          </a:bodyPr>
          <a:lstStyle/>
          <a:p>
            <a:pPr indent="0" marL="0">
              <a:buNone/>
            </a:pPr>
            <a:r>
              <a:rPr lang="en-US" sz="1200" b="1" dirty="0">
                <a:solidFill>
                  <a:srgbClr val="17324D"/>
                </a:solidFill>
              </a:rPr>
              <a:t>Task 6</a:t>
            </a:r>
            <a:endParaRPr lang="en-US" sz="1200" dirty="0"/>
          </a:p>
        </p:txBody>
      </p:sp>
      <p:sp>
        <p:nvSpPr>
          <p:cNvPr id="22" name="Text 20"/>
          <p:cNvSpPr/>
          <p:nvPr/>
        </p:nvSpPr>
        <p:spPr>
          <a:xfrm>
            <a:off x="8439912" y="3611880"/>
            <a:ext cx="2551176" cy="640080"/>
          </a:xfrm>
          <a:prstGeom prst="rect">
            <a:avLst/>
          </a:prstGeom>
          <a:noFill/>
          <a:ln/>
        </p:spPr>
        <p:txBody>
          <a:bodyPr wrap="square" lIns="254" tIns="254" rIns="254" bIns="254" rtlCol="0" anchor="ctr">
            <a:normAutofit/>
          </a:bodyPr>
          <a:lstStyle/>
          <a:p>
            <a:pPr indent="0" marL="0">
              <a:buNone/>
            </a:pPr>
            <a:r>
              <a:rPr lang="en-US" sz="960" dirty="0">
                <a:solidFill>
                  <a:srgbClr val="0B1420"/>
                </a:solidFill>
              </a:rPr>
              <a:t>Compare Prompt V1 vs V2 using scorecard and recommendation.</a:t>
            </a:r>
            <a:endParaRPr lang="en-US" sz="960" dirty="0"/>
          </a:p>
        </p:txBody>
      </p:sp>
      <p:sp>
        <p:nvSpPr>
          <p:cNvPr id="23" name="Shape 21"/>
          <p:cNvSpPr/>
          <p:nvPr/>
        </p:nvSpPr>
        <p:spPr>
          <a:xfrm>
            <a:off x="685800" y="5120640"/>
            <a:ext cx="10469880" cy="777240"/>
          </a:xfrm>
          <a:prstGeom prst="roundRect">
            <a:avLst>
              <a:gd name="adj" fmla="val 7059"/>
            </a:avLst>
          </a:prstGeom>
          <a:solidFill>
            <a:srgbClr val="F8FAFC"/>
          </a:solidFill>
          <a:ln w="12700">
            <a:solidFill>
              <a:srgbClr val="D8DEE8"/>
            </a:solidFill>
            <a:prstDash val="solid"/>
          </a:ln>
        </p:spPr>
      </p:sp>
      <p:sp>
        <p:nvSpPr>
          <p:cNvPr id="24" name="Text 22"/>
          <p:cNvSpPr/>
          <p:nvPr/>
        </p:nvSpPr>
        <p:spPr>
          <a:xfrm>
            <a:off x="795528" y="5230368"/>
            <a:ext cx="10250424" cy="557784"/>
          </a:xfrm>
          <a:prstGeom prst="rect">
            <a:avLst/>
          </a:prstGeom>
          <a:noFill/>
          <a:ln/>
        </p:spPr>
        <p:txBody>
          <a:bodyPr wrap="square" lIns="254" tIns="254" rIns="254" bIns="254" rtlCol="0" anchor="ctr">
            <a:normAutofit/>
          </a:bodyPr>
          <a:lstStyle/>
          <a:p>
            <a:pPr indent="0" marL="0">
              <a:buNone/>
            </a:pPr>
            <a:r>
              <a:rPr lang="en-US" sz="1250" dirty="0">
                <a:solidFill>
                  <a:srgbClr val="0B1420"/>
                </a:solidFill>
                <a:latin typeface="Cascadia Mono" pitchFamily="34" charset="0"/>
                <a:ea typeface="Cascadia Mono" pitchFamily="34" charset="-122"/>
                <a:cs typeface="Cascadia Mono" pitchFamily="34" charset="-120"/>
              </a:rPr>
              <a:t>Final deliverable: Evaluation rubric + test input + candidate output + scorecard + revised safer prompt.</a:t>
            </a:r>
            <a:endParaRPr lang="en-US" sz="1250" dirty="0"/>
          </a:p>
        </p:txBody>
      </p:sp>
      <p:sp>
        <p:nvSpPr>
          <p:cNvPr id="25" name="Text 23"/>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7955280" cy="384048"/>
          </a:xfrm>
          <a:prstGeom prst="rect">
            <a:avLst/>
          </a:prstGeom>
          <a:noFill/>
          <a:ln/>
        </p:spPr>
        <p:txBody>
          <a:bodyPr wrap="square" lIns="254" tIns="254" rIns="254" bIns="254" rtlCol="0" anchor="ctr">
            <a:normAutofit/>
          </a:bodyPr>
          <a:lstStyle/>
          <a:p>
            <a:pPr indent="0" marL="0">
              <a:buNone/>
            </a:pPr>
            <a:r>
              <a:rPr lang="en-US" sz="2400" b="1" dirty="0">
                <a:solidFill>
                  <a:srgbClr val="17324D"/>
                </a:solidFill>
                <a:latin typeface="Aptos Display" pitchFamily="34" charset="0"/>
                <a:ea typeface="Aptos Display" pitchFamily="34" charset="-122"/>
                <a:cs typeface="Aptos Display" pitchFamily="34" charset="-120"/>
              </a:rPr>
              <a:t>Appendix: complete copy-paste evaluation prompt</a:t>
            </a:r>
            <a:endParaRPr lang="en-US" sz="2400" dirty="0"/>
          </a:p>
        </p:txBody>
      </p:sp>
      <p:sp>
        <p:nvSpPr>
          <p:cNvPr id="3" name="Text 1"/>
          <p:cNvSpPr/>
          <p:nvPr/>
        </p:nvSpPr>
        <p:spPr>
          <a:xfrm>
            <a:off x="521208" y="713232"/>
            <a:ext cx="8138160" cy="228600"/>
          </a:xfrm>
          <a:prstGeom prst="rect">
            <a:avLst/>
          </a:prstGeom>
          <a:noFill/>
          <a:ln/>
        </p:spPr>
        <p:txBody>
          <a:bodyPr wrap="square" lIns="127" tIns="127" rIns="127" bIns="127" rtlCol="0" anchor="ctr">
            <a:normAutofit/>
          </a:bodyPr>
          <a:lstStyle/>
          <a:p>
            <a:pPr indent="0" marL="0">
              <a:buNone/>
            </a:pPr>
            <a:r>
              <a:rPr lang="en-US" sz="950" dirty="0">
                <a:solidFill>
                  <a:srgbClr val="5B6770"/>
                </a:solidFill>
              </a:rPr>
              <a:t>The PDF workbook contains the full prompt with full input and full candidate output.</a:t>
            </a:r>
            <a:endParaRPr lang="en-US" sz="950" dirty="0"/>
          </a:p>
        </p:txBody>
      </p:sp>
      <p:sp>
        <p:nvSpPr>
          <p:cNvPr id="4" name="Shape 2"/>
          <p:cNvSpPr/>
          <p:nvPr/>
        </p:nvSpPr>
        <p:spPr>
          <a:xfrm>
            <a:off x="502920" y="1024128"/>
            <a:ext cx="11201400" cy="0"/>
          </a:xfrm>
          <a:prstGeom prst="line">
            <a:avLst/>
          </a:prstGeom>
          <a:noFill/>
          <a:ln w="12700">
            <a:solidFill>
              <a:srgbClr val="D9E2EC"/>
            </a:solidFill>
            <a:prstDash val="solid"/>
          </a:ln>
        </p:spPr>
      </p:sp>
      <p:sp>
        <p:nvSpPr>
          <p:cNvPr id="5" name="Shape 3"/>
          <p:cNvSpPr/>
          <p:nvPr/>
        </p:nvSpPr>
        <p:spPr>
          <a:xfrm>
            <a:off x="685800" y="1417320"/>
            <a:ext cx="10744200" cy="4343400"/>
          </a:xfrm>
          <a:prstGeom prst="roundRect">
            <a:avLst>
              <a:gd name="adj" fmla="val 1263"/>
            </a:avLst>
          </a:prstGeom>
          <a:solidFill>
            <a:srgbClr val="F8FAFC"/>
          </a:solidFill>
          <a:ln w="12700">
            <a:solidFill>
              <a:srgbClr val="D8DEE8"/>
            </a:solidFill>
            <a:prstDash val="solid"/>
          </a:ln>
        </p:spPr>
      </p:sp>
      <p:sp>
        <p:nvSpPr>
          <p:cNvPr id="6" name="Text 4"/>
          <p:cNvSpPr/>
          <p:nvPr/>
        </p:nvSpPr>
        <p:spPr>
          <a:xfrm>
            <a:off x="795528" y="1527048"/>
            <a:ext cx="10524744" cy="4123944"/>
          </a:xfrm>
          <a:prstGeom prst="rect">
            <a:avLst/>
          </a:prstGeom>
          <a:noFill/>
          <a:ln/>
        </p:spPr>
        <p:txBody>
          <a:bodyPr wrap="square" lIns="254" tIns="254" rIns="254" bIns="254" rtlCol="0" anchor="ctr">
            <a:normAutofit/>
          </a:bodyPr>
          <a:lstStyle/>
          <a:p>
            <a:pPr indent="0" marL="0">
              <a:buNone/>
            </a:pPr>
            <a:r>
              <a:rPr lang="en-US" sz="1300" dirty="0">
                <a:solidFill>
                  <a:srgbClr val="0B1420"/>
                </a:solidFill>
                <a:latin typeface="Cascadia Mono" pitchFamily="34" charset="0"/>
                <a:ea typeface="Cascadia Mono" pitchFamily="34" charset="-122"/>
                <a:cs typeface="Cascadia Mono" pitchFamily="34" charset="-120"/>
              </a:rPr>
              <a:t>Use this structure in practice:</a:t>
            </a:r>
            <a:endParaRPr lang="en-US" sz="1300" dirty="0"/>
          </a:p>
          <a:p>
            <a:pPr indent="0" marL="0">
              <a:buNone/>
            </a:pP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1. Role: strict quality reviewer</a:t>
            </a: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2. Evidence: verified complaint facts and case notes</a:t>
            </a: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3. Candidate output: response to evaluate</a:t>
            </a: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4. Metrics: accuracy, relevance, completeness, groundedness, consistency, format, conciseness, tone, safety, hallucination rate</a:t>
            </a: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5. Return: scores, issues, hallucination calculation, pass/revise/reject, improved response</a:t>
            </a:r>
            <a:endParaRPr lang="en-US" sz="1300" dirty="0"/>
          </a:p>
          <a:p>
            <a:pPr indent="0" marL="0">
              <a:buNone/>
            </a:pPr>
            <a:endParaRPr lang="en-US" sz="1300" dirty="0"/>
          </a:p>
          <a:p>
            <a:pPr indent="0" marL="0">
              <a:buNone/>
            </a:pPr>
            <a:r>
              <a:rPr lang="en-US" sz="1300" dirty="0">
                <a:solidFill>
                  <a:srgbClr val="0B1420"/>
                </a:solidFill>
                <a:latin typeface="Cascadia Mono" pitchFamily="34" charset="0"/>
                <a:ea typeface="Cascadia Mono" pitchFamily="34" charset="-122"/>
                <a:cs typeface="Cascadia Mono" pitchFamily="34" charset="-120"/>
              </a:rPr>
              <a:t>Copy the full ready-to-run prompt from the PDF workbook appendix.</a:t>
            </a:r>
            <a:endParaRPr lang="en-US" sz="1300" dirty="0"/>
          </a:p>
        </p:txBody>
      </p:sp>
      <p:sp>
        <p:nvSpPr>
          <p:cNvPr id="7" name="Text 5"/>
          <p:cNvSpPr/>
          <p:nvPr/>
        </p:nvSpPr>
        <p:spPr>
          <a:xfrm>
            <a:off x="502920" y="6565392"/>
            <a:ext cx="11155680" cy="164592"/>
          </a:xfrm>
          <a:prstGeom prst="rect">
            <a:avLst/>
          </a:prstGeom>
          <a:noFill/>
          <a:ln/>
        </p:spPr>
        <p:txBody>
          <a:bodyPr wrap="square" lIns="0" tIns="0" rIns="0" bIns="0" rtlCol="0" anchor="ctr"/>
          <a:lstStyle/>
          <a:p>
            <a:pPr indent="0" marL="0">
              <a:buNone/>
            </a:pPr>
            <a:r>
              <a:rPr lang="en-US" sz="750" dirty="0">
                <a:solidFill>
                  <a:srgbClr val="7D8790"/>
                </a:solidFill>
              </a:rPr>
              <a:t>Prompt Evaluation Framework | Synchrony training simulation | 14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Evaluation Framework</dc:title>
  <dc:subject>Prompt Evaluation Framework - Synchrony Training</dc:subject>
  <dc:creator>OpenAI</dc:creator>
  <cp:lastModifiedBy>OpenAI</cp:lastModifiedBy>
  <cp:revision>1</cp:revision>
  <dcterms:created xsi:type="dcterms:W3CDTF">2026-07-14T06:13:56Z</dcterms:created>
  <dcterms:modified xsi:type="dcterms:W3CDTF">2026-07-14T06:13:56Z</dcterms:modified>
</cp:coreProperties>
</file>